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ff9c6280-4a21-bcd0-dd80-04c34260d708}">
          <p14:sldIdLst>
            <p14:sldId id="256"/>
            <p14:sldId id="257"/>
          </p14:sldIdLst>
        </p14:section>
        <p14:section name="Live demo (2:00)" id="{e1bd8d8b-23fa-6c0b-5e59-8253775619ce}">
          <p14:sldIdLst>
            <p14:sldId id="258"/>
          </p14:sldIdLst>
        </p14:section>
        <p14:section name="Technology (1:45)" id="{1babcb3e-334c-e4cc-bb75-c29f7e3cf4b7}">
          <p14:sldIdLst>
            <p14:sldId id="259"/>
          </p14:sldIdLst>
        </p14:section>
        <p14:section name="Competitors (0:45)" id="{649c49cf-e51b-4afc-4eda-6c6a662505cf}">
          <p14:sldIdLst>
            <p14:sldId id="260"/>
          </p14:sldIdLst>
        </p14:section>
        <p14:section name="Business and pilot (1:30)" id="{c06c15a9-1cb1-9e60-eb52-8eec95601998}">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(Replace the three circles with the speakers' photos. The phone shows our app's live spot map from a test run: green = free, orange = booked, grey = occupied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with a QR code at the gate and pay before they leave.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Hand over to Amirxon.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3:00–4:45
"How it works. A phone at the lot sends a picture every few seconds. A quality check measures light, blur and glare; a dark frame also gets a brightened copy.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Accuracy: [real number from our Tashkent photos — or say: 'we are labelling our own Tashkent photos with our built-in tool; the number goes here']."
NEVER fill [__%] with a guess.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5:30–7:00 (finish by 6:55)
"Who pays? The lot operator — malls, business centres, universities, dealerships, paid city lots. We charge per camera per month, plus a small share of each booking. The operator gets paid bookings, no gate staff for walk-ins, and data on how the lot is used. Per camera, revenue is the subscription plus bookings times the fee; cost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Thank you — we're happy to take questions."
Replace every [bracket] with a sourced number, or say "this is our hypothesis, to be validated in the pilot".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pic>
        <p:nvPicPr>
          <p:cNvPr id="7" name="photo Bahodurov Bahridin" descr="Bahodurov Bahridin">    </p:cNvPr>
          <p:cNvPicPr>
            <a:picLocks noChangeAspect="1"/>
          </p:cNvPicPr>
          <p:nvPr/>
        </p:nvPicPr>
        <p:blipFill>
          <a:blip r:embed="rId1"/>
          <a:stretch>
            <a:fillRect/>
          </a:stretch>
        </p:blipFill>
        <p:spPr>
          <a:xfrm>
            <a:off x="548640" y="4434840"/>
            <a:ext cx="777240" cy="777240"/>
          </a:xfrm>
          <a:prstGeom prst="ellipse">
            <a:avLst/>
          </a:prstGeom>
        </p:spPr>
      </p:pic>
      <p:sp>
        <p:nvSpPr>
          <p:cNvPr id="8" name="photo ring 1"/>
          <p:cNvSpPr/>
          <p:nvPr/>
        </p:nvSpPr>
        <p:spPr>
          <a:xfrm>
            <a:off x="548640" y="4434840"/>
            <a:ext cx="777240" cy="777240"/>
          </a:xfrm>
          <a:prstGeom prst="ellipse">
            <a:avLst/>
          </a:prstGeom>
          <a:ln w="25400">
            <a:solidFill>
              <a:srgbClr val="F2A93B"/>
            </a:solidFill>
            <a:prstDash val="solid"/>
          </a:ln>
        </p:spPr>
      </p:sp>
      <p:sp>
        <p:nvSpPr>
          <p:cNvPr id="9"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sp>
        <p:nvSpPr>
          <p:cNvPr id="10" name="photo 2 (replace)"/>
          <p:cNvSpPr/>
          <p:nvPr/>
        </p:nvSpPr>
        <p:spPr>
          <a:xfrm>
            <a:off x="3063240" y="4434840"/>
            <a:ext cx="777240" cy="777240"/>
          </a:xfrm>
          <a:prstGeom prst="ellipse">
            <a:avLst/>
          </a:prstGeom>
          <a:solidFill>
            <a:schemeClr val="bg1">
              <a:alpha val="15000"/>
            </a:schemeClr>
          </a:solidFill>
          <a:ln w="25400">
            <a:solidFill>
              <a:srgbClr val="F2A93B"/>
            </a:solidFill>
            <a:prstDash val="solid"/>
          </a:ln>
        </p:spPr>
      </p:sp>
      <p:sp>
        <p:nvSpPr>
          <p:cNvPr id="11"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sp>
        <p:nvSpPr>
          <p:cNvPr id="12" name="photo 3 (replace)"/>
          <p:cNvSpPr/>
          <p:nvPr/>
        </p:nvSpPr>
        <p:spPr>
          <a:xfrm>
            <a:off x="5577840" y="4434840"/>
            <a:ext cx="777240" cy="777240"/>
          </a:xfrm>
          <a:prstGeom prst="ellipse">
            <a:avLst/>
          </a:prstGeom>
          <a:solidFill>
            <a:schemeClr val="bg1">
              <a:alpha val="15000"/>
            </a:schemeClr>
          </a:solidFill>
          <a:ln w="25400">
            <a:solidFill>
              <a:srgbClr val="F2A93B"/>
            </a:solidFill>
            <a:prstDash val="solid"/>
          </a:ln>
        </p:spPr>
      </p:sp>
      <p:sp>
        <p:nvSpPr>
          <p:cNvPr id="13"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4" name="phone frame"/>
          <p:cNvSpPr/>
          <p:nvPr/>
        </p:nvSpPr>
        <p:spPr>
          <a:xfrm>
            <a:off x="9361033" y="548640"/>
            <a:ext cx="2297567" cy="5760720"/>
          </a:xfrm>
          <a:prstGeom prst="roundRect">
            <a:avLst>
              <a:gd name="adj" fmla="val 9950"/>
            </a:avLst>
          </a:prstGeom>
          <a:solidFill>
            <a:schemeClr val="bg1">
              <a:alpha val="12000"/>
            </a:schemeClr>
          </a:solidFill>
          <a:ln/>
        </p:spPr>
      </p:sp>
      <p:pic>
        <p:nvPicPr>
          <p:cNvPr id="15" name="app screenshot" descr="ParkDet driver app: a lot's live spot map with free (green), booked (orange) and occupied (grey) spots">    </p:cNvPr>
          <p:cNvPicPr>
            <a:picLocks noChangeAspect="1"/>
          </p:cNvPicPr>
          <p:nvPr/>
        </p:nvPicPr>
        <p:blipFill>
          <a:blip r:embed="rId2"/>
          <a:stretch>
            <a:fillRect/>
          </a:stretch>
        </p:blipFill>
        <p:spPr>
          <a:xfrm>
            <a:off x="9507337" y="694944"/>
            <a:ext cx="2004959" cy="5029200"/>
          </a:xfrm>
          <a:prstGeom prst="rect">
            <a:avLst/>
          </a:prstGeom>
        </p:spPr>
      </p:pic>
      <p:sp>
        <p:nvSpPr>
          <p:cNvPr id="16" name="screenshot caption"/>
          <p:cNvSpPr txBox="1"/>
          <p:nvPr/>
        </p:nvSpPr>
        <p:spPr>
          <a:xfrm>
            <a:off x="9361033" y="5788152"/>
            <a:ext cx="2297567"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chemeClr val="accent5"/>
                </a:solidFill>
              </a:rPr>
              <a:t>green = free · orange = booked</a:t>
            </a:r>
            <a:endParaRPr lang="en-US" sz="1100" dirty="0"/>
          </a:p>
        </p:txBody>
      </p:sp>
      <p:sp>
        <p:nvSpPr>
          <p:cNvPr id="17"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pay before exit</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1984797"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2606589" y="2377440"/>
            <a:ext cx="146304" cy="237744"/>
          </a:xfrm>
          <a:prstGeom prst="chevron">
            <a:avLst/>
          </a:prstGeom>
          <a:solidFill>
            <a:schemeClr val="accent1"/>
          </a:solidFill>
          <a:ln/>
        </p:spPr>
      </p:sp>
      <p:sp>
        <p:nvSpPr>
          <p:cNvPr id="10" name="Quality check step"/>
          <p:cNvSpPr/>
          <p:nvPr/>
        </p:nvSpPr>
        <p:spPr>
          <a:xfrm>
            <a:off x="2826045" y="1810512"/>
            <a:ext cx="1984797" cy="1371600"/>
          </a:xfrm>
          <a:prstGeom prst="roundRect">
            <a:avLst>
              <a:gd name="adj" fmla="val 8000"/>
            </a:avLst>
          </a:prstGeom>
          <a:solidFill>
            <a:schemeClr val="bg1"/>
          </a:solidFill>
          <a:ln w="12700">
            <a:solidFill>
              <a:srgbClr val="E6ECF4"/>
            </a:solidFill>
            <a:prstDash val="solid"/>
          </a:ln>
        </p:spPr>
      </p:sp>
      <p:sp>
        <p:nvSpPr>
          <p:cNvPr id="11" name="Quality check circle"/>
          <p:cNvSpPr/>
          <p:nvPr/>
        </p:nvSpPr>
        <p:spPr>
          <a:xfrm>
            <a:off x="2990637" y="1965960"/>
            <a:ext cx="438912" cy="438912"/>
          </a:xfrm>
          <a:prstGeom prst="ellipse">
            <a:avLst/>
          </a:prstGeom>
          <a:solidFill>
            <a:schemeClr val="accent1"/>
          </a:solidFill>
          <a:ln/>
        </p:spPr>
      </p:sp>
      <p:pic>
        <p:nvPicPr>
          <p:cNvPr id="12" name="Quality check icon" descr="Quality check">    </p:cNvPr>
          <p:cNvPicPr>
            <a:picLocks noChangeAspect="1"/>
          </p:cNvPicPr>
          <p:nvPr/>
        </p:nvPicPr>
        <p:blipFill>
          <a:blip r:embed="rId2"/>
          <a:stretch>
            <a:fillRect/>
          </a:stretch>
        </p:blipFill>
        <p:spPr>
          <a:xfrm>
            <a:off x="3095976" y="2071299"/>
            <a:ext cx="228234" cy="228234"/>
          </a:xfrm>
          <a:prstGeom prst="rect">
            <a:avLst/>
          </a:prstGeom>
        </p:spPr>
      </p:pic>
      <p:sp>
        <p:nvSpPr>
          <p:cNvPr id="13" name="Quality check text"/>
          <p:cNvSpPr txBox="1"/>
          <p:nvPr/>
        </p:nvSpPr>
        <p:spPr>
          <a:xfrm>
            <a:off x="2990637"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Quality check</a:t>
            </a:r>
            <a:endParaRPr lang="en-US" sz="1400" dirty="0"/>
          </a:p>
          <a:p>
            <a:pPr indent="0" marL="0">
              <a:buNone/>
            </a:pPr>
            <a:r>
              <a:rPr lang="en-US" sz="1150" dirty="0">
                <a:solidFill>
                  <a:schemeClr val="tx2"/>
                </a:solidFill>
              </a:rPr>
              <a:t>dark frame → a 2nd, brightened view</a:t>
            </a:r>
            <a:endParaRPr lang="en-US" sz="1400" dirty="0"/>
          </a:p>
        </p:txBody>
      </p:sp>
      <p:sp>
        <p:nvSpPr>
          <p:cNvPr id="14" name="flow arrow 2"/>
          <p:cNvSpPr/>
          <p:nvPr/>
        </p:nvSpPr>
        <p:spPr>
          <a:xfrm>
            <a:off x="4883993" y="2377440"/>
            <a:ext cx="146304" cy="237744"/>
          </a:xfrm>
          <a:prstGeom prst="chevron">
            <a:avLst/>
          </a:prstGeom>
          <a:solidFill>
            <a:schemeClr val="accent1"/>
          </a:solidFill>
          <a:ln/>
        </p:spPr>
      </p:sp>
      <p:sp>
        <p:nvSpPr>
          <p:cNvPr id="15" name="2 detectors, CPU step"/>
          <p:cNvSpPr/>
          <p:nvPr/>
        </p:nvSpPr>
        <p:spPr>
          <a:xfrm>
            <a:off x="5103449" y="1810512"/>
            <a:ext cx="1984797" cy="1371600"/>
          </a:xfrm>
          <a:prstGeom prst="roundRect">
            <a:avLst>
              <a:gd name="adj" fmla="val 8000"/>
            </a:avLst>
          </a:prstGeom>
          <a:solidFill>
            <a:schemeClr val="bg1"/>
          </a:solidFill>
          <a:ln w="12700">
            <a:solidFill>
              <a:srgbClr val="E6ECF4"/>
            </a:solidFill>
            <a:prstDash val="solid"/>
          </a:ln>
        </p:spPr>
      </p:sp>
      <p:sp>
        <p:nvSpPr>
          <p:cNvPr id="16" name="2 detectors, CPU circle"/>
          <p:cNvSpPr/>
          <p:nvPr/>
        </p:nvSpPr>
        <p:spPr>
          <a:xfrm>
            <a:off x="5268041" y="1965960"/>
            <a:ext cx="438912" cy="438912"/>
          </a:xfrm>
          <a:prstGeom prst="ellipse">
            <a:avLst/>
          </a:prstGeom>
          <a:solidFill>
            <a:schemeClr val="accent1"/>
          </a:solidFill>
          <a:ln/>
        </p:spPr>
      </p:sp>
      <p:pic>
        <p:nvPicPr>
          <p:cNvPr id="17" name="2 detectors, CPU icon" descr="2 detectors, CPU">    </p:cNvPr>
          <p:cNvPicPr>
            <a:picLocks noChangeAspect="1"/>
          </p:cNvPicPr>
          <p:nvPr/>
        </p:nvPicPr>
        <p:blipFill>
          <a:blip r:embed="rId3"/>
          <a:stretch>
            <a:fillRect/>
          </a:stretch>
        </p:blipFill>
        <p:spPr>
          <a:xfrm>
            <a:off x="5373380" y="2071299"/>
            <a:ext cx="228234" cy="228234"/>
          </a:xfrm>
          <a:prstGeom prst="rect">
            <a:avLst/>
          </a:prstGeom>
        </p:spPr>
      </p:pic>
      <p:sp>
        <p:nvSpPr>
          <p:cNvPr id="18" name="2 detectors, CPU text"/>
          <p:cNvSpPr txBox="1"/>
          <p:nvPr/>
        </p:nvSpPr>
        <p:spPr>
          <a:xfrm>
            <a:off x="5268041"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9" name="flow arrow 3"/>
          <p:cNvSpPr/>
          <p:nvPr/>
        </p:nvSpPr>
        <p:spPr>
          <a:xfrm>
            <a:off x="7161398" y="2377440"/>
            <a:ext cx="146304" cy="237744"/>
          </a:xfrm>
          <a:prstGeom prst="chevron">
            <a:avLst/>
          </a:prstGeom>
          <a:solidFill>
            <a:schemeClr val="accent1"/>
          </a:solidFill>
          <a:ln/>
        </p:spPr>
      </p:sp>
      <p:sp>
        <p:nvSpPr>
          <p:cNvPr id="20" name="Spots + occupancy step"/>
          <p:cNvSpPr/>
          <p:nvPr/>
        </p:nvSpPr>
        <p:spPr>
          <a:xfrm>
            <a:off x="7380854" y="1810512"/>
            <a:ext cx="1984797" cy="1371600"/>
          </a:xfrm>
          <a:prstGeom prst="roundRect">
            <a:avLst>
              <a:gd name="adj" fmla="val 8000"/>
            </a:avLst>
          </a:prstGeom>
          <a:solidFill>
            <a:schemeClr val="bg1"/>
          </a:solidFill>
          <a:ln w="12700">
            <a:solidFill>
              <a:srgbClr val="E6ECF4"/>
            </a:solidFill>
            <a:prstDash val="solid"/>
          </a:ln>
        </p:spPr>
      </p:sp>
      <p:sp>
        <p:nvSpPr>
          <p:cNvPr id="21" name="Spots + occupancy circle"/>
          <p:cNvSpPr/>
          <p:nvPr/>
        </p:nvSpPr>
        <p:spPr>
          <a:xfrm>
            <a:off x="7545446" y="1965960"/>
            <a:ext cx="438912" cy="438912"/>
          </a:xfrm>
          <a:prstGeom prst="ellipse">
            <a:avLst/>
          </a:prstGeom>
          <a:solidFill>
            <a:schemeClr val="accent1"/>
          </a:solidFill>
          <a:ln/>
        </p:spPr>
      </p:sp>
      <p:pic>
        <p:nvPicPr>
          <p:cNvPr id="22" name="Spots + occupancy icon" descr="Spots + occupancy">    </p:cNvPr>
          <p:cNvPicPr>
            <a:picLocks noChangeAspect="1"/>
          </p:cNvPicPr>
          <p:nvPr/>
        </p:nvPicPr>
        <p:blipFill>
          <a:blip r:embed="rId4"/>
          <a:stretch>
            <a:fillRect/>
          </a:stretch>
        </p:blipFill>
        <p:spPr>
          <a:xfrm>
            <a:off x="7650785" y="2071299"/>
            <a:ext cx="228234" cy="228234"/>
          </a:xfrm>
          <a:prstGeom prst="rect">
            <a:avLst/>
          </a:prstGeom>
        </p:spPr>
      </p:pic>
      <p:sp>
        <p:nvSpPr>
          <p:cNvPr id="23" name="Spots + occupancy text"/>
          <p:cNvSpPr txBox="1"/>
          <p:nvPr/>
        </p:nvSpPr>
        <p:spPr>
          <a:xfrm>
            <a:off x="7545446"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24" name="flow arrow 4"/>
          <p:cNvSpPr/>
          <p:nvPr/>
        </p:nvSpPr>
        <p:spPr>
          <a:xfrm>
            <a:off x="9438803" y="2377440"/>
            <a:ext cx="146304" cy="237744"/>
          </a:xfrm>
          <a:prstGeom prst="chevron">
            <a:avLst/>
          </a:prstGeom>
          <a:solidFill>
            <a:schemeClr val="accent1"/>
          </a:solidFill>
          <a:ln/>
        </p:spPr>
      </p:sp>
      <p:sp>
        <p:nvSpPr>
          <p:cNvPr id="25" name="Driver app step"/>
          <p:cNvSpPr/>
          <p:nvPr/>
        </p:nvSpPr>
        <p:spPr>
          <a:xfrm>
            <a:off x="9658259" y="1810512"/>
            <a:ext cx="1984797" cy="1371600"/>
          </a:xfrm>
          <a:prstGeom prst="roundRect">
            <a:avLst>
              <a:gd name="adj" fmla="val 8000"/>
            </a:avLst>
          </a:prstGeom>
          <a:solidFill>
            <a:schemeClr val="bg1"/>
          </a:solidFill>
          <a:ln w="12700">
            <a:solidFill>
              <a:srgbClr val="E6ECF4"/>
            </a:solidFill>
            <a:prstDash val="solid"/>
          </a:ln>
        </p:spPr>
      </p:sp>
      <p:sp>
        <p:nvSpPr>
          <p:cNvPr id="26" name="Driver app circle"/>
          <p:cNvSpPr/>
          <p:nvPr/>
        </p:nvSpPr>
        <p:spPr>
          <a:xfrm>
            <a:off x="9822851" y="1965960"/>
            <a:ext cx="438912" cy="438912"/>
          </a:xfrm>
          <a:prstGeom prst="ellipse">
            <a:avLst/>
          </a:prstGeom>
          <a:solidFill>
            <a:schemeClr val="accent1"/>
          </a:solidFill>
          <a:ln/>
        </p:spPr>
      </p:sp>
      <p:pic>
        <p:nvPicPr>
          <p:cNvPr id="27" name="Driver app icon" descr="Driver app">    </p:cNvPr>
          <p:cNvPicPr>
            <a:picLocks noChangeAspect="1"/>
          </p:cNvPicPr>
          <p:nvPr/>
        </p:nvPicPr>
        <p:blipFill>
          <a:blip r:embed="rId5"/>
          <a:stretch>
            <a:fillRect/>
          </a:stretch>
        </p:blipFill>
        <p:spPr>
          <a:xfrm>
            <a:off x="9928189" y="2071299"/>
            <a:ext cx="228234" cy="228234"/>
          </a:xfrm>
          <a:prstGeom prst="rect">
            <a:avLst/>
          </a:prstGeom>
        </p:spPr>
      </p:pic>
      <p:sp>
        <p:nvSpPr>
          <p:cNvPr id="28" name="Driver app text"/>
          <p:cNvSpPr txBox="1"/>
          <p:nvPr/>
        </p:nvSpPr>
        <p:spPr>
          <a:xfrm>
            <a:off x="9822851"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9" name="measured card"/>
          <p:cNvSpPr/>
          <p:nvPr/>
        </p:nvSpPr>
        <p:spPr>
          <a:xfrm>
            <a:off x="548640" y="3456432"/>
            <a:ext cx="3515258" cy="2103120"/>
          </a:xfrm>
          <a:prstGeom prst="roundRect">
            <a:avLst>
              <a:gd name="adj" fmla="val 5217"/>
            </a:avLst>
          </a:prstGeom>
          <a:solidFill>
            <a:schemeClr val="bg1"/>
          </a:solidFill>
          <a:ln w="12700">
            <a:solidFill>
              <a:srgbClr val="E6ECF4"/>
            </a:solidFill>
            <a:prstDash val="solid"/>
          </a:ln>
        </p:spPr>
      </p:sp>
      <p:sp>
        <p:nvSpPr>
          <p:cNvPr id="30" name="MEASURED label"/>
          <p:cNvSpPr txBox="1"/>
          <p:nvPr/>
        </p:nvSpPr>
        <p:spPr>
          <a:xfrm>
            <a:off x="822960" y="3657600"/>
            <a:ext cx="29666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31" name="Text 24"/>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32" name="Text 25"/>
          <p:cNvSpPr txBox="1"/>
          <p:nvPr/>
        </p:nvSpPr>
        <p:spPr>
          <a:xfrm>
            <a:off x="2194560" y="4023360"/>
            <a:ext cx="164073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33" name="Text 26"/>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34" name="Text 27"/>
          <p:cNvSpPr txBox="1"/>
          <p:nvPr/>
        </p:nvSpPr>
        <p:spPr>
          <a:xfrm>
            <a:off x="2194560" y="4507992"/>
            <a:ext cx="164073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5" name="Text 28"/>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6" name="Text 29"/>
          <p:cNvSpPr txBox="1"/>
          <p:nvPr/>
        </p:nvSpPr>
        <p:spPr>
          <a:xfrm>
            <a:off x="2194560" y="4992624"/>
            <a:ext cx="164073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7" name="real conditions card"/>
          <p:cNvSpPr/>
          <p:nvPr/>
        </p:nvSpPr>
        <p:spPr>
          <a:xfrm>
            <a:off x="4338218" y="3456432"/>
            <a:ext cx="3515258" cy="2103120"/>
          </a:xfrm>
          <a:prstGeom prst="roundRect">
            <a:avLst>
              <a:gd name="adj" fmla="val 5217"/>
            </a:avLst>
          </a:prstGeom>
          <a:solidFill>
            <a:schemeClr val="bg1"/>
          </a:solidFill>
          <a:ln w="12700">
            <a:solidFill>
              <a:srgbClr val="E6ECF4"/>
            </a:solidFill>
            <a:prstDash val="solid"/>
          </a:ln>
        </p:spPr>
      </p:sp>
      <p:sp>
        <p:nvSpPr>
          <p:cNvPr id="38" name="REAL CONDITIONS label"/>
          <p:cNvSpPr txBox="1"/>
          <p:nvPr/>
        </p:nvSpPr>
        <p:spPr>
          <a:xfrm>
            <a:off x="4612538" y="3657600"/>
            <a:ext cx="29666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9" name="Night: a 2nd, brightened view circle"/>
          <p:cNvSpPr/>
          <p:nvPr/>
        </p:nvSpPr>
        <p:spPr>
          <a:xfrm>
            <a:off x="4612538" y="4050792"/>
            <a:ext cx="274320" cy="274320"/>
          </a:xfrm>
          <a:prstGeom prst="ellipse">
            <a:avLst/>
          </a:prstGeom>
          <a:solidFill>
            <a:schemeClr val="accent2"/>
          </a:solidFill>
          <a:ln/>
        </p:spPr>
      </p:sp>
      <p:pic>
        <p:nvPicPr>
          <p:cNvPr id="40" name="Night: a 2nd, brightened view icon" descr="Night: a 2nd, brightened view">    </p:cNvPr>
          <p:cNvPicPr>
            <a:picLocks noChangeAspect="1"/>
          </p:cNvPicPr>
          <p:nvPr/>
        </p:nvPicPr>
        <p:blipFill>
          <a:blip r:embed="rId6"/>
          <a:stretch>
            <a:fillRect/>
          </a:stretch>
        </p:blipFill>
        <p:spPr>
          <a:xfrm>
            <a:off x="4678375" y="4116629"/>
            <a:ext cx="142646" cy="142646"/>
          </a:xfrm>
          <a:prstGeom prst="rect">
            <a:avLst/>
          </a:prstGeom>
        </p:spPr>
      </p:pic>
      <p:sp>
        <p:nvSpPr>
          <p:cNvPr id="41" name="Text 33"/>
          <p:cNvSpPr txBox="1"/>
          <p:nvPr/>
        </p:nvSpPr>
        <p:spPr>
          <a:xfrm>
            <a:off x="5024018" y="4023360"/>
            <a:ext cx="2600858" cy="329184"/>
          </a:xfrm>
          <a:prstGeom prst="rect">
            <a:avLst/>
          </a:prstGeom>
          <a:noFill/>
          <a:ln/>
        </p:spPr>
        <p:txBody>
          <a:bodyPr wrap="square" lIns="0" tIns="0" rIns="0" bIns="0" rtlCol="0" anchor="ctr"/>
          <a:lstStyle/>
          <a:p>
            <a:pPr indent="0" marL="0">
              <a:buNone/>
            </a:pPr>
            <a:r>
              <a:rPr lang="en-US" sz="1250" dirty="0">
                <a:solidFill>
                  <a:schemeClr val="tx2"/>
                </a:solidFill>
              </a:rPr>
              <a:t>Night: a 2nd, brightened view</a:t>
            </a:r>
            <a:endParaRPr lang="en-US" sz="1250" dirty="0"/>
          </a:p>
        </p:txBody>
      </p:sp>
      <p:sp>
        <p:nvSpPr>
          <p:cNvPr id="42" name="Rain, fog, blur: warning shown circle"/>
          <p:cNvSpPr/>
          <p:nvPr/>
        </p:nvSpPr>
        <p:spPr>
          <a:xfrm>
            <a:off x="4612538" y="4416552"/>
            <a:ext cx="274320" cy="274320"/>
          </a:xfrm>
          <a:prstGeom prst="ellipse">
            <a:avLst/>
          </a:prstGeom>
          <a:solidFill>
            <a:schemeClr val="accent2"/>
          </a:solidFill>
          <a:ln/>
        </p:spPr>
      </p:sp>
      <p:pic>
        <p:nvPicPr>
          <p:cNvPr id="43" name="Rain, fog, blur: warning shown icon" descr="Rain, fog, blur: warning shown">    </p:cNvPr>
          <p:cNvPicPr>
            <a:picLocks noChangeAspect="1"/>
          </p:cNvPicPr>
          <p:nvPr/>
        </p:nvPicPr>
        <p:blipFill>
          <a:blip r:embed="rId7"/>
          <a:stretch>
            <a:fillRect/>
          </a:stretch>
        </p:blipFill>
        <p:spPr>
          <a:xfrm>
            <a:off x="4678375" y="4482389"/>
            <a:ext cx="142646" cy="142646"/>
          </a:xfrm>
          <a:prstGeom prst="rect">
            <a:avLst/>
          </a:prstGeom>
        </p:spPr>
      </p:pic>
      <p:sp>
        <p:nvSpPr>
          <p:cNvPr id="44" name="Text 35"/>
          <p:cNvSpPr txBox="1"/>
          <p:nvPr/>
        </p:nvSpPr>
        <p:spPr>
          <a:xfrm>
            <a:off x="5024018" y="4389120"/>
            <a:ext cx="2600858" cy="329184"/>
          </a:xfrm>
          <a:prstGeom prst="rect">
            <a:avLst/>
          </a:prstGeom>
          <a:noFill/>
          <a:ln/>
        </p:spPr>
        <p:txBody>
          <a:bodyPr wrap="square" lIns="0" tIns="0" rIns="0" bIns="0" rtlCol="0" anchor="ctr"/>
          <a:lstStyle/>
          <a:p>
            <a:pPr indent="0" marL="0">
              <a:buNone/>
            </a:pPr>
            <a:r>
              <a:rPr lang="en-US" sz="1250" dirty="0">
                <a:solidFill>
                  <a:schemeClr val="tx2"/>
                </a:solidFill>
              </a:rPr>
              <a:t>Rain, fog, blur: warning shown</a:t>
            </a:r>
            <a:endParaRPr lang="en-US" sz="1250" dirty="0"/>
          </a:p>
        </p:txBody>
      </p:sp>
      <p:sp>
        <p:nvSpPr>
          <p:cNvPr id="45" name="Offline: “no data”, no booking circle"/>
          <p:cNvSpPr/>
          <p:nvPr/>
        </p:nvSpPr>
        <p:spPr>
          <a:xfrm>
            <a:off x="4612538" y="4782312"/>
            <a:ext cx="274320" cy="274320"/>
          </a:xfrm>
          <a:prstGeom prst="ellipse">
            <a:avLst/>
          </a:prstGeom>
          <a:solidFill>
            <a:schemeClr val="accent2"/>
          </a:solidFill>
          <a:ln/>
        </p:spPr>
      </p:sp>
      <p:pic>
        <p:nvPicPr>
          <p:cNvPr id="46" name="Offline: “no data”, no booking icon" descr="Offline: “no data”, no booking">    </p:cNvPr>
          <p:cNvPicPr>
            <a:picLocks noChangeAspect="1"/>
          </p:cNvPicPr>
          <p:nvPr/>
        </p:nvPicPr>
        <p:blipFill>
          <a:blip r:embed="rId8"/>
          <a:stretch>
            <a:fillRect/>
          </a:stretch>
        </p:blipFill>
        <p:spPr>
          <a:xfrm>
            <a:off x="4678375" y="4848149"/>
            <a:ext cx="142646" cy="142646"/>
          </a:xfrm>
          <a:prstGeom prst="rect">
            <a:avLst/>
          </a:prstGeom>
        </p:spPr>
      </p:pic>
      <p:sp>
        <p:nvSpPr>
          <p:cNvPr id="47" name="Text 37"/>
          <p:cNvSpPr txBox="1"/>
          <p:nvPr/>
        </p:nvSpPr>
        <p:spPr>
          <a:xfrm>
            <a:off x="5024018" y="4754880"/>
            <a:ext cx="260085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48" name="Privacy: never saved, pixelated circle"/>
          <p:cNvSpPr/>
          <p:nvPr/>
        </p:nvSpPr>
        <p:spPr>
          <a:xfrm>
            <a:off x="4612538" y="5148072"/>
            <a:ext cx="274320" cy="274320"/>
          </a:xfrm>
          <a:prstGeom prst="ellipse">
            <a:avLst/>
          </a:prstGeom>
          <a:solidFill>
            <a:schemeClr val="accent2"/>
          </a:solidFill>
          <a:ln/>
        </p:spPr>
      </p:sp>
      <p:pic>
        <p:nvPicPr>
          <p:cNvPr id="49" name="Privacy: never saved, pixelated icon" descr="Privacy: never saved, pixelated">    </p:cNvPr>
          <p:cNvPicPr>
            <a:picLocks noChangeAspect="1"/>
          </p:cNvPicPr>
          <p:nvPr/>
        </p:nvPicPr>
        <p:blipFill>
          <a:blip r:embed="rId9"/>
          <a:stretch>
            <a:fillRect/>
          </a:stretch>
        </p:blipFill>
        <p:spPr>
          <a:xfrm>
            <a:off x="4678375" y="5213909"/>
            <a:ext cx="142646" cy="142646"/>
          </a:xfrm>
          <a:prstGeom prst="rect">
            <a:avLst/>
          </a:prstGeom>
        </p:spPr>
      </p:pic>
      <p:sp>
        <p:nvSpPr>
          <p:cNvPr id="50" name="Text 39"/>
          <p:cNvSpPr txBox="1"/>
          <p:nvPr/>
        </p:nvSpPr>
        <p:spPr>
          <a:xfrm>
            <a:off x="5024018" y="5120640"/>
            <a:ext cx="260085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51" name="accuracy card"/>
          <p:cNvSpPr/>
          <p:nvPr/>
        </p:nvSpPr>
        <p:spPr>
          <a:xfrm>
            <a:off x="8127797" y="3456432"/>
            <a:ext cx="3515258" cy="2103120"/>
          </a:xfrm>
          <a:prstGeom prst="roundRect">
            <a:avLst>
              <a:gd name="adj" fmla="val 5217"/>
            </a:avLst>
          </a:prstGeom>
          <a:solidFill>
            <a:schemeClr val="bg1"/>
          </a:solidFill>
          <a:ln w="12700">
            <a:solidFill>
              <a:srgbClr val="E6ECF4"/>
            </a:solidFill>
            <a:prstDash val="solid"/>
          </a:ln>
        </p:spPr>
      </p:sp>
      <p:sp>
        <p:nvSpPr>
          <p:cNvPr id="52" name="ACCURACY label"/>
          <p:cNvSpPr txBox="1"/>
          <p:nvPr/>
        </p:nvSpPr>
        <p:spPr>
          <a:xfrm>
            <a:off x="8402117" y="3657600"/>
            <a:ext cx="29666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ACCURACY</a:t>
            </a:r>
            <a:endParaRPr lang="en-US" sz="1200" dirty="0"/>
          </a:p>
        </p:txBody>
      </p:sp>
      <p:sp>
        <p:nvSpPr>
          <p:cNvPr id="53" name="accuracy value"/>
          <p:cNvSpPr txBox="1"/>
          <p:nvPr/>
        </p:nvSpPr>
        <p:spPr>
          <a:xfrm>
            <a:off x="8402117" y="4005072"/>
            <a:ext cx="2966618" cy="640080"/>
          </a:xfrm>
          <a:prstGeom prst="rect">
            <a:avLst/>
          </a:prstGeom>
          <a:noFill/>
          <a:ln/>
        </p:spPr>
        <p:txBody>
          <a:bodyPr wrap="square" lIns="0" tIns="0" rIns="0" bIns="0" rtlCol="0" anchor="ctr"/>
          <a:lstStyle/>
          <a:p>
            <a:pPr indent="0" marL="0">
              <a:buNone/>
            </a:pPr>
            <a:r>
              <a:rPr lang="en-US" sz="3600" b="1" dirty="0">
                <a:solidFill>
                  <a:schemeClr val="accent1"/>
                </a:solidFill>
              </a:rPr>
              <a:t>[__%]</a:t>
            </a:r>
            <a:endParaRPr lang="en-US" sz="3600" dirty="0"/>
          </a:p>
        </p:txBody>
      </p:sp>
      <p:sp>
        <p:nvSpPr>
          <p:cNvPr id="54" name="accuracy note"/>
          <p:cNvSpPr txBox="1"/>
          <p:nvPr/>
        </p:nvSpPr>
        <p:spPr>
          <a:xfrm>
            <a:off x="8402117" y="4690872"/>
            <a:ext cx="2966618" cy="731520"/>
          </a:xfrm>
          <a:prstGeom prst="rect">
            <a:avLst/>
          </a:prstGeom>
          <a:noFill/>
          <a:ln/>
        </p:spPr>
        <p:txBody>
          <a:bodyPr wrap="square" lIns="0" tIns="0" rIns="0" bIns="0" rtlCol="0" anchor="t"/>
          <a:lstStyle/>
          <a:p>
            <a:pPr indent="0" marL="0">
              <a:buNone/>
            </a:pPr>
            <a:r>
              <a:rPr lang="en-US" sz="1250" dirty="0">
                <a:solidFill>
                  <a:schemeClr val="tx2"/>
                </a:solidFill>
              </a:rPr>
              <a:t>of spots right on our own Tashkent photos — measured with our built-in labelling tool</a:t>
            </a:r>
            <a:endParaRPr lang="en-US" sz="1250" dirty="0"/>
          </a:p>
        </p:txBody>
      </p:sp>
      <p:sp>
        <p:nvSpPr>
          <p:cNvPr id="55" name="sources strip"/>
          <p:cNvSpPr/>
          <p:nvPr/>
        </p:nvSpPr>
        <p:spPr>
          <a:xfrm>
            <a:off x="548640" y="5733288"/>
            <a:ext cx="11094415" cy="457200"/>
          </a:xfrm>
          <a:prstGeom prst="roundRect">
            <a:avLst>
              <a:gd name="adj" fmla="val 16000"/>
            </a:avLst>
          </a:prstGeom>
          <a:solidFill>
            <a:schemeClr val="accent6"/>
          </a:solidFill>
          <a:ln/>
        </p:spPr>
      </p:sp>
      <p:sp>
        <p:nvSpPr>
          <p:cNvPr id="56"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lot operator pays — a 3-month pilot proves it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[price] per camera per month + [__%] of each booking (to validate)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822960" y="4206240"/>
            <a:ext cx="5074920" cy="1417320"/>
          </a:xfrm>
          <a:prstGeom prst="rect">
            <a:avLst/>
          </a:prstGeom>
          <a:noFill/>
          <a:ln/>
        </p:spPr>
        <p:txBody>
          <a:bodyPr wrap="square" lIns="0" tIns="0" rIns="0" bIns="0" rtlCol="0" anchor="ctr"/>
          <a:lstStyle/>
          <a:p>
            <a:pPr indent="0" marL="0">
              <a:spcAft>
                <a:spcPts val="400"/>
              </a:spcAft>
              <a:buNone/>
            </a:pPr>
            <a:r>
              <a:rPr lang="en-US" sz="1300" b="1" dirty="0">
                <a:solidFill>
                  <a:schemeClr val="bg1"/>
                </a:solidFill>
              </a:rPr>
              <a:t>Per camera, per month</a:t>
            </a:r>
            <a:endParaRPr lang="en-US" sz="1450" dirty="0"/>
          </a:p>
          <a:p>
            <a:pPr indent="0" marL="0">
              <a:spcAft>
                <a:spcPts val="400"/>
              </a:spcAft>
              <a:buNone/>
            </a:pPr>
            <a:r>
              <a:rPr lang="en-US" sz="1450" b="1" dirty="0">
                <a:solidFill>
                  <a:schemeClr val="accent2"/>
                </a:solidFill>
              </a:rPr>
              <a:t>Revenue</a:t>
            </a:r>
            <a:pPr indent="0" marL="0">
              <a:spcAft>
                <a:spcPts val="400"/>
              </a:spcAft>
              <a:buNone/>
            </a:pPr>
            <a:r>
              <a:rPr lang="en-US" sz="1450" dirty="0">
                <a:solidFill>
                  <a:schemeClr val="bg1"/>
                </a:solidFill>
              </a:rPr>
              <a:t> = [subscription] + [bookings/day] × [fee] × 30</a:t>
            </a:r>
            <a:endParaRPr lang="en-US" sz="1450" dirty="0"/>
          </a:p>
          <a:p>
            <a:pPr indent="0" marL="0">
              <a:spcAft>
                <a:spcPts val="400"/>
              </a:spcAft>
              <a:buNone/>
            </a:pPr>
            <a:r>
              <a:rPr lang="en-US" sz="1450" b="1" dirty="0">
                <a:solidFill>
                  <a:schemeClr val="accent2"/>
                </a:solidFill>
              </a:rPr>
              <a:t>Cost</a:t>
            </a:r>
            <a:pPr indent="0" marL="0">
              <a:spcAft>
                <a:spcPts val="400"/>
              </a:spcAft>
              <a:buNone/>
            </a:pPr>
            <a:r>
              <a:rPr lang="en-US" sz="1450" dirty="0">
                <a:solidFill>
                  <a:schemeClr val="bg1"/>
                </a:solidFill>
              </a:rPr>
              <a:t> = [server $] ÷ 8 + [phone] ÷ [months] + [support]</a:t>
            </a:r>
            <a:endParaRPr lang="en-US" sz="145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2026-10-11T04:51:14Z</dcterms:created>
  <dcterms:modified xsi:type="dcterms:W3CDTF">2026-10-11T04:51:14Z</dcterms:modified>
</cp:coreProperties>
</file>