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solution (1:00)" id="{1c865da4-cd21-4c11-b602-749772fd3789}">
          <p14:sldIdLst>
            <p14:sldId id="256"/>
            <p14:sldId id="257"/>
          </p14:sldIdLst>
        </p14:section>
        <p14:section name="Demo (2:20)" id="{7492c269-e5a5-92c4-a728-f178ccc9490d}">
          <p14:sldIdLst>
            <p14:sldId id="258"/>
            <p14:sldId id="259"/>
          </p14:sldIdLst>
        </p14:section>
        <p14:section name="Technology (1:25)" id="{e5616576-2c3c-36d9-6d9f-538e5af0f846}">
          <p14:sldIdLst>
            <p14:sldId id="260"/>
          </p14:sldIdLst>
        </p14:section>
        <p14:section name="Competitors (0:45)" id="{9e53bd0f-6fa1-c0e2-b5ed-e2612916ab2d}">
          <p14:sldIdLst>
            <p14:sldId id="261"/>
          </p14:sldIdLst>
        </p14:section>
        <p14:section name="Business and pilot (1:20)" id="{b918ab68-4441-64d7-7f66-a5a8f9e9e2d5}">
          <p14:sldIdLst>
            <p14:sldId id="262"/>
          </p14:sldIdLst>
        </p14:section>
        <p14:section name="Close (0:10)" id="{8f32843f-f224-d088-510d-d58007c17b69}">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Bahodurov Bahridin · 0:00–0:15
"Good afternoon. We are team ALL-IN-ONE and this is ParkDet — short for Parking Detector — a Startup-mode product for the Computer Vision track. ParkDet shows free parking spots, live."
(The phone shows our app's live spot map from a test run: green = free, yellow = reserved, red = taken (a car is parked) — swap in a WIUT screenshot once your lot 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Bahodurov Bahridin · 0:15–1:00
"Everyone here has circled a parking lot. Drivers don't know where the free spot is and can't reserve one. Elderly drivers get lost in big lots with small signs. And the operator often already has cameras, but gets no data from them.
ParkDet fixes this with one phone camera per lot: it sees every spot, with no sensors. Drivers see free spots live on a map and navigate to the entrance. They book ahead, or just walk in with a QR code at the gate and pay before they leave. And they get big, simple directions: 'B5, straight 25 metres, then right'."
If the team has real evidence (interviews, a timed drive around a lot), add ONE sentence here — never invent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Gopurjonov Bobur · 1:00–3:00 (2 min, hard stop)
+0:00 "Scan the code — this is the live site." (Site open on the laptop AND one phone; the WIUT camera phone streaming.)
+0:10 Map: "This lot is live — the count comes from a phone camera above it." Tap Navigate (Google Maps opens to the entrance), come back.
+0:35 Free spots &amp; booking: tap a green spot → Book → Pay (say: sandbox) → QR ticket → directions "straight 25 m, then right".
+1:00 JURY INPUT: Vision → upload the jury's photo → "cars, rows and inferred empty spots — nobody drew these spots".
+1:25 Operator view (PIN): pixelated camera + spot overlay; the one-time spot check; drivers never see the camera.
+1:45 "One CPU server, no GPU."
IF THE WIUT CAMERA IS OFFLINE: show it honestly — the map says "camera offline" and booking pauses; the system never guesses.
IF THE SITE IS DOWN: play your own screen recording of this flow (record it once the WIUT lot is live). Never debug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Gopurjonov Bobur · 3:00–3:20
"Here are the app's main screens: nearby lots with live free spots and Navigate; Find me a spot, which picks the nearest free spot; the ticket with its QR code and a countdown of how long the spot is held; the walk-in page from the gate QR, where you pay before leaving; and the entrance screen." Hand over to Amirxon.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Shomurodov Amirxon · 3:20–4:45
"How it works. A phone at the lot sends a picture every few seconds. Two open YOLO11 detectors — one for cameras looking down, one for street-level views — run together on an ordinary CPU. Then our part: the spots are found automatically from the rows of parked cars, the operator confirms them once, and occupancy is cautious — any sign of a car keeps a spot occupied. The result feeds the map, booking and directions.
Measured: 0.14 seconds per camera frame on a 4-core CPU, no GPU, under 400 MB of memory — one small server handles about 20 cameras; we plan for 8. If a camera goes offline we show 'no data' and pause booking — we never guess. Pictures are never saved and the operator sees them pixelated."
Measurement conditions: synthetic 1280×720 frames, both detectors (worst case), 4-core Xeon 2.1 GHz, 2 threads; on the free demo server (0.1 CPU) a frame takes ~2.7 s — say so if a judge notices.
Q&amp;A: detectors are pretrained (Ultralytics, AGPL-3.0); the top-down model must be retrained on our own data before commercial use (README). Everything after detection was written during the final.
TEAM-ONLY RUNBOOK (not for presenting)
10 minutes before: open the site to wake the free server · WIUT camera phone streaming, charging, screen on, one picture every 5–10 s · map shows the lot "Live" · operator PIN at hand · two lot photos on the laptop for the jury input · your own screen recording of the flow ready offline.
If something fails: slow photo → "free tenth-of-a-CPU server"; camera offline → show it (map says so, booking pauses); site down → play the recording at the same step; wrong detection → name it calmly; never debug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Shomurodov Amirxon · 4:45–5:30
"Who else solves parking in Uzbekistan? The city's Poytaxt Parking app takes payment for street parking — but it's street-only and we found no booking. Gate systems with plate recognition, like Tashkent airport's since 2022, know who came in — not which spot is free. Yandex Maps and 2GIS show where lots are — we found no live free spots or booking, so we simply hand navigation over to them. The city traffic centre started a pilot in April to join private lots into one system — a possible partner for us. And per-spot sensors are accurate, but need a device over every spot; we found no installation in Uzbekistan. ParkDet needs one phone per lot. And demand is real: the airport's May tender asks for online booking and free-space boards."
Say "we found" — these are absences in our search, not proven facts. Open every link once before the defence.
SOURCES (checked 10 Oct 2026 via search results; open each before the defence)
Poytaxt Parking: spot.uz/ru/2025/06/23/paid-parking/ (app rating 2.4/5, payment options) · kun.uz/ru/news/2025/05/05/v-tashkente-v-testovom-rejime-zapushcheny-pervyye-pridorojnyye-platnyye-parkovki · afisha.uz/ru/gorod/2025/05/06/parking (operator Streetpark Systems, zones 5,000–12,000 so'm/h)
Airport gate system: kun.uz/ru/news/2022/11/24/v-aeroportu-tashkenta-zarabotala-pervaya-umnaya-parkovka-v-strane (333 spaces, plate recognition) · anhor.uz/news/smart-parking/ (Amano equipment, installed by K2) · spot.uz/ru/2023/01/09/parking-airport/
Airport tender: spot.uz/ru/2026/05/04/airport-parking-lease/ · anhor.uz/news/parkovki-2/ (6 lots, 1,543 spaces, 3 years; tenant must add plate recognition, online payment and booking, free-space boards)
City pilot: kun.uz/ru/news/2026/04/21/v-tashkente-pristupili-k-realizatsii-pilotnogo-proyekta-po-sistemnomu-upravleniyu-parkovkami · uza.uz (private lots near shops joined to one city system; space accounting and occupancy control)
Maps: yandex.com/maps (Tashkent parking places) · 2gis.uz (Tashkent paid car parks listing)
Per-spot guidance product: hikvision.com Smart Parking solution brochure (parking guidance systems); no Uzbek installation found in our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Bahodurov Bahridin · 5:30–6:50
"How we earn: drivers pay 5,000 so'm for the first hour and 2,000 so'm for each extra hour. Half of every payment goes to the parking lot, half is our income. We work with malls, business centres, universities, dealerships and paid city lots. The lot gets paid bookings, no gate staff for walk-ins, and data on how the lot is used. Our cost per camera is a share of one server, the phone and support.
To prove it: a three-month pilot in one lot. Month one: one or two phone cameras, the spot check, and labelling photos from that lot. Month two: drivers use the map, booking and walk-in, and the operator gets a weekly accuracy report. Month three: a real local payment provider, an ROI review, go or no-go. The pilot costs [sum] and pays back in [__] months.
Our ask: one lot to pilot in."
Replace every [bracket] with a sourced number, or say "this is our hypothesis, to be validated in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Bahodurov Bahridin · 6:50–7:00 (finish by 6:55)
"Thanks for watching — we're happy to take your questions."
Q&amp;A owners: CV / model → Amirxon; app, demo, deployment → Bobur; business, pilot, users → Bahridin.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nvSpPr>
        <p:spPr>
          <a:xfrm>
            <a:off x="548640" y="6355080"/>
            <a:ext cx="3657600" cy="274320"/>
          </a:xfrm>
          <a:prstGeom prst="rect">
            <a:avLst/>
          </a:prstGeom>
          <a:noFill/>
          <a:ln/>
        </p:spPr>
        <p:txBody>
          <a:bodyPr wrap="square" lIns="0" tIns="0" rIns="0" bIns="0" rtlCol="0" anchor="ctr"/>
          <a:lstStyle/>
          <a:p>
            <a:pPr indent="0" marL="0">
              <a:buNone/>
            </a:pPr>
            <a:r>
              <a:rPr lang="en-US" sz="1000" dirty="0">
                <a:solidFill>
                  <a:schemeClr val="tx2"/>
                </a:solidFill>
              </a:rPr>
              <a:t>ParkDet</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indent="0" marL="0">
              <a:buNone/>
              <a:defRPr lang="en-US" sz="1200" b="1" spc="2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685800"/>
            <a:ext cx="694944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nvSpPr>
        <p:spPr>
          <a:xfrm>
            <a:off x="548640" y="6355080"/>
            <a:ext cx="3657600" cy="274320"/>
          </a:xfrm>
          <a:prstGeom prst="rect">
            <a:avLst/>
          </a:prstGeom>
          <a:noFill/>
          <a:ln/>
        </p:spPr>
        <p:txBody>
          <a:bodyPr wrap="square" lIns="0" tIns="0" rIns="0" bIns="0" rtlCol="0" anchor="ctr"/>
          <a:lstStyle/>
          <a:p>
            <a:pPr indent="0" marL="0">
              <a:buNone/>
            </a:pPr>
            <a:r>
              <a:rPr lang="en-US" sz="1000" dirty="0">
                <a:solidFill>
                  <a:schemeClr val="accent5"/>
                </a:solidFill>
              </a:rPr>
              <a:t>ParkDet</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png"/><Relationship Id="rId5" Type="http://schemas.openxmlformats.org/officeDocument/2006/relationships/slideLayout" Target="../slideLayouts/slideLayout4.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image" Target="../media/image-8-20.png"/><Relationship Id="rId21" Type="http://schemas.openxmlformats.org/officeDocument/2006/relationships/image" Target="../media/image-8-21.png"/><Relationship Id="rId22" Type="http://schemas.openxmlformats.org/officeDocument/2006/relationships/image" Target="../media/image-8-22.png"/><Relationship Id="rId23" Type="http://schemas.openxmlformats.org/officeDocument/2006/relationships/slideLayout" Target="../slideLayouts/slideLayout4.xml"/><Relationship Id="rId2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de pill"/>
          <p:cNvSpPr/>
          <p:nvPr/>
        </p:nvSpPr>
        <p:spPr>
          <a:xfrm>
            <a:off x="548640" y="640080"/>
            <a:ext cx="5120640" cy="411480"/>
          </a:xfrm>
          <a:prstGeom prst="roundRect">
            <a:avLst>
              <a:gd name="adj" fmla="val 48889"/>
            </a:avLst>
          </a:prstGeom>
          <a:solidFill>
            <a:schemeClr val="accent2"/>
          </a:solidFill>
          <a:ln/>
        </p:spPr>
      </p:sp>
      <p:sp>
        <p:nvSpPr>
          <p:cNvPr id="3" name="mode"/>
          <p:cNvSpPr txBox="1"/>
          <p:nvPr/>
        </p:nvSpPr>
        <p:spPr>
          <a:xfrm>
            <a:off x="548640" y="640080"/>
            <a:ext cx="5120640" cy="411480"/>
          </a:xfrm>
          <a:prstGeom prst="rect">
            <a:avLst/>
          </a:prstGeom>
          <a:noFill/>
          <a:ln/>
        </p:spPr>
        <p:txBody>
          <a:bodyPr wrap="square" lIns="0" tIns="0" rIns="0" bIns="0" rtlCol="0" anchor="ctr"/>
          <a:lstStyle/>
          <a:p>
            <a:pPr algn="ctr" indent="0" marL="0">
              <a:buNone/>
            </a:pPr>
            <a:r>
              <a:rPr lang="en-US" sz="1300" b="1" spc="100" kern="0" dirty="0">
                <a:solidFill>
                  <a:schemeClr val="tx1"/>
                </a:solidFill>
              </a:rPr>
              <a:t>COMPUTER VISION TRACK · MODE: STARTUP</a:t>
            </a:r>
            <a:endParaRPr lang="en-US" sz="1300" dirty="0"/>
          </a:p>
        </p:txBody>
      </p:sp>
      <p:sp>
        <p:nvSpPr>
          <p:cNvPr id="4" name="product name"/>
          <p:cNvSpPr txBox="1"/>
          <p:nvPr/>
        </p:nvSpPr>
        <p:spPr>
          <a:xfrm>
            <a:off x="548640" y="1325880"/>
            <a:ext cx="7315200" cy="1234440"/>
          </a:xfrm>
          <a:prstGeom prst="rect">
            <a:avLst/>
          </a:prstGeom>
          <a:noFill/>
          <a:ln/>
        </p:spPr>
        <p:txBody>
          <a:bodyPr wrap="square" lIns="0" tIns="0" rIns="0" bIns="0" rtlCol="0" anchor="ctr"/>
          <a:lstStyle/>
          <a:p>
            <a:pPr indent="0" marL="0">
              <a:buNone/>
            </a:pPr>
            <a:r>
              <a:rPr lang="en-US" sz="8000" b="1" dirty="0">
                <a:solidFill>
                  <a:schemeClr val="bg1"/>
                </a:solidFill>
              </a:rPr>
              <a:t>ParkDet</a:t>
            </a:r>
            <a:endParaRPr lang="en-US" sz="8000" dirty="0"/>
          </a:p>
        </p:txBody>
      </p:sp>
      <p:sp>
        <p:nvSpPr>
          <p:cNvPr id="5" name="full name"/>
          <p:cNvSpPr txBox="1"/>
          <p:nvPr/>
        </p:nvSpPr>
        <p:spPr>
          <a:xfrm>
            <a:off x="548640" y="2606040"/>
            <a:ext cx="7680960" cy="640080"/>
          </a:xfrm>
          <a:prstGeom prst="rect">
            <a:avLst/>
          </a:prstGeom>
          <a:noFill/>
          <a:ln/>
        </p:spPr>
        <p:txBody>
          <a:bodyPr wrap="square" lIns="0" tIns="0" rIns="0" bIns="0" rtlCol="0" anchor="ctr"/>
          <a:lstStyle/>
          <a:p>
            <a:pPr indent="0" marL="0">
              <a:buNone/>
            </a:pPr>
            <a:r>
              <a:rPr lang="en-US" sz="3600" b="1" dirty="0">
                <a:solidFill>
                  <a:schemeClr val="accent2"/>
                </a:solidFill>
              </a:rPr>
              <a:t>Park</a:t>
            </a:r>
            <a:pPr indent="0" marL="0">
              <a:buNone/>
            </a:pPr>
            <a:r>
              <a:rPr lang="en-US" sz="3600" dirty="0">
                <a:solidFill>
                  <a:schemeClr val="accent5"/>
                </a:solidFill>
              </a:rPr>
              <a:t>ing </a:t>
            </a:r>
            <a:pPr indent="0" marL="0">
              <a:buNone/>
            </a:pPr>
            <a:r>
              <a:rPr lang="en-US" sz="3600" b="1" dirty="0">
                <a:solidFill>
                  <a:schemeClr val="accent2"/>
                </a:solidFill>
              </a:rPr>
              <a:t>Det</a:t>
            </a:r>
            <a:pPr indent="0" marL="0">
              <a:buNone/>
            </a:pPr>
            <a:r>
              <a:rPr lang="en-US" sz="3600" dirty="0">
                <a:solidFill>
                  <a:schemeClr val="accent5"/>
                </a:solidFill>
              </a:rPr>
              <a:t>ector</a:t>
            </a:r>
            <a:endParaRPr lang="en-US" sz="3600" dirty="0"/>
          </a:p>
        </p:txBody>
      </p:sp>
      <p:sp>
        <p:nvSpPr>
          <p:cNvPr id="6" name="meaning"/>
          <p:cNvSpPr txBox="1"/>
          <p:nvPr/>
        </p:nvSpPr>
        <p:spPr>
          <a:xfrm>
            <a:off x="548640" y="3291840"/>
            <a:ext cx="7680960" cy="548640"/>
          </a:xfrm>
          <a:prstGeom prst="rect">
            <a:avLst/>
          </a:prstGeom>
          <a:noFill/>
          <a:ln/>
        </p:spPr>
        <p:txBody>
          <a:bodyPr wrap="square" lIns="0" tIns="0" rIns="0" bIns="0" rtlCol="0" anchor="ctr"/>
          <a:lstStyle/>
          <a:p>
            <a:pPr indent="0" marL="0">
              <a:buNone/>
            </a:pPr>
            <a:r>
              <a:rPr lang="en-US" sz="2400" dirty="0">
                <a:solidFill>
                  <a:schemeClr val="bg1"/>
                </a:solidFill>
              </a:rPr>
              <a:t>Free parking spots, seen live</a:t>
            </a:r>
            <a:endParaRPr lang="en-US" sz="2400" dirty="0"/>
          </a:p>
        </p:txBody>
      </p:sp>
      <p:pic>
        <p:nvPicPr>
          <p:cNvPr id="7" name="photo Bahodurov Bahridin" descr="Bahodurov Bahridin">    </p:cNvPr>
          <p:cNvPicPr>
            <a:picLocks noChangeAspect="1"/>
          </p:cNvPicPr>
          <p:nvPr/>
        </p:nvPicPr>
        <p:blipFill>
          <a:blip r:embed="rId1"/>
          <a:stretch>
            <a:fillRect/>
          </a:stretch>
        </p:blipFill>
        <p:spPr>
          <a:xfrm>
            <a:off x="548640" y="4434840"/>
            <a:ext cx="777240" cy="777240"/>
          </a:xfrm>
          <a:prstGeom prst="ellipse">
            <a:avLst/>
          </a:prstGeom>
        </p:spPr>
      </p:pic>
      <p:sp>
        <p:nvSpPr>
          <p:cNvPr id="8" name="photo ring 1"/>
          <p:cNvSpPr/>
          <p:nvPr/>
        </p:nvSpPr>
        <p:spPr>
          <a:xfrm>
            <a:off x="548640" y="4434840"/>
            <a:ext cx="777240" cy="777240"/>
          </a:xfrm>
          <a:prstGeom prst="ellipse">
            <a:avLst/>
          </a:prstGeom>
          <a:ln w="25400">
            <a:solidFill>
              <a:srgbClr val="F2A93B"/>
            </a:solidFill>
            <a:prstDash val="solid"/>
          </a:ln>
        </p:spPr>
      </p:sp>
      <p:sp>
        <p:nvSpPr>
          <p:cNvPr id="9" name="speaker 1"/>
          <p:cNvSpPr txBox="1"/>
          <p:nvPr/>
        </p:nvSpPr>
        <p:spPr>
          <a:xfrm>
            <a:off x="1463040" y="4434840"/>
            <a:ext cx="1554480" cy="777240"/>
          </a:xfrm>
          <a:prstGeom prst="rect">
            <a:avLst/>
          </a:prstGeom>
          <a:noFill/>
          <a:ln/>
        </p:spPr>
        <p:txBody>
          <a:bodyPr wrap="square" lIns="0" tIns="0" rIns="0" bIns="0" rtlCol="0" anchor="ctr"/>
          <a:lstStyle/>
          <a:p>
            <a:pPr indent="0" marL="0">
              <a:buNone/>
            </a:pPr>
            <a:r>
              <a:rPr lang="en-US" sz="1500" dirty="0">
                <a:solidFill>
                  <a:schemeClr val="bg1"/>
                </a:solidFill>
              </a:rPr>
              <a:t>Bahodurov</a:t>
            </a:r>
            <a:endParaRPr lang="en-US" sz="1500" dirty="0"/>
          </a:p>
          <a:p>
            <a:pPr indent="0" marL="0">
              <a:buNone/>
            </a:pPr>
            <a:r>
              <a:rPr lang="en-US" sz="1500" dirty="0">
                <a:solidFill>
                  <a:schemeClr val="bg1"/>
                </a:solidFill>
              </a:rPr>
              <a:t>Bahridin</a:t>
            </a:r>
            <a:endParaRPr lang="en-US" sz="1500" dirty="0"/>
          </a:p>
        </p:txBody>
      </p:sp>
      <p:pic>
        <p:nvPicPr>
          <p:cNvPr id="10" name="photo Gopurjonov Bobur" descr="Gopurjonov Bobur">    </p:cNvPr>
          <p:cNvPicPr>
            <a:picLocks noChangeAspect="1"/>
          </p:cNvPicPr>
          <p:nvPr/>
        </p:nvPicPr>
        <p:blipFill>
          <a:blip r:embed="rId2"/>
          <a:stretch>
            <a:fillRect/>
          </a:stretch>
        </p:blipFill>
        <p:spPr>
          <a:xfrm>
            <a:off x="3063240" y="4434840"/>
            <a:ext cx="777240" cy="777240"/>
          </a:xfrm>
          <a:prstGeom prst="ellipse">
            <a:avLst/>
          </a:prstGeom>
        </p:spPr>
      </p:pic>
      <p:sp>
        <p:nvSpPr>
          <p:cNvPr id="11" name="photo ring 2"/>
          <p:cNvSpPr/>
          <p:nvPr/>
        </p:nvSpPr>
        <p:spPr>
          <a:xfrm>
            <a:off x="3063240" y="4434840"/>
            <a:ext cx="777240" cy="777240"/>
          </a:xfrm>
          <a:prstGeom prst="ellipse">
            <a:avLst/>
          </a:prstGeom>
          <a:ln w="25400">
            <a:solidFill>
              <a:srgbClr val="F2A93B"/>
            </a:solidFill>
            <a:prstDash val="solid"/>
          </a:ln>
        </p:spPr>
      </p:sp>
      <p:sp>
        <p:nvSpPr>
          <p:cNvPr id="12" name="speaker 2"/>
          <p:cNvSpPr txBox="1"/>
          <p:nvPr/>
        </p:nvSpPr>
        <p:spPr>
          <a:xfrm>
            <a:off x="3977640" y="4434840"/>
            <a:ext cx="1554480" cy="777240"/>
          </a:xfrm>
          <a:prstGeom prst="rect">
            <a:avLst/>
          </a:prstGeom>
          <a:noFill/>
          <a:ln/>
        </p:spPr>
        <p:txBody>
          <a:bodyPr wrap="square" lIns="0" tIns="0" rIns="0" bIns="0" rtlCol="0" anchor="ctr"/>
          <a:lstStyle/>
          <a:p>
            <a:pPr indent="0" marL="0">
              <a:buNone/>
            </a:pPr>
            <a:r>
              <a:rPr lang="en-US" sz="1500" dirty="0">
                <a:solidFill>
                  <a:schemeClr val="bg1"/>
                </a:solidFill>
              </a:rPr>
              <a:t>Gopurjonov</a:t>
            </a:r>
            <a:endParaRPr lang="en-US" sz="1500" dirty="0"/>
          </a:p>
          <a:p>
            <a:pPr indent="0" marL="0">
              <a:buNone/>
            </a:pPr>
            <a:r>
              <a:rPr lang="en-US" sz="1500" dirty="0">
                <a:solidFill>
                  <a:schemeClr val="bg1"/>
                </a:solidFill>
              </a:rPr>
              <a:t>Bobur</a:t>
            </a:r>
            <a:endParaRPr lang="en-US" sz="1500" dirty="0"/>
          </a:p>
        </p:txBody>
      </p:sp>
      <p:pic>
        <p:nvPicPr>
          <p:cNvPr id="13" name="photo Shomurodov Amirxon" descr="Shomurodov Amirxon">    </p:cNvPr>
          <p:cNvPicPr>
            <a:picLocks noChangeAspect="1"/>
          </p:cNvPicPr>
          <p:nvPr/>
        </p:nvPicPr>
        <p:blipFill>
          <a:blip r:embed="rId3"/>
          <a:stretch>
            <a:fillRect/>
          </a:stretch>
        </p:blipFill>
        <p:spPr>
          <a:xfrm>
            <a:off x="5577840" y="4434840"/>
            <a:ext cx="777240" cy="777240"/>
          </a:xfrm>
          <a:prstGeom prst="ellipse">
            <a:avLst/>
          </a:prstGeom>
        </p:spPr>
      </p:pic>
      <p:sp>
        <p:nvSpPr>
          <p:cNvPr id="14" name="photo ring 3"/>
          <p:cNvSpPr/>
          <p:nvPr/>
        </p:nvSpPr>
        <p:spPr>
          <a:xfrm>
            <a:off x="5577840" y="4434840"/>
            <a:ext cx="777240" cy="777240"/>
          </a:xfrm>
          <a:prstGeom prst="ellipse">
            <a:avLst/>
          </a:prstGeom>
          <a:ln w="25400">
            <a:solidFill>
              <a:srgbClr val="F2A93B"/>
            </a:solidFill>
            <a:prstDash val="solid"/>
          </a:ln>
        </p:spPr>
      </p:sp>
      <p:sp>
        <p:nvSpPr>
          <p:cNvPr id="15" name="speaker 3"/>
          <p:cNvSpPr txBox="1"/>
          <p:nvPr/>
        </p:nvSpPr>
        <p:spPr>
          <a:xfrm>
            <a:off x="6492240" y="4434840"/>
            <a:ext cx="1554480" cy="777240"/>
          </a:xfrm>
          <a:prstGeom prst="rect">
            <a:avLst/>
          </a:prstGeom>
          <a:noFill/>
          <a:ln/>
        </p:spPr>
        <p:txBody>
          <a:bodyPr wrap="square" lIns="0" tIns="0" rIns="0" bIns="0" rtlCol="0" anchor="ctr"/>
          <a:lstStyle/>
          <a:p>
            <a:pPr indent="0" marL="0">
              <a:buNone/>
            </a:pPr>
            <a:r>
              <a:rPr lang="en-US" sz="1500" dirty="0">
                <a:solidFill>
                  <a:schemeClr val="bg1"/>
                </a:solidFill>
              </a:rPr>
              <a:t>Shomurodov</a:t>
            </a:r>
            <a:endParaRPr lang="en-US" sz="1500" dirty="0"/>
          </a:p>
          <a:p>
            <a:pPr indent="0" marL="0">
              <a:buNone/>
            </a:pPr>
            <a:r>
              <a:rPr lang="en-US" sz="1500" dirty="0">
                <a:solidFill>
                  <a:schemeClr val="bg1"/>
                </a:solidFill>
              </a:rPr>
              <a:t>Amirxon</a:t>
            </a:r>
            <a:endParaRPr lang="en-US" sz="1500" dirty="0"/>
          </a:p>
        </p:txBody>
      </p:sp>
      <p:sp>
        <p:nvSpPr>
          <p:cNvPr id="16" name="phone frame"/>
          <p:cNvSpPr/>
          <p:nvPr/>
        </p:nvSpPr>
        <p:spPr>
          <a:xfrm>
            <a:off x="9369924" y="548640"/>
            <a:ext cx="2288676" cy="5760720"/>
          </a:xfrm>
          <a:prstGeom prst="roundRect">
            <a:avLst>
              <a:gd name="adj" fmla="val 9988"/>
            </a:avLst>
          </a:prstGeom>
          <a:solidFill>
            <a:schemeClr val="bg1">
              <a:alpha val="12000"/>
            </a:schemeClr>
          </a:solidFill>
          <a:ln/>
        </p:spPr>
      </p:sp>
      <p:pic>
        <p:nvPicPr>
          <p:cNvPr id="17" name="app screenshot" descr="ParkDet driver app: a lot's live spot map with free (green), reserved (yellow) and taken (red) spots">    </p:cNvPr>
          <p:cNvPicPr>
            <a:picLocks noChangeAspect="1"/>
          </p:cNvPicPr>
          <p:nvPr/>
        </p:nvPicPr>
        <p:blipFill>
          <a:blip r:embed="rId4"/>
          <a:stretch>
            <a:fillRect/>
          </a:stretch>
        </p:blipFill>
        <p:spPr>
          <a:xfrm>
            <a:off x="9516228" y="694944"/>
            <a:ext cx="1996068" cy="5029200"/>
          </a:xfrm>
          <a:prstGeom prst="rect">
            <a:avLst/>
          </a:prstGeom>
        </p:spPr>
      </p:pic>
      <p:sp>
        <p:nvSpPr>
          <p:cNvPr id="18" name="screenshot caption"/>
          <p:cNvSpPr txBox="1"/>
          <p:nvPr/>
        </p:nvSpPr>
        <p:spPr>
          <a:xfrm>
            <a:off x="9369924" y="5788152"/>
            <a:ext cx="2288676" cy="475488"/>
          </a:xfrm>
          <a:prstGeom prst="rect">
            <a:avLst/>
          </a:prstGeom>
          <a:noFill/>
          <a:ln/>
        </p:spPr>
        <p:txBody>
          <a:bodyPr wrap="square" lIns="0" tIns="0" rIns="0" bIns="0" rtlCol="0" anchor="ctr"/>
          <a:lstStyle/>
          <a:p>
            <a:pPr algn="ctr" indent="0" marL="0">
              <a:buNone/>
            </a:pPr>
            <a:r>
              <a:rPr lang="en-US" sz="1100" b="1" dirty="0">
                <a:solidFill>
                  <a:schemeClr val="bg1"/>
                </a:solidFill>
              </a:rPr>
              <a:t>Live spot map</a:t>
            </a:r>
            <a:endParaRPr lang="en-US" sz="1100" dirty="0"/>
          </a:p>
          <a:p>
            <a:pPr algn="ctr" indent="0" marL="0">
              <a:buNone/>
            </a:pPr>
            <a:r>
              <a:rPr lang="en-US" sz="1100" dirty="0">
                <a:solidFill>
                  <a:srgbClr val="18A058"/>
                </a:solidFill>
              </a:rPr>
              <a:t>● </a:t>
            </a:r>
            <a:pPr algn="ctr" indent="0" marL="0">
              <a:buNone/>
            </a:pPr>
            <a:r>
              <a:rPr lang="en-US" sz="1100" dirty="0">
                <a:solidFill>
                  <a:schemeClr val="accent5"/>
                </a:solidFill>
              </a:rPr>
              <a:t>free   </a:t>
            </a:r>
            <a:pPr algn="ctr" indent="0" marL="0">
              <a:buNone/>
            </a:pPr>
            <a:r>
              <a:rPr lang="en-US" sz="1100" dirty="0">
                <a:solidFill>
                  <a:srgbClr val="EAB308"/>
                </a:solidFill>
              </a:rPr>
              <a:t>● </a:t>
            </a:r>
            <a:pPr algn="ctr" indent="0" marL="0">
              <a:buNone/>
            </a:pPr>
            <a:r>
              <a:rPr lang="en-US" sz="1100" dirty="0">
                <a:solidFill>
                  <a:schemeClr val="accent5"/>
                </a:solidFill>
              </a:rPr>
              <a:t>reserved   </a:t>
            </a:r>
            <a:pPr algn="ctr" indent="0" marL="0">
              <a:buNone/>
            </a:pPr>
            <a:r>
              <a:rPr lang="en-US" sz="1100" dirty="0">
                <a:solidFill>
                  <a:srgbClr val="E5484D"/>
                </a:solidFill>
              </a:rPr>
              <a:t>● </a:t>
            </a:r>
            <a:pPr algn="ctr" indent="0" marL="0">
              <a:buNone/>
            </a:pPr>
            <a:r>
              <a:rPr lang="en-US" sz="1100" dirty="0">
                <a:solidFill>
                  <a:schemeClr val="accent5"/>
                </a:solidFill>
              </a:rPr>
              <a:t>taken</a:t>
            </a:r>
            <a:endParaRPr lang="en-US" sz="1100" dirty="0"/>
          </a:p>
        </p:txBody>
      </p:sp>
      <p:sp>
        <p:nvSpPr>
          <p:cNvPr id="19" name="cover footer"/>
          <p:cNvSpPr txBox="1"/>
          <p:nvPr/>
        </p:nvSpPr>
        <p:spPr>
          <a:xfrm>
            <a:off x="548640" y="6355080"/>
            <a:ext cx="7772400" cy="274320"/>
          </a:xfrm>
          <a:prstGeom prst="rect">
            <a:avLst/>
          </a:prstGeom>
          <a:noFill/>
          <a:ln/>
        </p:spPr>
        <p:txBody>
          <a:bodyPr wrap="square" lIns="0" tIns="0" rIns="0" bIns="0" rtlCol="0" anchor="t"/>
          <a:lstStyle/>
          <a:p>
            <a:pPr indent="0" marL="0">
              <a:buNone/>
            </a:pPr>
            <a:r>
              <a:rPr lang="en-US" sz="1200" dirty="0">
                <a:solidFill>
                  <a:schemeClr val="accent5"/>
                </a:solidFill>
              </a:rPr>
              <a:t>Team ALL-IN-ONE · October 2026 · Live: parkspot-5bo4.onrender.com</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PROBLEM → SOLUTION</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t"/>
          <a:lstStyle/>
          <a:p>
            <a:pPr algn="l" indent="0" marL="0">
              <a:buNone/>
            </a:pPr>
            <a:r>
              <a:rPr lang="en-US" sz="3200" b="1" dirty="0">
                <a:solidFill>
                  <a:schemeClr val="tx1"/>
                </a:solidFill>
              </a:rPr>
              <a:t>From guesswork to a guaranteed spot</a:t>
            </a:r>
            <a:endParaRPr lang="en-US" sz="3200" dirty="0"/>
          </a:p>
        </p:txBody>
      </p:sp>
      <p:sp>
        <p:nvSpPr>
          <p:cNvPr id="4" name="THE PROBLEM card"/>
          <p:cNvSpPr/>
          <p:nvPr/>
        </p:nvSpPr>
        <p:spPr>
          <a:xfrm>
            <a:off x="548640" y="1600200"/>
            <a:ext cx="5135728" cy="4434840"/>
          </a:xfrm>
          <a:prstGeom prst="roundRect">
            <a:avLst>
              <a:gd name="adj" fmla="val 2474"/>
            </a:avLst>
          </a:prstGeom>
          <a:solidFill>
            <a:schemeClr val="bg1"/>
          </a:solidFill>
          <a:ln w="12700">
            <a:solidFill>
              <a:srgbClr val="E6ECF4"/>
            </a:solidFill>
            <a:prstDash val="solid"/>
          </a:ln>
        </p:spPr>
      </p:sp>
      <p:sp>
        <p:nvSpPr>
          <p:cNvPr id="5" name="THE PROBLEM label"/>
          <p:cNvSpPr txBox="1"/>
          <p:nvPr/>
        </p:nvSpPr>
        <p:spPr>
          <a:xfrm>
            <a:off x="914400" y="1920240"/>
            <a:ext cx="4404208"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THE PROBLEM</a:t>
            </a:r>
            <a:endParaRPr lang="en-US" sz="1200" dirty="0"/>
          </a:p>
        </p:txBody>
      </p:sp>
      <p:sp>
        <p:nvSpPr>
          <p:cNvPr id="6" name="Drivers circle, guessing circle"/>
          <p:cNvSpPr/>
          <p:nvPr/>
        </p:nvSpPr>
        <p:spPr>
          <a:xfrm>
            <a:off x="914400" y="2468880"/>
            <a:ext cx="548640" cy="548640"/>
          </a:xfrm>
          <a:prstGeom prst="ellipse">
            <a:avLst/>
          </a:prstGeom>
          <a:solidFill>
            <a:schemeClr val="accent4"/>
          </a:solidFill>
          <a:ln/>
        </p:spPr>
      </p:sp>
      <p:pic>
        <p:nvPicPr>
          <p:cNvPr id="7" name="Drivers circle, guessing icon" descr="Drivers circle, guessing">    </p:cNvPr>
          <p:cNvPicPr>
            <a:picLocks noChangeAspect="1"/>
          </p:cNvPicPr>
          <p:nvPr/>
        </p:nvPicPr>
        <p:blipFill>
          <a:blip r:embed="rId1"/>
          <a:stretch>
            <a:fillRect/>
          </a:stretch>
        </p:blipFill>
        <p:spPr>
          <a:xfrm>
            <a:off x="1046074" y="2600554"/>
            <a:ext cx="285293" cy="285293"/>
          </a:xfrm>
          <a:prstGeom prst="rect">
            <a:avLst/>
          </a:prstGeom>
        </p:spPr>
      </p:pic>
      <p:sp>
        <p:nvSpPr>
          <p:cNvPr id="8" name="Drivers circle, guessing"/>
          <p:cNvSpPr txBox="1"/>
          <p:nvPr/>
        </p:nvSpPr>
        <p:spPr>
          <a:xfrm>
            <a:off x="1691640" y="2450592"/>
            <a:ext cx="3672688" cy="685800"/>
          </a:xfrm>
          <a:prstGeom prst="rect">
            <a:avLst/>
          </a:prstGeom>
          <a:noFill/>
          <a:ln/>
        </p:spPr>
        <p:txBody>
          <a:bodyPr wrap="square" lIns="0" tIns="0" rIns="0" bIns="0" rtlCol="0" anchor="t"/>
          <a:lstStyle/>
          <a:p>
            <a:pPr indent="0" marL="0">
              <a:buNone/>
            </a:pPr>
            <a:r>
              <a:rPr lang="en-US" sz="1800" b="1" dirty="0">
                <a:solidFill>
                  <a:schemeClr val="tx1"/>
                </a:solidFill>
              </a:rPr>
              <a:t>Drivers circle, guessing</a:t>
            </a:r>
            <a:endParaRPr lang="en-US" sz="1400" dirty="0"/>
          </a:p>
          <a:p>
            <a:pPr indent="0" marL="0">
              <a:buNone/>
            </a:pPr>
            <a:r>
              <a:rPr lang="en-US" sz="1400" dirty="0">
                <a:solidFill>
                  <a:schemeClr val="tx2"/>
                </a:solidFill>
              </a:rPr>
              <a:t>No idea where a free spot is</a:t>
            </a:r>
            <a:endParaRPr lang="en-US" sz="1400" dirty="0"/>
          </a:p>
        </p:txBody>
      </p:sp>
      <p:sp>
        <p:nvSpPr>
          <p:cNvPr id="9" name="Elderly drivers get lost circle"/>
          <p:cNvSpPr/>
          <p:nvPr/>
        </p:nvSpPr>
        <p:spPr>
          <a:xfrm>
            <a:off x="914400" y="3566160"/>
            <a:ext cx="548640" cy="548640"/>
          </a:xfrm>
          <a:prstGeom prst="ellipse">
            <a:avLst/>
          </a:prstGeom>
          <a:solidFill>
            <a:schemeClr val="accent4"/>
          </a:solidFill>
          <a:ln/>
        </p:spPr>
      </p:sp>
      <p:pic>
        <p:nvPicPr>
          <p:cNvPr id="10" name="Elderly drivers get lost icon" descr="Elderly drivers get lost">    </p:cNvPr>
          <p:cNvPicPr>
            <a:picLocks noChangeAspect="1"/>
          </p:cNvPicPr>
          <p:nvPr/>
        </p:nvPicPr>
        <p:blipFill>
          <a:blip r:embed="rId2"/>
          <a:stretch>
            <a:fillRect/>
          </a:stretch>
        </p:blipFill>
        <p:spPr>
          <a:xfrm>
            <a:off x="1046074" y="3697834"/>
            <a:ext cx="285293" cy="285293"/>
          </a:xfrm>
          <a:prstGeom prst="rect">
            <a:avLst/>
          </a:prstGeom>
        </p:spPr>
      </p:pic>
      <p:sp>
        <p:nvSpPr>
          <p:cNvPr id="11" name="Elderly drivers get lost"/>
          <p:cNvSpPr txBox="1"/>
          <p:nvPr/>
        </p:nvSpPr>
        <p:spPr>
          <a:xfrm>
            <a:off x="1691640" y="3547872"/>
            <a:ext cx="3672688" cy="685800"/>
          </a:xfrm>
          <a:prstGeom prst="rect">
            <a:avLst/>
          </a:prstGeom>
          <a:noFill/>
          <a:ln/>
        </p:spPr>
        <p:txBody>
          <a:bodyPr wrap="square" lIns="0" tIns="0" rIns="0" bIns="0" rtlCol="0" anchor="t"/>
          <a:lstStyle/>
          <a:p>
            <a:pPr indent="0" marL="0">
              <a:buNone/>
            </a:pPr>
            <a:r>
              <a:rPr lang="en-US" sz="1800" b="1" dirty="0">
                <a:solidFill>
                  <a:schemeClr val="tx1"/>
                </a:solidFill>
              </a:rPr>
              <a:t>Elderly drivers get lost</a:t>
            </a:r>
            <a:endParaRPr lang="en-US" sz="1400" dirty="0"/>
          </a:p>
          <a:p>
            <a:pPr indent="0" marL="0">
              <a:buNone/>
            </a:pPr>
            <a:r>
              <a:rPr lang="en-US" sz="1400" dirty="0">
                <a:solidFill>
                  <a:schemeClr val="tx2"/>
                </a:solidFill>
              </a:rPr>
              <a:t>Big lots, small signs</a:t>
            </a:r>
            <a:endParaRPr lang="en-US" sz="1400" dirty="0"/>
          </a:p>
        </p:txBody>
      </p:sp>
      <p:sp>
        <p:nvSpPr>
          <p:cNvPr id="12" name="Operators see nothing circle"/>
          <p:cNvSpPr/>
          <p:nvPr/>
        </p:nvSpPr>
        <p:spPr>
          <a:xfrm>
            <a:off x="914400" y="4663440"/>
            <a:ext cx="548640" cy="548640"/>
          </a:xfrm>
          <a:prstGeom prst="ellipse">
            <a:avLst/>
          </a:prstGeom>
          <a:solidFill>
            <a:schemeClr val="accent4"/>
          </a:solidFill>
          <a:ln/>
        </p:spPr>
      </p:sp>
      <p:pic>
        <p:nvPicPr>
          <p:cNvPr id="13" name="Operators see nothing icon" descr="Operators see nothing">    </p:cNvPr>
          <p:cNvPicPr>
            <a:picLocks noChangeAspect="1"/>
          </p:cNvPicPr>
          <p:nvPr/>
        </p:nvPicPr>
        <p:blipFill>
          <a:blip r:embed="rId3"/>
          <a:stretch>
            <a:fillRect/>
          </a:stretch>
        </p:blipFill>
        <p:spPr>
          <a:xfrm>
            <a:off x="1046074" y="4795114"/>
            <a:ext cx="285293" cy="285293"/>
          </a:xfrm>
          <a:prstGeom prst="rect">
            <a:avLst/>
          </a:prstGeom>
        </p:spPr>
      </p:pic>
      <p:sp>
        <p:nvSpPr>
          <p:cNvPr id="14" name="Operators see nothing"/>
          <p:cNvSpPr txBox="1"/>
          <p:nvPr/>
        </p:nvSpPr>
        <p:spPr>
          <a:xfrm>
            <a:off x="1691640" y="4645152"/>
            <a:ext cx="3672688" cy="685800"/>
          </a:xfrm>
          <a:prstGeom prst="rect">
            <a:avLst/>
          </a:prstGeom>
          <a:noFill/>
          <a:ln/>
        </p:spPr>
        <p:txBody>
          <a:bodyPr wrap="square" lIns="0" tIns="0" rIns="0" bIns="0" rtlCol="0" anchor="t"/>
          <a:lstStyle/>
          <a:p>
            <a:pPr indent="0" marL="0">
              <a:buNone/>
            </a:pPr>
            <a:r>
              <a:rPr lang="en-US" sz="1800" b="1" dirty="0">
                <a:solidFill>
                  <a:schemeClr val="tx1"/>
                </a:solidFill>
              </a:rPr>
              <a:t>Operators see nothing</a:t>
            </a:r>
            <a:endParaRPr lang="en-US" sz="1400" dirty="0"/>
          </a:p>
          <a:p>
            <a:pPr indent="0" marL="0">
              <a:buNone/>
            </a:pPr>
            <a:r>
              <a:rPr lang="en-US" sz="1400" dirty="0">
                <a:solidFill>
                  <a:schemeClr val="tx2"/>
                </a:solidFill>
              </a:rPr>
              <a:t>Cameras exist, but give no data</a:t>
            </a:r>
            <a:endParaRPr lang="en-US" sz="1400" dirty="0"/>
          </a:p>
        </p:txBody>
      </p:sp>
      <p:sp>
        <p:nvSpPr>
          <p:cNvPr id="15" name="OUR SOLUTION card"/>
          <p:cNvSpPr/>
          <p:nvPr/>
        </p:nvSpPr>
        <p:spPr>
          <a:xfrm>
            <a:off x="6507328" y="1600200"/>
            <a:ext cx="5135728" cy="4434840"/>
          </a:xfrm>
          <a:prstGeom prst="roundRect">
            <a:avLst>
              <a:gd name="adj" fmla="val 2474"/>
            </a:avLst>
          </a:prstGeom>
          <a:solidFill>
            <a:schemeClr val="bg1"/>
          </a:solidFill>
          <a:ln w="12700">
            <a:solidFill>
              <a:srgbClr val="E6ECF4"/>
            </a:solidFill>
            <a:prstDash val="solid"/>
          </a:ln>
        </p:spPr>
      </p:sp>
      <p:sp>
        <p:nvSpPr>
          <p:cNvPr id="16" name="OUR SOLUTION label"/>
          <p:cNvSpPr txBox="1"/>
          <p:nvPr/>
        </p:nvSpPr>
        <p:spPr>
          <a:xfrm>
            <a:off x="6873088" y="1920240"/>
            <a:ext cx="4404208"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OUR SOLUTION</a:t>
            </a:r>
            <a:endParaRPr lang="en-US" sz="1200" dirty="0"/>
          </a:p>
        </p:txBody>
      </p:sp>
      <p:sp>
        <p:nvSpPr>
          <p:cNvPr id="17" name="One phone camera per lot circle"/>
          <p:cNvSpPr/>
          <p:nvPr/>
        </p:nvSpPr>
        <p:spPr>
          <a:xfrm>
            <a:off x="6873088" y="2468880"/>
            <a:ext cx="548640" cy="548640"/>
          </a:xfrm>
          <a:prstGeom prst="ellipse">
            <a:avLst/>
          </a:prstGeom>
          <a:solidFill>
            <a:schemeClr val="accent1"/>
          </a:solidFill>
          <a:ln/>
        </p:spPr>
      </p:sp>
      <p:pic>
        <p:nvPicPr>
          <p:cNvPr id="18" name="One phone camera per lot icon" descr="One phone camera per lot">    </p:cNvPr>
          <p:cNvPicPr>
            <a:picLocks noChangeAspect="1"/>
          </p:cNvPicPr>
          <p:nvPr/>
        </p:nvPicPr>
        <p:blipFill>
          <a:blip r:embed="rId4"/>
          <a:stretch>
            <a:fillRect/>
          </a:stretch>
        </p:blipFill>
        <p:spPr>
          <a:xfrm>
            <a:off x="7004761" y="2600554"/>
            <a:ext cx="285293" cy="285293"/>
          </a:xfrm>
          <a:prstGeom prst="rect">
            <a:avLst/>
          </a:prstGeom>
        </p:spPr>
      </p:pic>
      <p:sp>
        <p:nvSpPr>
          <p:cNvPr id="19" name="One phone camera per lot"/>
          <p:cNvSpPr txBox="1"/>
          <p:nvPr/>
        </p:nvSpPr>
        <p:spPr>
          <a:xfrm>
            <a:off x="7650328" y="2450592"/>
            <a:ext cx="3672688" cy="685800"/>
          </a:xfrm>
          <a:prstGeom prst="rect">
            <a:avLst/>
          </a:prstGeom>
          <a:noFill/>
          <a:ln/>
        </p:spPr>
        <p:txBody>
          <a:bodyPr wrap="square" lIns="0" tIns="0" rIns="0" bIns="0" rtlCol="0" anchor="t"/>
          <a:lstStyle/>
          <a:p>
            <a:pPr indent="0" marL="0">
              <a:buNone/>
            </a:pPr>
            <a:r>
              <a:rPr lang="en-US" sz="1800" b="1" dirty="0">
                <a:solidFill>
                  <a:schemeClr val="tx1"/>
                </a:solidFill>
              </a:rPr>
              <a:t>One phone camera per lot</a:t>
            </a:r>
            <a:endParaRPr lang="en-US" sz="1400" dirty="0"/>
          </a:p>
          <a:p>
            <a:pPr indent="0" marL="0">
              <a:buNone/>
            </a:pPr>
            <a:r>
              <a:rPr lang="en-US" sz="1400" dirty="0">
                <a:solidFill>
                  <a:schemeClr val="tx2"/>
                </a:solidFill>
              </a:rPr>
              <a:t>Sees every spot, no sensors</a:t>
            </a:r>
            <a:endParaRPr lang="en-US" sz="1400" dirty="0"/>
          </a:p>
        </p:txBody>
      </p:sp>
      <p:sp>
        <p:nvSpPr>
          <p:cNvPr id="20" name="Live free spots on a map circle"/>
          <p:cNvSpPr/>
          <p:nvPr/>
        </p:nvSpPr>
        <p:spPr>
          <a:xfrm>
            <a:off x="6873088" y="3310128"/>
            <a:ext cx="548640" cy="548640"/>
          </a:xfrm>
          <a:prstGeom prst="ellipse">
            <a:avLst/>
          </a:prstGeom>
          <a:solidFill>
            <a:schemeClr val="accent1"/>
          </a:solidFill>
          <a:ln/>
        </p:spPr>
      </p:sp>
      <p:pic>
        <p:nvPicPr>
          <p:cNvPr id="21" name="Live free spots on a map icon" descr="Live free spots on a map">    </p:cNvPr>
          <p:cNvPicPr>
            <a:picLocks noChangeAspect="1"/>
          </p:cNvPicPr>
          <p:nvPr/>
        </p:nvPicPr>
        <p:blipFill>
          <a:blip r:embed="rId5"/>
          <a:stretch>
            <a:fillRect/>
          </a:stretch>
        </p:blipFill>
        <p:spPr>
          <a:xfrm>
            <a:off x="7004761" y="3441802"/>
            <a:ext cx="285293" cy="285293"/>
          </a:xfrm>
          <a:prstGeom prst="rect">
            <a:avLst/>
          </a:prstGeom>
        </p:spPr>
      </p:pic>
      <p:sp>
        <p:nvSpPr>
          <p:cNvPr id="22" name="Live free spots on a map"/>
          <p:cNvSpPr txBox="1"/>
          <p:nvPr/>
        </p:nvSpPr>
        <p:spPr>
          <a:xfrm>
            <a:off x="7650328" y="3291840"/>
            <a:ext cx="3672688" cy="685800"/>
          </a:xfrm>
          <a:prstGeom prst="rect">
            <a:avLst/>
          </a:prstGeom>
          <a:noFill/>
          <a:ln/>
        </p:spPr>
        <p:txBody>
          <a:bodyPr wrap="square" lIns="0" tIns="0" rIns="0" bIns="0" rtlCol="0" anchor="t"/>
          <a:lstStyle/>
          <a:p>
            <a:pPr indent="0" marL="0">
              <a:buNone/>
            </a:pPr>
            <a:r>
              <a:rPr lang="en-US" sz="1800" b="1" dirty="0">
                <a:solidFill>
                  <a:schemeClr val="tx1"/>
                </a:solidFill>
              </a:rPr>
              <a:t>Live free spots on a map</a:t>
            </a:r>
            <a:endParaRPr lang="en-US" sz="1400" dirty="0"/>
          </a:p>
          <a:p>
            <a:pPr indent="0" marL="0">
              <a:buNone/>
            </a:pPr>
            <a:r>
              <a:rPr lang="en-US" sz="1400" dirty="0">
                <a:solidFill>
                  <a:schemeClr val="tx2"/>
                </a:solidFill>
              </a:rPr>
              <a:t>Then navigate to the entrance</a:t>
            </a:r>
            <a:endParaRPr lang="en-US" sz="1400" dirty="0"/>
          </a:p>
        </p:txBody>
      </p:sp>
      <p:sp>
        <p:nvSpPr>
          <p:cNvPr id="23" name="Book ahead or walk in circle"/>
          <p:cNvSpPr/>
          <p:nvPr/>
        </p:nvSpPr>
        <p:spPr>
          <a:xfrm>
            <a:off x="6873088" y="4151376"/>
            <a:ext cx="548640" cy="548640"/>
          </a:xfrm>
          <a:prstGeom prst="ellipse">
            <a:avLst/>
          </a:prstGeom>
          <a:solidFill>
            <a:schemeClr val="accent1"/>
          </a:solidFill>
          <a:ln/>
        </p:spPr>
      </p:sp>
      <p:pic>
        <p:nvPicPr>
          <p:cNvPr id="24" name="Book ahead or walk in icon" descr="Book ahead or walk in">    </p:cNvPr>
          <p:cNvPicPr>
            <a:picLocks noChangeAspect="1"/>
          </p:cNvPicPr>
          <p:nvPr/>
        </p:nvPicPr>
        <p:blipFill>
          <a:blip r:embed="rId6"/>
          <a:stretch>
            <a:fillRect/>
          </a:stretch>
        </p:blipFill>
        <p:spPr>
          <a:xfrm>
            <a:off x="7004761" y="4283050"/>
            <a:ext cx="285293" cy="285293"/>
          </a:xfrm>
          <a:prstGeom prst="rect">
            <a:avLst/>
          </a:prstGeom>
        </p:spPr>
      </p:pic>
      <p:sp>
        <p:nvSpPr>
          <p:cNvPr id="25" name="Book ahead or walk in"/>
          <p:cNvSpPr txBox="1"/>
          <p:nvPr/>
        </p:nvSpPr>
        <p:spPr>
          <a:xfrm>
            <a:off x="7650328" y="4133088"/>
            <a:ext cx="3672688" cy="685800"/>
          </a:xfrm>
          <a:prstGeom prst="rect">
            <a:avLst/>
          </a:prstGeom>
          <a:noFill/>
          <a:ln/>
        </p:spPr>
        <p:txBody>
          <a:bodyPr wrap="square" lIns="0" tIns="0" rIns="0" bIns="0" rtlCol="0" anchor="t"/>
          <a:lstStyle/>
          <a:p>
            <a:pPr indent="0" marL="0">
              <a:buNone/>
            </a:pPr>
            <a:r>
              <a:rPr lang="en-US" sz="1800" b="1" dirty="0">
                <a:solidFill>
                  <a:schemeClr val="tx1"/>
                </a:solidFill>
              </a:rPr>
              <a:t>Book ahead or walk in</a:t>
            </a:r>
            <a:endParaRPr lang="en-US" sz="1400" dirty="0"/>
          </a:p>
          <a:p>
            <a:pPr indent="0" marL="0">
              <a:buNone/>
            </a:pPr>
            <a:r>
              <a:rPr lang="en-US" sz="1400" dirty="0">
                <a:solidFill>
                  <a:schemeClr val="tx2"/>
                </a:solidFill>
              </a:rPr>
              <a:t>QR at the gate, pay before exit</a:t>
            </a:r>
            <a:endParaRPr lang="en-US" sz="1400" dirty="0"/>
          </a:p>
        </p:txBody>
      </p:sp>
      <p:sp>
        <p:nvSpPr>
          <p:cNvPr id="26" name="Big, simple directions circle"/>
          <p:cNvSpPr/>
          <p:nvPr/>
        </p:nvSpPr>
        <p:spPr>
          <a:xfrm>
            <a:off x="6873088" y="4992624"/>
            <a:ext cx="548640" cy="548640"/>
          </a:xfrm>
          <a:prstGeom prst="ellipse">
            <a:avLst/>
          </a:prstGeom>
          <a:solidFill>
            <a:schemeClr val="accent1"/>
          </a:solidFill>
          <a:ln/>
        </p:spPr>
      </p:sp>
      <p:pic>
        <p:nvPicPr>
          <p:cNvPr id="27" name="Big, simple directions icon" descr="Big, simple directions">    </p:cNvPr>
          <p:cNvPicPr>
            <a:picLocks noChangeAspect="1"/>
          </p:cNvPicPr>
          <p:nvPr/>
        </p:nvPicPr>
        <p:blipFill>
          <a:blip r:embed="rId7"/>
          <a:stretch>
            <a:fillRect/>
          </a:stretch>
        </p:blipFill>
        <p:spPr>
          <a:xfrm>
            <a:off x="7004761" y="5124298"/>
            <a:ext cx="285293" cy="285293"/>
          </a:xfrm>
          <a:prstGeom prst="rect">
            <a:avLst/>
          </a:prstGeom>
        </p:spPr>
      </p:pic>
      <p:sp>
        <p:nvSpPr>
          <p:cNvPr id="28" name="Big, simple directions"/>
          <p:cNvSpPr txBox="1"/>
          <p:nvPr/>
        </p:nvSpPr>
        <p:spPr>
          <a:xfrm>
            <a:off x="7650328" y="4974336"/>
            <a:ext cx="3672688" cy="685800"/>
          </a:xfrm>
          <a:prstGeom prst="rect">
            <a:avLst/>
          </a:prstGeom>
          <a:noFill/>
          <a:ln/>
        </p:spPr>
        <p:txBody>
          <a:bodyPr wrap="square" lIns="0" tIns="0" rIns="0" bIns="0" rtlCol="0" anchor="t"/>
          <a:lstStyle/>
          <a:p>
            <a:pPr indent="0" marL="0">
              <a:buNone/>
            </a:pPr>
            <a:r>
              <a:rPr lang="en-US" sz="1800" b="1" dirty="0">
                <a:solidFill>
                  <a:schemeClr val="tx1"/>
                </a:solidFill>
              </a:rPr>
              <a:t>Big, simple directions</a:t>
            </a:r>
            <a:endParaRPr lang="en-US" sz="1400" dirty="0"/>
          </a:p>
          <a:p>
            <a:pPr indent="0" marL="0">
              <a:buNone/>
            </a:pPr>
            <a:r>
              <a:rPr lang="en-US" sz="1400" dirty="0">
                <a:solidFill>
                  <a:schemeClr val="tx2"/>
                </a:solidFill>
              </a:rPr>
              <a:t>“B5: straight 25 m, then right”</a:t>
            </a:r>
            <a:endParaRPr lang="en-US" sz="1400" dirty="0"/>
          </a:p>
        </p:txBody>
      </p:sp>
      <p:sp>
        <p:nvSpPr>
          <p:cNvPr id="29" name="problem to solution arrow"/>
          <p:cNvSpPr/>
          <p:nvPr/>
        </p:nvSpPr>
        <p:spPr>
          <a:xfrm>
            <a:off x="5848960" y="3543300"/>
            <a:ext cx="493776" cy="548640"/>
          </a:xfrm>
          <a:prstGeom prst="rightArrow">
            <a:avLst/>
          </a:prstGeom>
          <a:solidFill>
            <a:schemeClr val="accent2"/>
          </a:solidFill>
          <a:ln/>
        </p:spPr>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LIVE DEMO · 2 MINUTES</a:t>
            </a:r>
            <a:endParaRPr lang="en-US" sz="1200" dirty="0"/>
          </a:p>
        </p:txBody>
      </p:sp>
      <p:sp>
        <p:nvSpPr>
          <p:cNvPr id="3" name="Text 0"/>
          <p:cNvSpPr/>
          <p:nvPr>
            <p:ph idx="101" type="title" hasCustomPrompt="1"/>
          </p:nvPr>
        </p:nvSpPr>
        <p:spPr>
          <a:xfrm>
            <a:off x="548640" y="685800"/>
            <a:ext cx="6949440" cy="731520"/>
          </a:xfrm>
          <a:prstGeom prst="rect">
            <a:avLst/>
          </a:prstGeom>
          <a:noFill/>
          <a:ln/>
        </p:spPr>
        <p:txBody>
          <a:bodyPr wrap="square" lIns="0" tIns="0" rIns="0" bIns="0" rtlCol="0" anchor="t"/>
          <a:lstStyle/>
          <a:p>
            <a:pPr algn="l" indent="0" marL="0">
              <a:buNone/>
            </a:pPr>
            <a:r>
              <a:rPr lang="en-US" sz="3200" b="1" dirty="0">
                <a:solidFill>
                  <a:schemeClr val="bg1"/>
                </a:solidFill>
              </a:rPr>
              <a:t>Try it on your own phone</a:t>
            </a:r>
            <a:endParaRPr lang="en-US" sz="3200" dirty="0"/>
          </a:p>
        </p:txBody>
      </p:sp>
      <p:sp>
        <p:nvSpPr>
          <p:cNvPr id="4" name="step 1 dot"/>
          <p:cNvSpPr/>
          <p:nvPr/>
        </p:nvSpPr>
        <p:spPr>
          <a:xfrm>
            <a:off x="548640" y="1783080"/>
            <a:ext cx="457200" cy="457200"/>
          </a:xfrm>
          <a:prstGeom prst="ellipse">
            <a:avLst/>
          </a:prstGeom>
          <a:solidFill>
            <a:schemeClr val="accent2"/>
          </a:solidFill>
          <a:ln/>
        </p:spPr>
      </p:sp>
      <p:sp>
        <p:nvSpPr>
          <p:cNvPr id="5" name="Text 3"/>
          <p:cNvSpPr txBox="1"/>
          <p:nvPr/>
        </p:nvSpPr>
        <p:spPr>
          <a:xfrm>
            <a:off x="548640" y="17830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step 1"/>
          <p:cNvSpPr txBox="1"/>
          <p:nvPr/>
        </p:nvSpPr>
        <p:spPr>
          <a:xfrm>
            <a:off x="1234440" y="1883664"/>
            <a:ext cx="6583680" cy="640080"/>
          </a:xfrm>
          <a:prstGeom prst="rect">
            <a:avLst/>
          </a:prstGeom>
          <a:noFill/>
          <a:ln/>
        </p:spPr>
        <p:txBody>
          <a:bodyPr wrap="square" lIns="0" tIns="0" rIns="0" bIns="0" rtlCol="0" anchor="t"/>
          <a:lstStyle/>
          <a:p>
            <a:pPr indent="0" marL="0">
              <a:buNone/>
            </a:pPr>
            <a:r>
              <a:rPr lang="en-US" sz="1800" b="1" dirty="0">
                <a:solidFill>
                  <a:schemeClr val="bg1"/>
                </a:solidFill>
              </a:rPr>
              <a:t>Map</a:t>
            </a:r>
            <a:pPr indent="0" marL="0">
              <a:buNone/>
            </a:pPr>
            <a:r>
              <a:rPr lang="en-US" sz="1800" dirty="0">
                <a:solidFill>
                  <a:schemeClr val="accent5"/>
                </a:solidFill>
              </a:rPr>
              <a:t> → the live lot near you → Navigate to its entrance</a:t>
            </a:r>
            <a:endParaRPr lang="en-US" sz="1800" dirty="0"/>
          </a:p>
        </p:txBody>
      </p:sp>
      <p:sp>
        <p:nvSpPr>
          <p:cNvPr id="7" name="step 2 dot"/>
          <p:cNvSpPr/>
          <p:nvPr/>
        </p:nvSpPr>
        <p:spPr>
          <a:xfrm>
            <a:off x="548640" y="2560320"/>
            <a:ext cx="457200" cy="457200"/>
          </a:xfrm>
          <a:prstGeom prst="ellipse">
            <a:avLst/>
          </a:prstGeom>
          <a:solidFill>
            <a:schemeClr val="accent2"/>
          </a:solidFill>
          <a:ln/>
        </p:spPr>
      </p:sp>
      <p:sp>
        <p:nvSpPr>
          <p:cNvPr id="8" name="Text 6"/>
          <p:cNvSpPr txBox="1"/>
          <p:nvPr/>
        </p:nvSpPr>
        <p:spPr>
          <a:xfrm>
            <a:off x="548640" y="25603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9" name="step 2"/>
          <p:cNvSpPr txBox="1"/>
          <p:nvPr/>
        </p:nvSpPr>
        <p:spPr>
          <a:xfrm>
            <a:off x="1234440" y="2660904"/>
            <a:ext cx="6583680" cy="640080"/>
          </a:xfrm>
          <a:prstGeom prst="rect">
            <a:avLst/>
          </a:prstGeom>
          <a:noFill/>
          <a:ln/>
        </p:spPr>
        <p:txBody>
          <a:bodyPr wrap="square" lIns="0" tIns="0" rIns="0" bIns="0" rtlCol="0" anchor="t"/>
          <a:lstStyle/>
          <a:p>
            <a:pPr indent="0" marL="0">
              <a:buNone/>
            </a:pPr>
            <a:r>
              <a:rPr lang="en-US" sz="1800" b="1" dirty="0">
                <a:solidFill>
                  <a:schemeClr val="bg1"/>
                </a:solidFill>
              </a:rPr>
              <a:t>Book a free spot</a:t>
            </a:r>
            <a:pPr indent="0" marL="0">
              <a:buNone/>
            </a:pPr>
            <a:r>
              <a:rPr lang="en-US" sz="1800" dirty="0">
                <a:solidFill>
                  <a:schemeClr val="accent5"/>
                </a:solidFill>
              </a:rPr>
              <a:t> → sandbox pay → QR ticket → directions</a:t>
            </a:r>
            <a:endParaRPr lang="en-US" sz="1800" dirty="0"/>
          </a:p>
        </p:txBody>
      </p:sp>
      <p:sp>
        <p:nvSpPr>
          <p:cNvPr id="10" name="step 3 dot"/>
          <p:cNvSpPr/>
          <p:nvPr/>
        </p:nvSpPr>
        <p:spPr>
          <a:xfrm>
            <a:off x="548640" y="3337560"/>
            <a:ext cx="457200" cy="457200"/>
          </a:xfrm>
          <a:prstGeom prst="ellipse">
            <a:avLst/>
          </a:prstGeom>
          <a:solidFill>
            <a:schemeClr val="accent2"/>
          </a:solidFill>
          <a:ln/>
        </p:spPr>
      </p:sp>
      <p:sp>
        <p:nvSpPr>
          <p:cNvPr id="11" name="Text 9"/>
          <p:cNvSpPr txBox="1"/>
          <p:nvPr/>
        </p:nvSpPr>
        <p:spPr>
          <a:xfrm>
            <a:off x="548640" y="333756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2" name="step 3"/>
          <p:cNvSpPr txBox="1"/>
          <p:nvPr/>
        </p:nvSpPr>
        <p:spPr>
          <a:xfrm>
            <a:off x="1234440" y="3438144"/>
            <a:ext cx="6583680" cy="640080"/>
          </a:xfrm>
          <a:prstGeom prst="rect">
            <a:avLst/>
          </a:prstGeom>
          <a:noFill/>
          <a:ln/>
        </p:spPr>
        <p:txBody>
          <a:bodyPr wrap="square" lIns="0" tIns="0" rIns="0" bIns="0" rtlCol="0" anchor="t"/>
          <a:lstStyle/>
          <a:p>
            <a:pPr indent="0" marL="0">
              <a:buNone/>
            </a:pPr>
            <a:r>
              <a:rPr lang="en-US" sz="1800" b="1" dirty="0">
                <a:solidFill>
                  <a:schemeClr val="bg1"/>
                </a:solidFill>
              </a:rPr>
              <a:t>Your photo</a:t>
            </a:r>
            <a:pPr indent="0" marL="0">
              <a:buNone/>
            </a:pPr>
            <a:r>
              <a:rPr lang="en-US" sz="1800" dirty="0">
                <a:solidFill>
                  <a:schemeClr val="accent5"/>
                </a:solidFill>
              </a:rPr>
              <a:t> of any lot → cars, rows and empty spots found</a:t>
            </a:r>
            <a:endParaRPr lang="en-US" sz="1800" dirty="0"/>
          </a:p>
        </p:txBody>
      </p:sp>
      <p:sp>
        <p:nvSpPr>
          <p:cNvPr id="13" name="step 4 dot"/>
          <p:cNvSpPr/>
          <p:nvPr/>
        </p:nvSpPr>
        <p:spPr>
          <a:xfrm>
            <a:off x="548640" y="4114800"/>
            <a:ext cx="457200" cy="457200"/>
          </a:xfrm>
          <a:prstGeom prst="ellipse">
            <a:avLst/>
          </a:prstGeom>
          <a:solidFill>
            <a:schemeClr val="accent2"/>
          </a:solidFill>
          <a:ln/>
        </p:spPr>
      </p:sp>
      <p:sp>
        <p:nvSpPr>
          <p:cNvPr id="14" name="Text 12"/>
          <p:cNvSpPr txBox="1"/>
          <p:nvPr/>
        </p:nvSpPr>
        <p:spPr>
          <a:xfrm>
            <a:off x="548640" y="41148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5" name="step 4"/>
          <p:cNvSpPr txBox="1"/>
          <p:nvPr/>
        </p:nvSpPr>
        <p:spPr>
          <a:xfrm>
            <a:off x="1234440" y="4215384"/>
            <a:ext cx="6583680" cy="640080"/>
          </a:xfrm>
          <a:prstGeom prst="rect">
            <a:avLst/>
          </a:prstGeom>
          <a:noFill/>
          <a:ln/>
        </p:spPr>
        <p:txBody>
          <a:bodyPr wrap="square" lIns="0" tIns="0" rIns="0" bIns="0" rtlCol="0" anchor="t"/>
          <a:lstStyle/>
          <a:p>
            <a:pPr indent="0" marL="0">
              <a:buNone/>
            </a:pPr>
            <a:r>
              <a:rPr lang="en-US" sz="1800" b="1" dirty="0">
                <a:solidFill>
                  <a:schemeClr val="bg1"/>
                </a:solidFill>
              </a:rPr>
              <a:t>Operator</a:t>
            </a:r>
            <a:pPr indent="0" marL="0">
              <a:buNone/>
            </a:pPr>
            <a:r>
              <a:rPr lang="en-US" sz="1800" dirty="0">
                <a:solidFill>
                  <a:schemeClr val="accent5"/>
                </a:solidFill>
              </a:rPr>
              <a:t>: phone camera, one-time spot check, pixelated view</a:t>
            </a:r>
            <a:endParaRPr lang="en-US" sz="1800" dirty="0"/>
          </a:p>
        </p:txBody>
      </p:sp>
      <p:sp>
        <p:nvSpPr>
          <p:cNvPr id="16" name="step 5 dot"/>
          <p:cNvSpPr/>
          <p:nvPr/>
        </p:nvSpPr>
        <p:spPr>
          <a:xfrm>
            <a:off x="548640" y="4892040"/>
            <a:ext cx="457200" cy="457200"/>
          </a:xfrm>
          <a:prstGeom prst="ellipse">
            <a:avLst/>
          </a:prstGeom>
          <a:solidFill>
            <a:schemeClr val="accent2"/>
          </a:solidFill>
          <a:ln/>
        </p:spPr>
      </p:sp>
      <p:sp>
        <p:nvSpPr>
          <p:cNvPr id="17" name="Text 15"/>
          <p:cNvSpPr txBox="1"/>
          <p:nvPr/>
        </p:nvSpPr>
        <p:spPr>
          <a:xfrm>
            <a:off x="548640" y="48920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18" name="step 5"/>
          <p:cNvSpPr txBox="1"/>
          <p:nvPr/>
        </p:nvSpPr>
        <p:spPr>
          <a:xfrm>
            <a:off x="1234440" y="4992624"/>
            <a:ext cx="6583680" cy="640080"/>
          </a:xfrm>
          <a:prstGeom prst="rect">
            <a:avLst/>
          </a:prstGeom>
          <a:noFill/>
          <a:ln/>
        </p:spPr>
        <p:txBody>
          <a:bodyPr wrap="square" lIns="0" tIns="0" rIns="0" bIns="0" rtlCol="0" anchor="t"/>
          <a:lstStyle/>
          <a:p>
            <a:pPr indent="0" marL="0">
              <a:buNone/>
            </a:pPr>
            <a:r>
              <a:rPr lang="en-US" sz="1800" b="1" dirty="0">
                <a:solidFill>
                  <a:schemeClr val="bg1"/>
                </a:solidFill>
              </a:rPr>
              <a:t>Spot taken by another car?</a:t>
            </a:r>
            <a:pPr indent="0" marL="0">
              <a:buNone/>
            </a:pPr>
            <a:r>
              <a:rPr lang="en-US" sz="1800" dirty="0">
                <a:solidFill>
                  <a:schemeClr val="accent5"/>
                </a:solidFill>
              </a:rPr>
              <a:t> The booking moves itself</a:t>
            </a:r>
            <a:endParaRPr lang="en-US" sz="1800" dirty="0"/>
          </a:p>
        </p:txBody>
      </p:sp>
      <p:sp>
        <p:nvSpPr>
          <p:cNvPr id="19" name="QR panel"/>
          <p:cNvSpPr/>
          <p:nvPr/>
        </p:nvSpPr>
        <p:spPr>
          <a:xfrm>
            <a:off x="8366760" y="1143000"/>
            <a:ext cx="3291840" cy="4709160"/>
          </a:xfrm>
          <a:prstGeom prst="roundRect">
            <a:avLst>
              <a:gd name="adj" fmla="val 5556"/>
            </a:avLst>
          </a:prstGeom>
          <a:solidFill>
            <a:schemeClr val="bg1">
              <a:alpha val="8000"/>
            </a:schemeClr>
          </a:solidFill>
          <a:ln/>
        </p:spPr>
      </p:sp>
      <p:pic>
        <p:nvPicPr>
          <p:cNvPr id="20" name="QR live site" descr="QR code linking to https://parkspot-5bo4.onrender.com">    </p:cNvPr>
          <p:cNvPicPr>
            <a:picLocks noChangeAspect="1"/>
          </p:cNvPicPr>
          <p:nvPr/>
        </p:nvPicPr>
        <p:blipFill>
          <a:blip r:embed="rId1"/>
          <a:stretch>
            <a:fillRect/>
          </a:stretch>
        </p:blipFill>
        <p:spPr>
          <a:xfrm>
            <a:off x="8641080" y="1417320"/>
            <a:ext cx="2743200" cy="2743200"/>
          </a:xfrm>
          <a:prstGeom prst="rect">
            <a:avLst/>
          </a:prstGeom>
        </p:spPr>
      </p:pic>
      <p:sp>
        <p:nvSpPr>
          <p:cNvPr id="21" name="Text 18"/>
          <p:cNvSpPr txBox="1"/>
          <p:nvPr/>
        </p:nvSpPr>
        <p:spPr>
          <a:xfrm>
            <a:off x="8366760" y="4343400"/>
            <a:ext cx="3291840" cy="365760"/>
          </a:xfrm>
          <a:prstGeom prst="rect">
            <a:avLst/>
          </a:prstGeom>
          <a:noFill/>
          <a:ln/>
        </p:spPr>
        <p:txBody>
          <a:bodyPr wrap="square" lIns="0" tIns="0" rIns="0" bIns="0" rtlCol="0" anchor="t"/>
          <a:lstStyle/>
          <a:p>
            <a:pPr algn="ctr" indent="0" marL="0">
              <a:buNone/>
            </a:pPr>
            <a:r>
              <a:rPr lang="en-US" sz="1600" b="1" dirty="0">
                <a:solidFill>
                  <a:schemeClr val="bg1"/>
                </a:solidFill>
              </a:rPr>
              <a:t>parkspot-5bo4.onrender.com</a:t>
            </a:r>
            <a:endParaRPr lang="en-US" sz="1600" dirty="0"/>
          </a:p>
        </p:txBody>
      </p:sp>
      <p:sp>
        <p:nvSpPr>
          <p:cNvPr id="22" name="Text 19"/>
          <p:cNvSpPr txBox="1"/>
          <p:nvPr/>
        </p:nvSpPr>
        <p:spPr>
          <a:xfrm>
            <a:off x="8595360" y="4800600"/>
            <a:ext cx="2834640" cy="731520"/>
          </a:xfrm>
          <a:prstGeom prst="rect">
            <a:avLst/>
          </a:prstGeom>
          <a:noFill/>
          <a:ln/>
        </p:spPr>
        <p:txBody>
          <a:bodyPr wrap="square" lIns="0" tIns="0" rIns="0" bIns="0" rtlCol="0" anchor="t"/>
          <a:lstStyle/>
          <a:p>
            <a:pPr algn="ctr" indent="0" marL="0">
              <a:buNone/>
            </a:pPr>
            <a:r>
              <a:rPr lang="en-US" sz="1300" dirty="0">
                <a:solidFill>
                  <a:schemeClr val="accent5"/>
                </a:solidFill>
              </a:rPr>
              <a:t>Open it a few minutes early: the free server sleeps</a:t>
            </a:r>
            <a:endParaRPr lang="en-US" sz="13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PRODUCT DEMO</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t"/>
          <a:lstStyle/>
          <a:p>
            <a:pPr algn="l" indent="0" marL="0">
              <a:buNone/>
            </a:pPr>
            <a:r>
              <a:rPr lang="en-US" sz="3200" b="1" dirty="0">
                <a:solidFill>
                  <a:schemeClr val="tx1"/>
                </a:solidFill>
              </a:rPr>
              <a:t>The app, screen by screen</a:t>
            </a:r>
            <a:endParaRPr lang="en-US" sz="3200" dirty="0"/>
          </a:p>
        </p:txBody>
      </p:sp>
      <p:sp>
        <p:nvSpPr>
          <p:cNvPr id="4" name="Nearby lots tile"/>
          <p:cNvSpPr/>
          <p:nvPr/>
        </p:nvSpPr>
        <p:spPr>
          <a:xfrm>
            <a:off x="548640" y="1600200"/>
            <a:ext cx="2036003" cy="3246120"/>
          </a:xfrm>
          <a:prstGeom prst="roundRect">
            <a:avLst>
              <a:gd name="adj" fmla="val 4491"/>
            </a:avLst>
          </a:prstGeom>
          <a:solidFill>
            <a:schemeClr val="accent6"/>
          </a:solidFill>
          <a:ln/>
        </p:spPr>
      </p:sp>
      <p:pic>
        <p:nvPicPr>
          <p:cNvPr id="5" name="Nearby lots screenshot" descr="Nearby lots screen of the ParkDet app">    </p:cNvPr>
          <p:cNvPicPr>
            <a:picLocks noChangeAspect="1"/>
          </p:cNvPicPr>
          <p:nvPr/>
        </p:nvPicPr>
        <p:blipFill>
          <a:blip r:embed="rId1"/>
          <a:stretch>
            <a:fillRect/>
          </a:stretch>
        </p:blipFill>
        <p:spPr>
          <a:xfrm>
            <a:off x="658368" y="2484971"/>
            <a:ext cx="1816547" cy="1476579"/>
          </a:xfrm>
          <a:prstGeom prst="rect">
            <a:avLst/>
          </a:prstGeom>
        </p:spPr>
      </p:pic>
      <p:sp>
        <p:nvSpPr>
          <p:cNvPr id="6" name="Nearby lots title"/>
          <p:cNvSpPr txBox="1"/>
          <p:nvPr/>
        </p:nvSpPr>
        <p:spPr>
          <a:xfrm>
            <a:off x="548640" y="4983480"/>
            <a:ext cx="2036003" cy="320040"/>
          </a:xfrm>
          <a:prstGeom prst="rect">
            <a:avLst/>
          </a:prstGeom>
          <a:noFill/>
          <a:ln/>
        </p:spPr>
        <p:txBody>
          <a:bodyPr wrap="square" lIns="0" tIns="0" rIns="0" bIns="0" rtlCol="0" anchor="t"/>
          <a:lstStyle/>
          <a:p>
            <a:pPr indent="0" marL="0">
              <a:buNone/>
            </a:pPr>
            <a:r>
              <a:rPr lang="en-US" sz="1500" b="1" dirty="0">
                <a:solidFill>
                  <a:schemeClr val="tx1"/>
                </a:solidFill>
              </a:rPr>
              <a:t>Nearby lots</a:t>
            </a:r>
            <a:endParaRPr lang="en-US" sz="1500" dirty="0"/>
          </a:p>
        </p:txBody>
      </p:sp>
      <p:sp>
        <p:nvSpPr>
          <p:cNvPr id="7" name="Nearby lots caption"/>
          <p:cNvSpPr txBox="1"/>
          <p:nvPr/>
        </p:nvSpPr>
        <p:spPr>
          <a:xfrm>
            <a:off x="548640" y="5321808"/>
            <a:ext cx="2036003" cy="777240"/>
          </a:xfrm>
          <a:prstGeom prst="rect">
            <a:avLst/>
          </a:prstGeom>
          <a:noFill/>
          <a:ln/>
        </p:spPr>
        <p:txBody>
          <a:bodyPr wrap="square" lIns="0" tIns="0" rIns="0" bIns="0" rtlCol="0" anchor="t"/>
          <a:lstStyle/>
          <a:p>
            <a:pPr indent="0" marL="0">
              <a:buNone/>
            </a:pPr>
            <a:r>
              <a:rPr lang="en-US" sz="1200" dirty="0">
                <a:solidFill>
                  <a:schemeClr val="tx2"/>
                </a:solidFill>
              </a:rPr>
              <a:t>Live free spots, distance and price; Navigate opens Google Maps or Yandex</a:t>
            </a:r>
            <a:endParaRPr lang="en-US" sz="1200" dirty="0"/>
          </a:p>
        </p:txBody>
      </p:sp>
      <p:sp>
        <p:nvSpPr>
          <p:cNvPr id="8" name="Find me a spot tile"/>
          <p:cNvSpPr/>
          <p:nvPr/>
        </p:nvSpPr>
        <p:spPr>
          <a:xfrm>
            <a:off x="2813243" y="1600200"/>
            <a:ext cx="2036003" cy="3246120"/>
          </a:xfrm>
          <a:prstGeom prst="roundRect">
            <a:avLst>
              <a:gd name="adj" fmla="val 4491"/>
            </a:avLst>
          </a:prstGeom>
          <a:solidFill>
            <a:schemeClr val="accent6"/>
          </a:solidFill>
          <a:ln/>
        </p:spPr>
      </p:sp>
      <p:pic>
        <p:nvPicPr>
          <p:cNvPr id="9" name="Find me a spot screenshot" descr="Find me a spot screen of the ParkDet app">    </p:cNvPr>
          <p:cNvPicPr>
            <a:picLocks noChangeAspect="1"/>
          </p:cNvPicPr>
          <p:nvPr/>
        </p:nvPicPr>
        <p:blipFill>
          <a:blip r:embed="rId2"/>
          <a:stretch>
            <a:fillRect/>
          </a:stretch>
        </p:blipFill>
        <p:spPr>
          <a:xfrm>
            <a:off x="3131956" y="1709928"/>
            <a:ext cx="1398577" cy="3026664"/>
          </a:xfrm>
          <a:prstGeom prst="rect">
            <a:avLst/>
          </a:prstGeom>
        </p:spPr>
      </p:pic>
      <p:sp>
        <p:nvSpPr>
          <p:cNvPr id="10" name="Find me a spot title"/>
          <p:cNvSpPr txBox="1"/>
          <p:nvPr/>
        </p:nvSpPr>
        <p:spPr>
          <a:xfrm>
            <a:off x="2813243" y="4983480"/>
            <a:ext cx="2036003" cy="320040"/>
          </a:xfrm>
          <a:prstGeom prst="rect">
            <a:avLst/>
          </a:prstGeom>
          <a:noFill/>
          <a:ln/>
        </p:spPr>
        <p:txBody>
          <a:bodyPr wrap="square" lIns="0" tIns="0" rIns="0" bIns="0" rtlCol="0" anchor="t"/>
          <a:lstStyle/>
          <a:p>
            <a:pPr indent="0" marL="0">
              <a:buNone/>
            </a:pPr>
            <a:r>
              <a:rPr lang="en-US" sz="1500" b="1" dirty="0">
                <a:solidFill>
                  <a:schemeClr val="tx1"/>
                </a:solidFill>
              </a:rPr>
              <a:t>Find me a spot</a:t>
            </a:r>
            <a:endParaRPr lang="en-US" sz="1500" dirty="0"/>
          </a:p>
        </p:txBody>
      </p:sp>
      <p:sp>
        <p:nvSpPr>
          <p:cNvPr id="11" name="Find me a spot caption"/>
          <p:cNvSpPr txBox="1"/>
          <p:nvPr/>
        </p:nvSpPr>
        <p:spPr>
          <a:xfrm>
            <a:off x="2813243" y="5321808"/>
            <a:ext cx="2036003" cy="777240"/>
          </a:xfrm>
          <a:prstGeom prst="rect">
            <a:avLst/>
          </a:prstGeom>
          <a:noFill/>
          <a:ln/>
        </p:spPr>
        <p:txBody>
          <a:bodyPr wrap="square" lIns="0" tIns="0" rIns="0" bIns="0" rtlCol="0" anchor="t"/>
          <a:lstStyle/>
          <a:p>
            <a:pPr indent="0" marL="0">
              <a:buNone/>
            </a:pPr>
            <a:r>
              <a:rPr lang="en-US" sz="1200" dirty="0">
                <a:solidFill>
                  <a:schemeClr val="tx2"/>
                </a:solidFill>
              </a:rPr>
              <a:t>One tap: the nearest free spot and directions</a:t>
            </a:r>
            <a:endParaRPr lang="en-US" sz="1200" dirty="0"/>
          </a:p>
        </p:txBody>
      </p:sp>
      <p:sp>
        <p:nvSpPr>
          <p:cNvPr id="12" name="Booking ticket tile"/>
          <p:cNvSpPr/>
          <p:nvPr/>
        </p:nvSpPr>
        <p:spPr>
          <a:xfrm>
            <a:off x="5077846" y="1600200"/>
            <a:ext cx="2036003" cy="3246120"/>
          </a:xfrm>
          <a:prstGeom prst="roundRect">
            <a:avLst>
              <a:gd name="adj" fmla="val 4491"/>
            </a:avLst>
          </a:prstGeom>
          <a:solidFill>
            <a:schemeClr val="accent6"/>
          </a:solidFill>
          <a:ln/>
        </p:spPr>
      </p:sp>
      <p:pic>
        <p:nvPicPr>
          <p:cNvPr id="13" name="Booking ticket screenshot" descr="Booking ticket screen of the ParkDet app">    </p:cNvPr>
          <p:cNvPicPr>
            <a:picLocks noChangeAspect="1"/>
          </p:cNvPicPr>
          <p:nvPr/>
        </p:nvPicPr>
        <p:blipFill>
          <a:blip r:embed="rId3"/>
          <a:stretch>
            <a:fillRect/>
          </a:stretch>
        </p:blipFill>
        <p:spPr>
          <a:xfrm>
            <a:off x="5278397" y="1709928"/>
            <a:ext cx="1634902" cy="3026664"/>
          </a:xfrm>
          <a:prstGeom prst="rect">
            <a:avLst/>
          </a:prstGeom>
        </p:spPr>
      </p:pic>
      <p:sp>
        <p:nvSpPr>
          <p:cNvPr id="14" name="Booking ticket title"/>
          <p:cNvSpPr txBox="1"/>
          <p:nvPr/>
        </p:nvSpPr>
        <p:spPr>
          <a:xfrm>
            <a:off x="5077846" y="4983480"/>
            <a:ext cx="2036003" cy="320040"/>
          </a:xfrm>
          <a:prstGeom prst="rect">
            <a:avLst/>
          </a:prstGeom>
          <a:noFill/>
          <a:ln/>
        </p:spPr>
        <p:txBody>
          <a:bodyPr wrap="square" lIns="0" tIns="0" rIns="0" bIns="0" rtlCol="0" anchor="t"/>
          <a:lstStyle/>
          <a:p>
            <a:pPr indent="0" marL="0">
              <a:buNone/>
            </a:pPr>
            <a:r>
              <a:rPr lang="en-US" sz="1500" b="1" dirty="0">
                <a:solidFill>
                  <a:schemeClr val="tx1"/>
                </a:solidFill>
              </a:rPr>
              <a:t>Booking ticket</a:t>
            </a:r>
            <a:endParaRPr lang="en-US" sz="1500" dirty="0"/>
          </a:p>
        </p:txBody>
      </p:sp>
      <p:sp>
        <p:nvSpPr>
          <p:cNvPr id="15" name="Booking ticket caption"/>
          <p:cNvSpPr txBox="1"/>
          <p:nvPr/>
        </p:nvSpPr>
        <p:spPr>
          <a:xfrm>
            <a:off x="5077846" y="5321808"/>
            <a:ext cx="2036003" cy="777240"/>
          </a:xfrm>
          <a:prstGeom prst="rect">
            <a:avLst/>
          </a:prstGeom>
          <a:noFill/>
          <a:ln/>
        </p:spPr>
        <p:txBody>
          <a:bodyPr wrap="square" lIns="0" tIns="0" rIns="0" bIns="0" rtlCol="0" anchor="t"/>
          <a:lstStyle/>
          <a:p>
            <a:pPr indent="0" marL="0">
              <a:buNone/>
            </a:pPr>
            <a:r>
              <a:rPr lang="en-US" sz="1200" dirty="0">
                <a:solidFill>
                  <a:schemeClr val="tx2"/>
                </a:solidFill>
              </a:rPr>
              <a:t>QR ticket and a countdown of the hold</a:t>
            </a:r>
            <a:endParaRPr lang="en-US" sz="1200" dirty="0"/>
          </a:p>
        </p:txBody>
      </p:sp>
      <p:sp>
        <p:nvSpPr>
          <p:cNvPr id="16" name="Walk-in tile"/>
          <p:cNvSpPr/>
          <p:nvPr/>
        </p:nvSpPr>
        <p:spPr>
          <a:xfrm>
            <a:off x="7342449" y="1600200"/>
            <a:ext cx="2036003" cy="3246120"/>
          </a:xfrm>
          <a:prstGeom prst="roundRect">
            <a:avLst>
              <a:gd name="adj" fmla="val 4491"/>
            </a:avLst>
          </a:prstGeom>
          <a:solidFill>
            <a:schemeClr val="accent6"/>
          </a:solidFill>
          <a:ln/>
        </p:spPr>
      </p:sp>
      <p:pic>
        <p:nvPicPr>
          <p:cNvPr id="17" name="Walk-in screenshot" descr="Walk-in screen of the ParkDet app">    </p:cNvPr>
          <p:cNvPicPr>
            <a:picLocks noChangeAspect="1"/>
          </p:cNvPicPr>
          <p:nvPr/>
        </p:nvPicPr>
        <p:blipFill>
          <a:blip r:embed="rId4"/>
          <a:stretch>
            <a:fillRect/>
          </a:stretch>
        </p:blipFill>
        <p:spPr>
          <a:xfrm>
            <a:off x="7567172" y="1709928"/>
            <a:ext cx="1586558" cy="3026664"/>
          </a:xfrm>
          <a:prstGeom prst="rect">
            <a:avLst/>
          </a:prstGeom>
        </p:spPr>
      </p:pic>
      <p:sp>
        <p:nvSpPr>
          <p:cNvPr id="18" name="Walk-in title"/>
          <p:cNvSpPr txBox="1"/>
          <p:nvPr/>
        </p:nvSpPr>
        <p:spPr>
          <a:xfrm>
            <a:off x="7342449" y="4983480"/>
            <a:ext cx="2036003" cy="320040"/>
          </a:xfrm>
          <a:prstGeom prst="rect">
            <a:avLst/>
          </a:prstGeom>
          <a:noFill/>
          <a:ln/>
        </p:spPr>
        <p:txBody>
          <a:bodyPr wrap="square" lIns="0" tIns="0" rIns="0" bIns="0" rtlCol="0" anchor="t"/>
          <a:lstStyle/>
          <a:p>
            <a:pPr indent="0" marL="0">
              <a:buNone/>
            </a:pPr>
            <a:r>
              <a:rPr lang="en-US" sz="1500" b="1" dirty="0">
                <a:solidFill>
                  <a:schemeClr val="tx1"/>
                </a:solidFill>
              </a:rPr>
              <a:t>Walk-in</a:t>
            </a:r>
            <a:endParaRPr lang="en-US" sz="1500" dirty="0"/>
          </a:p>
        </p:txBody>
      </p:sp>
      <p:sp>
        <p:nvSpPr>
          <p:cNvPr id="19" name="Walk-in caption"/>
          <p:cNvSpPr txBox="1"/>
          <p:nvPr/>
        </p:nvSpPr>
        <p:spPr>
          <a:xfrm>
            <a:off x="7342449" y="5321808"/>
            <a:ext cx="2036003" cy="777240"/>
          </a:xfrm>
          <a:prstGeom prst="rect">
            <a:avLst/>
          </a:prstGeom>
          <a:noFill/>
          <a:ln/>
        </p:spPr>
        <p:txBody>
          <a:bodyPr wrap="square" lIns="0" tIns="0" rIns="0" bIns="0" rtlCol="0" anchor="t"/>
          <a:lstStyle/>
          <a:p>
            <a:pPr indent="0" marL="0">
              <a:buNone/>
            </a:pPr>
            <a:r>
              <a:rPr lang="en-US" sz="1200" dirty="0">
                <a:solidFill>
                  <a:schemeClr val="tx2"/>
                </a:solidFill>
              </a:rPr>
              <a:t>Scan the gate QR, get a spot, pay before leaving</a:t>
            </a:r>
            <a:endParaRPr lang="en-US" sz="1200" dirty="0"/>
          </a:p>
        </p:txBody>
      </p:sp>
      <p:sp>
        <p:nvSpPr>
          <p:cNvPr id="20" name="Entrance screen tile"/>
          <p:cNvSpPr/>
          <p:nvPr/>
        </p:nvSpPr>
        <p:spPr>
          <a:xfrm>
            <a:off x="9607052" y="1600200"/>
            <a:ext cx="2036003" cy="3246120"/>
          </a:xfrm>
          <a:prstGeom prst="roundRect">
            <a:avLst>
              <a:gd name="adj" fmla="val 4491"/>
            </a:avLst>
          </a:prstGeom>
          <a:solidFill>
            <a:schemeClr val="accent6"/>
          </a:solidFill>
          <a:ln/>
        </p:spPr>
      </p:sp>
      <p:pic>
        <p:nvPicPr>
          <p:cNvPr id="21" name="Entrance screen screenshot" descr="Entrance screen of the ParkDet app">    </p:cNvPr>
          <p:cNvPicPr>
            <a:picLocks noChangeAspect="1"/>
          </p:cNvPicPr>
          <p:nvPr/>
        </p:nvPicPr>
        <p:blipFill>
          <a:blip r:embed="rId5"/>
          <a:stretch>
            <a:fillRect/>
          </a:stretch>
        </p:blipFill>
        <p:spPr>
          <a:xfrm>
            <a:off x="9716780" y="2712356"/>
            <a:ext cx="1816547" cy="1021808"/>
          </a:xfrm>
          <a:prstGeom prst="rect">
            <a:avLst/>
          </a:prstGeom>
        </p:spPr>
      </p:pic>
      <p:sp>
        <p:nvSpPr>
          <p:cNvPr id="22" name="Entrance screen title"/>
          <p:cNvSpPr txBox="1"/>
          <p:nvPr/>
        </p:nvSpPr>
        <p:spPr>
          <a:xfrm>
            <a:off x="9607052" y="4983480"/>
            <a:ext cx="2036003" cy="320040"/>
          </a:xfrm>
          <a:prstGeom prst="rect">
            <a:avLst/>
          </a:prstGeom>
          <a:noFill/>
          <a:ln/>
        </p:spPr>
        <p:txBody>
          <a:bodyPr wrap="square" lIns="0" tIns="0" rIns="0" bIns="0" rtlCol="0" anchor="t"/>
          <a:lstStyle/>
          <a:p>
            <a:pPr indent="0" marL="0">
              <a:buNone/>
            </a:pPr>
            <a:r>
              <a:rPr lang="en-US" sz="1500" b="1" dirty="0">
                <a:solidFill>
                  <a:schemeClr val="tx1"/>
                </a:solidFill>
              </a:rPr>
              <a:t>Entrance screen</a:t>
            </a:r>
            <a:endParaRPr lang="en-US" sz="1500" dirty="0"/>
          </a:p>
        </p:txBody>
      </p:sp>
      <p:sp>
        <p:nvSpPr>
          <p:cNvPr id="23" name="Entrance screen caption"/>
          <p:cNvSpPr txBox="1"/>
          <p:nvPr/>
        </p:nvSpPr>
        <p:spPr>
          <a:xfrm>
            <a:off x="9607052" y="5321808"/>
            <a:ext cx="2036003" cy="777240"/>
          </a:xfrm>
          <a:prstGeom prst="rect">
            <a:avLst/>
          </a:prstGeom>
          <a:noFill/>
          <a:ln/>
        </p:spPr>
        <p:txBody>
          <a:bodyPr wrap="square" lIns="0" tIns="0" rIns="0" bIns="0" rtlCol="0" anchor="t"/>
          <a:lstStyle/>
          <a:p>
            <a:pPr indent="0" marL="0">
              <a:buNone/>
            </a:pPr>
            <a:r>
              <a:rPr lang="en-US" sz="1200" dirty="0">
                <a:solidFill>
                  <a:schemeClr val="tx2"/>
                </a:solidFill>
              </a:rPr>
              <a:t>Free count and the nearest spot, big and simple</a:t>
            </a:r>
            <a:endParaRPr lang="en-US" sz="1200" dirty="0"/>
          </a:p>
        </p:txBody>
      </p:sp>
      <p:sp>
        <p:nvSpPr>
          <p:cNvPr id="24" name="screens note"/>
          <p:cNvSpPr txBox="1"/>
          <p:nvPr/>
        </p:nvSpPr>
        <p:spPr>
          <a:xfrm>
            <a:off x="4114800" y="6355080"/>
            <a:ext cx="6949440" cy="274320"/>
          </a:xfrm>
          <a:prstGeom prst="rect">
            <a:avLst/>
          </a:prstGeom>
          <a:noFill/>
          <a:ln/>
        </p:spPr>
        <p:txBody>
          <a:bodyPr wrap="square" lIns="0" tIns="0" rIns="0" bIns="0" rtlCol="0" anchor="t"/>
          <a:lstStyle/>
          <a:p>
            <a:pPr algn="r" indent="0" marL="0">
              <a:buNone/>
            </a:pPr>
            <a:r>
              <a:rPr lang="en-US" sz="1000" dirty="0">
                <a:solidFill>
                  <a:schemeClr val="tx2"/>
                </a:solidFill>
              </a:rPr>
              <a:t>Screens from test runs of the app; payment is in test mode</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TECHNOLOGY</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t"/>
          <a:lstStyle/>
          <a:p>
            <a:pPr algn="l" indent="0" marL="0">
              <a:buNone/>
            </a:pPr>
            <a:r>
              <a:rPr lang="en-US" sz="3200" b="1" dirty="0">
                <a:solidFill>
                  <a:schemeClr val="tx1"/>
                </a:solidFill>
              </a:rPr>
              <a:t>How it works — and what we measured</a:t>
            </a:r>
            <a:endParaRPr lang="en-US" sz="3200" dirty="0"/>
          </a:p>
        </p:txBody>
      </p:sp>
      <p:sp>
        <p:nvSpPr>
          <p:cNvPr id="4" name="HOW IT WORKS label"/>
          <p:cNvSpPr txBox="1"/>
          <p:nvPr/>
        </p:nvSpPr>
        <p:spPr>
          <a:xfrm>
            <a:off x="548640" y="1481328"/>
            <a:ext cx="3657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HOW IT WORKS</a:t>
            </a:r>
            <a:endParaRPr lang="en-US" sz="1200" dirty="0"/>
          </a:p>
        </p:txBody>
      </p:sp>
      <p:sp>
        <p:nvSpPr>
          <p:cNvPr id="5" name="Phone camera step"/>
          <p:cNvSpPr/>
          <p:nvPr/>
        </p:nvSpPr>
        <p:spPr>
          <a:xfrm>
            <a:off x="548640" y="1810512"/>
            <a:ext cx="2554148" cy="1371600"/>
          </a:xfrm>
          <a:prstGeom prst="roundRect">
            <a:avLst>
              <a:gd name="adj" fmla="val 8000"/>
            </a:avLst>
          </a:prstGeom>
          <a:solidFill>
            <a:schemeClr val="bg1"/>
          </a:solidFill>
          <a:ln w="12700">
            <a:solidFill>
              <a:srgbClr val="E6ECF4"/>
            </a:solidFill>
            <a:prstDash val="solid"/>
          </a:ln>
        </p:spPr>
      </p:sp>
      <p:sp>
        <p:nvSpPr>
          <p:cNvPr id="6" name="Phone camera circle"/>
          <p:cNvSpPr/>
          <p:nvPr/>
        </p:nvSpPr>
        <p:spPr>
          <a:xfrm>
            <a:off x="713232" y="1965960"/>
            <a:ext cx="438912" cy="438912"/>
          </a:xfrm>
          <a:prstGeom prst="ellipse">
            <a:avLst/>
          </a:prstGeom>
          <a:solidFill>
            <a:schemeClr val="accent1"/>
          </a:solidFill>
          <a:ln/>
        </p:spPr>
      </p:sp>
      <p:pic>
        <p:nvPicPr>
          <p:cNvPr id="7" name="Phone camera icon" descr="Phone camera">    </p:cNvPr>
          <p:cNvPicPr>
            <a:picLocks noChangeAspect="1"/>
          </p:cNvPicPr>
          <p:nvPr/>
        </p:nvPicPr>
        <p:blipFill>
          <a:blip r:embed="rId1"/>
          <a:stretch>
            <a:fillRect/>
          </a:stretch>
        </p:blipFill>
        <p:spPr>
          <a:xfrm>
            <a:off x="818571" y="2071299"/>
            <a:ext cx="228234" cy="228234"/>
          </a:xfrm>
          <a:prstGeom prst="rect">
            <a:avLst/>
          </a:prstGeom>
        </p:spPr>
      </p:pic>
      <p:sp>
        <p:nvSpPr>
          <p:cNvPr id="8" name="Phone camera text"/>
          <p:cNvSpPr txBox="1"/>
          <p:nvPr/>
        </p:nvSpPr>
        <p:spPr>
          <a:xfrm>
            <a:off x="713232" y="2496312"/>
            <a:ext cx="2279828" cy="640080"/>
          </a:xfrm>
          <a:prstGeom prst="rect">
            <a:avLst/>
          </a:prstGeom>
          <a:noFill/>
          <a:ln/>
        </p:spPr>
        <p:txBody>
          <a:bodyPr wrap="square" lIns="0" tIns="0" rIns="0" bIns="0" rtlCol="0" anchor="t"/>
          <a:lstStyle/>
          <a:p>
            <a:pPr indent="0" marL="0">
              <a:buNone/>
            </a:pPr>
            <a:r>
              <a:rPr lang="en-US" sz="1400" b="1" dirty="0">
                <a:solidFill>
                  <a:schemeClr val="tx1"/>
                </a:solidFill>
              </a:rPr>
              <a:t>Phone camera</a:t>
            </a:r>
            <a:endParaRPr lang="en-US" sz="1400" dirty="0"/>
          </a:p>
          <a:p>
            <a:pPr indent="0" marL="0">
              <a:buNone/>
            </a:pPr>
            <a:r>
              <a:rPr lang="en-US" sz="1150" dirty="0">
                <a:solidFill>
                  <a:schemeClr val="tx2"/>
                </a:solidFill>
              </a:rPr>
              <a:t>one picture every 3–10 s</a:t>
            </a:r>
            <a:endParaRPr lang="en-US" sz="1400" dirty="0"/>
          </a:p>
        </p:txBody>
      </p:sp>
      <p:sp>
        <p:nvSpPr>
          <p:cNvPr id="9" name="flow arrow 1"/>
          <p:cNvSpPr/>
          <p:nvPr/>
        </p:nvSpPr>
        <p:spPr>
          <a:xfrm>
            <a:off x="3175940" y="2377440"/>
            <a:ext cx="146304" cy="237744"/>
          </a:xfrm>
          <a:prstGeom prst="chevron">
            <a:avLst/>
          </a:prstGeom>
          <a:solidFill>
            <a:schemeClr val="accent1"/>
          </a:solidFill>
          <a:ln/>
        </p:spPr>
      </p:sp>
      <p:sp>
        <p:nvSpPr>
          <p:cNvPr id="10" name="2 detectors, CPU step"/>
          <p:cNvSpPr/>
          <p:nvPr/>
        </p:nvSpPr>
        <p:spPr>
          <a:xfrm>
            <a:off x="3395396" y="1810512"/>
            <a:ext cx="2554148" cy="1371600"/>
          </a:xfrm>
          <a:prstGeom prst="roundRect">
            <a:avLst>
              <a:gd name="adj" fmla="val 8000"/>
            </a:avLst>
          </a:prstGeom>
          <a:solidFill>
            <a:schemeClr val="bg1"/>
          </a:solidFill>
          <a:ln w="12700">
            <a:solidFill>
              <a:srgbClr val="E6ECF4"/>
            </a:solidFill>
            <a:prstDash val="solid"/>
          </a:ln>
        </p:spPr>
      </p:sp>
      <p:sp>
        <p:nvSpPr>
          <p:cNvPr id="11" name="2 detectors, CPU circle"/>
          <p:cNvSpPr/>
          <p:nvPr/>
        </p:nvSpPr>
        <p:spPr>
          <a:xfrm>
            <a:off x="3559988" y="1965960"/>
            <a:ext cx="438912" cy="438912"/>
          </a:xfrm>
          <a:prstGeom prst="ellipse">
            <a:avLst/>
          </a:prstGeom>
          <a:solidFill>
            <a:schemeClr val="accent1"/>
          </a:solidFill>
          <a:ln/>
        </p:spPr>
      </p:sp>
      <p:pic>
        <p:nvPicPr>
          <p:cNvPr id="12" name="2 detectors, CPU icon" descr="2 detectors, CPU">    </p:cNvPr>
          <p:cNvPicPr>
            <a:picLocks noChangeAspect="1"/>
          </p:cNvPicPr>
          <p:nvPr/>
        </p:nvPicPr>
        <p:blipFill>
          <a:blip r:embed="rId2"/>
          <a:stretch>
            <a:fillRect/>
          </a:stretch>
        </p:blipFill>
        <p:spPr>
          <a:xfrm>
            <a:off x="3665327" y="2071299"/>
            <a:ext cx="228234" cy="228234"/>
          </a:xfrm>
          <a:prstGeom prst="rect">
            <a:avLst/>
          </a:prstGeom>
        </p:spPr>
      </p:pic>
      <p:sp>
        <p:nvSpPr>
          <p:cNvPr id="13" name="2 detectors, CPU text"/>
          <p:cNvSpPr txBox="1"/>
          <p:nvPr/>
        </p:nvSpPr>
        <p:spPr>
          <a:xfrm>
            <a:off x="3559988" y="2496312"/>
            <a:ext cx="2279828" cy="640080"/>
          </a:xfrm>
          <a:prstGeom prst="rect">
            <a:avLst/>
          </a:prstGeom>
          <a:noFill/>
          <a:ln/>
        </p:spPr>
        <p:txBody>
          <a:bodyPr wrap="square" lIns="0" tIns="0" rIns="0" bIns="0" rtlCol="0" anchor="t"/>
          <a:lstStyle/>
          <a:p>
            <a:pPr indent="0" marL="0">
              <a:buNone/>
            </a:pPr>
            <a:r>
              <a:rPr lang="en-US" sz="1400" b="1" dirty="0">
                <a:solidFill>
                  <a:schemeClr val="tx1"/>
                </a:solidFill>
              </a:rPr>
              <a:t>2 detectors, CPU</a:t>
            </a:r>
            <a:endParaRPr lang="en-US" sz="1400" dirty="0"/>
          </a:p>
          <a:p>
            <a:pPr indent="0" marL="0">
              <a:buNone/>
            </a:pPr>
            <a:r>
              <a:rPr lang="en-US" sz="1150" dirty="0">
                <a:solidFill>
                  <a:schemeClr val="tx2"/>
                </a:solidFill>
              </a:rPr>
              <a:t>top-down + street-level YOLO11</a:t>
            </a:r>
            <a:endParaRPr lang="en-US" sz="1400" dirty="0"/>
          </a:p>
        </p:txBody>
      </p:sp>
      <p:sp>
        <p:nvSpPr>
          <p:cNvPr id="14" name="flow arrow 2"/>
          <p:cNvSpPr/>
          <p:nvPr/>
        </p:nvSpPr>
        <p:spPr>
          <a:xfrm>
            <a:off x="6022696" y="2377440"/>
            <a:ext cx="146304" cy="237744"/>
          </a:xfrm>
          <a:prstGeom prst="chevron">
            <a:avLst/>
          </a:prstGeom>
          <a:solidFill>
            <a:schemeClr val="accent1"/>
          </a:solidFill>
          <a:ln/>
        </p:spPr>
      </p:sp>
      <p:sp>
        <p:nvSpPr>
          <p:cNvPr id="15" name="Spots + occupancy step"/>
          <p:cNvSpPr/>
          <p:nvPr/>
        </p:nvSpPr>
        <p:spPr>
          <a:xfrm>
            <a:off x="6242152" y="1810512"/>
            <a:ext cx="2554148" cy="1371600"/>
          </a:xfrm>
          <a:prstGeom prst="roundRect">
            <a:avLst>
              <a:gd name="adj" fmla="val 8000"/>
            </a:avLst>
          </a:prstGeom>
          <a:solidFill>
            <a:schemeClr val="bg1"/>
          </a:solidFill>
          <a:ln w="12700">
            <a:solidFill>
              <a:srgbClr val="E6ECF4"/>
            </a:solidFill>
            <a:prstDash val="solid"/>
          </a:ln>
        </p:spPr>
      </p:sp>
      <p:sp>
        <p:nvSpPr>
          <p:cNvPr id="16" name="Spots + occupancy circle"/>
          <p:cNvSpPr/>
          <p:nvPr/>
        </p:nvSpPr>
        <p:spPr>
          <a:xfrm>
            <a:off x="6406744" y="1965960"/>
            <a:ext cx="438912" cy="438912"/>
          </a:xfrm>
          <a:prstGeom prst="ellipse">
            <a:avLst/>
          </a:prstGeom>
          <a:solidFill>
            <a:schemeClr val="accent1"/>
          </a:solidFill>
          <a:ln/>
        </p:spPr>
      </p:sp>
      <p:pic>
        <p:nvPicPr>
          <p:cNvPr id="17" name="Spots + occupancy icon" descr="Spots + occupancy">    </p:cNvPr>
          <p:cNvPicPr>
            <a:picLocks noChangeAspect="1"/>
          </p:cNvPicPr>
          <p:nvPr/>
        </p:nvPicPr>
        <p:blipFill>
          <a:blip r:embed="rId3"/>
          <a:stretch>
            <a:fillRect/>
          </a:stretch>
        </p:blipFill>
        <p:spPr>
          <a:xfrm>
            <a:off x="6512082" y="2071299"/>
            <a:ext cx="228234" cy="228234"/>
          </a:xfrm>
          <a:prstGeom prst="rect">
            <a:avLst/>
          </a:prstGeom>
        </p:spPr>
      </p:pic>
      <p:sp>
        <p:nvSpPr>
          <p:cNvPr id="18" name="Spots + occupancy text"/>
          <p:cNvSpPr txBox="1"/>
          <p:nvPr/>
        </p:nvSpPr>
        <p:spPr>
          <a:xfrm>
            <a:off x="6406744" y="2496312"/>
            <a:ext cx="2279828" cy="640080"/>
          </a:xfrm>
          <a:prstGeom prst="rect">
            <a:avLst/>
          </a:prstGeom>
          <a:noFill/>
          <a:ln/>
        </p:spPr>
        <p:txBody>
          <a:bodyPr wrap="square" lIns="0" tIns="0" rIns="0" bIns="0" rtlCol="0" anchor="t"/>
          <a:lstStyle/>
          <a:p>
            <a:pPr indent="0" marL="0">
              <a:buNone/>
            </a:pPr>
            <a:r>
              <a:rPr lang="en-US" sz="1400" b="1" dirty="0">
                <a:solidFill>
                  <a:schemeClr val="tx1"/>
                </a:solidFill>
              </a:rPr>
              <a:t>Spots + occupancy</a:t>
            </a:r>
            <a:endParaRPr lang="en-US" sz="1400" dirty="0"/>
          </a:p>
          <a:p>
            <a:pPr indent="0" marL="0">
              <a:buNone/>
            </a:pPr>
            <a:r>
              <a:rPr lang="en-US" sz="1150" dirty="0">
                <a:solidFill>
                  <a:schemeClr val="tx2"/>
                </a:solidFill>
              </a:rPr>
              <a:t>found automatically, cautious</a:t>
            </a:r>
            <a:endParaRPr lang="en-US" sz="1400" dirty="0"/>
          </a:p>
        </p:txBody>
      </p:sp>
      <p:sp>
        <p:nvSpPr>
          <p:cNvPr id="19" name="flow arrow 3"/>
          <p:cNvSpPr/>
          <p:nvPr/>
        </p:nvSpPr>
        <p:spPr>
          <a:xfrm>
            <a:off x="8869451" y="2377440"/>
            <a:ext cx="146304" cy="237744"/>
          </a:xfrm>
          <a:prstGeom prst="chevron">
            <a:avLst/>
          </a:prstGeom>
          <a:solidFill>
            <a:schemeClr val="accent1"/>
          </a:solidFill>
          <a:ln/>
        </p:spPr>
      </p:sp>
      <p:sp>
        <p:nvSpPr>
          <p:cNvPr id="20" name="Driver app step"/>
          <p:cNvSpPr/>
          <p:nvPr/>
        </p:nvSpPr>
        <p:spPr>
          <a:xfrm>
            <a:off x="9088907" y="1810512"/>
            <a:ext cx="2554148" cy="1371600"/>
          </a:xfrm>
          <a:prstGeom prst="roundRect">
            <a:avLst>
              <a:gd name="adj" fmla="val 8000"/>
            </a:avLst>
          </a:prstGeom>
          <a:solidFill>
            <a:schemeClr val="bg1"/>
          </a:solidFill>
          <a:ln w="12700">
            <a:solidFill>
              <a:srgbClr val="E6ECF4"/>
            </a:solidFill>
            <a:prstDash val="solid"/>
          </a:ln>
        </p:spPr>
      </p:sp>
      <p:sp>
        <p:nvSpPr>
          <p:cNvPr id="21" name="Driver app circle"/>
          <p:cNvSpPr/>
          <p:nvPr/>
        </p:nvSpPr>
        <p:spPr>
          <a:xfrm>
            <a:off x="9253499" y="1965960"/>
            <a:ext cx="438912" cy="438912"/>
          </a:xfrm>
          <a:prstGeom prst="ellipse">
            <a:avLst/>
          </a:prstGeom>
          <a:solidFill>
            <a:schemeClr val="accent1"/>
          </a:solidFill>
          <a:ln/>
        </p:spPr>
      </p:sp>
      <p:pic>
        <p:nvPicPr>
          <p:cNvPr id="22" name="Driver app icon" descr="Driver app">    </p:cNvPr>
          <p:cNvPicPr>
            <a:picLocks noChangeAspect="1"/>
          </p:cNvPicPr>
          <p:nvPr/>
        </p:nvPicPr>
        <p:blipFill>
          <a:blip r:embed="rId4"/>
          <a:stretch>
            <a:fillRect/>
          </a:stretch>
        </p:blipFill>
        <p:spPr>
          <a:xfrm>
            <a:off x="9358838" y="2071299"/>
            <a:ext cx="228234" cy="228234"/>
          </a:xfrm>
          <a:prstGeom prst="rect">
            <a:avLst/>
          </a:prstGeom>
        </p:spPr>
      </p:pic>
      <p:sp>
        <p:nvSpPr>
          <p:cNvPr id="23" name="Driver app text"/>
          <p:cNvSpPr txBox="1"/>
          <p:nvPr/>
        </p:nvSpPr>
        <p:spPr>
          <a:xfrm>
            <a:off x="9253499" y="2496312"/>
            <a:ext cx="2279828" cy="640080"/>
          </a:xfrm>
          <a:prstGeom prst="rect">
            <a:avLst/>
          </a:prstGeom>
          <a:noFill/>
          <a:ln/>
        </p:spPr>
        <p:txBody>
          <a:bodyPr wrap="square" lIns="0" tIns="0" rIns="0" bIns="0" rtlCol="0" anchor="t"/>
          <a:lstStyle/>
          <a:p>
            <a:pPr indent="0" marL="0">
              <a:buNone/>
            </a:pPr>
            <a:r>
              <a:rPr lang="en-US" sz="1400" b="1" dirty="0">
                <a:solidFill>
                  <a:schemeClr val="tx1"/>
                </a:solidFill>
              </a:rPr>
              <a:t>Driver app</a:t>
            </a:r>
            <a:endParaRPr lang="en-US" sz="1400" dirty="0"/>
          </a:p>
          <a:p>
            <a:pPr indent="0" marL="0">
              <a:buNone/>
            </a:pPr>
            <a:r>
              <a:rPr lang="en-US" sz="1150" dirty="0">
                <a:solidFill>
                  <a:schemeClr val="tx2"/>
                </a:solidFill>
              </a:rPr>
              <a:t>map, booking, directions — live</a:t>
            </a:r>
            <a:endParaRPr lang="en-US" sz="1400" dirty="0"/>
          </a:p>
        </p:txBody>
      </p:sp>
      <p:sp>
        <p:nvSpPr>
          <p:cNvPr id="24" name="measured card"/>
          <p:cNvSpPr/>
          <p:nvPr/>
        </p:nvSpPr>
        <p:spPr>
          <a:xfrm>
            <a:off x="548640" y="3456432"/>
            <a:ext cx="5410048" cy="2103120"/>
          </a:xfrm>
          <a:prstGeom prst="roundRect">
            <a:avLst>
              <a:gd name="adj" fmla="val 5217"/>
            </a:avLst>
          </a:prstGeom>
          <a:solidFill>
            <a:schemeClr val="bg1"/>
          </a:solidFill>
          <a:ln w="12700">
            <a:solidFill>
              <a:srgbClr val="E6ECF4"/>
            </a:solidFill>
            <a:prstDash val="solid"/>
          </a:ln>
        </p:spPr>
      </p:sp>
      <p:sp>
        <p:nvSpPr>
          <p:cNvPr id="25" name="MEASURED label"/>
          <p:cNvSpPr txBox="1"/>
          <p:nvPr/>
        </p:nvSpPr>
        <p:spPr>
          <a:xfrm>
            <a:off x="822960" y="3657600"/>
            <a:ext cx="486140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MEASURED</a:t>
            </a:r>
            <a:endParaRPr lang="en-US" sz="1200" dirty="0"/>
          </a:p>
        </p:txBody>
      </p:sp>
      <p:sp>
        <p:nvSpPr>
          <p:cNvPr id="26" name="Text 20"/>
          <p:cNvSpPr txBox="1"/>
          <p:nvPr/>
        </p:nvSpPr>
        <p:spPr>
          <a:xfrm>
            <a:off x="822960" y="4023360"/>
            <a:ext cx="1325880" cy="411480"/>
          </a:xfrm>
          <a:prstGeom prst="rect">
            <a:avLst/>
          </a:prstGeom>
          <a:noFill/>
          <a:ln/>
        </p:spPr>
        <p:txBody>
          <a:bodyPr wrap="square" lIns="0" tIns="0" rIns="0" bIns="0" rtlCol="0" anchor="ctr"/>
          <a:lstStyle/>
          <a:p>
            <a:pPr indent="0" marL="0">
              <a:buNone/>
            </a:pPr>
            <a:r>
              <a:rPr lang="en-US" sz="2100" b="1" dirty="0">
                <a:solidFill>
                  <a:schemeClr val="accent1"/>
                </a:solidFill>
              </a:rPr>
              <a:t>0.14 s</a:t>
            </a:r>
            <a:endParaRPr lang="en-US" sz="2100" dirty="0"/>
          </a:p>
        </p:txBody>
      </p:sp>
      <p:sp>
        <p:nvSpPr>
          <p:cNvPr id="27" name="Text 21"/>
          <p:cNvSpPr txBox="1"/>
          <p:nvPr/>
        </p:nvSpPr>
        <p:spPr>
          <a:xfrm>
            <a:off x="2194560" y="4023360"/>
            <a:ext cx="3535528" cy="411480"/>
          </a:xfrm>
          <a:prstGeom prst="rect">
            <a:avLst/>
          </a:prstGeom>
          <a:noFill/>
          <a:ln/>
        </p:spPr>
        <p:txBody>
          <a:bodyPr wrap="square" lIns="0" tIns="0" rIns="0" bIns="0" rtlCol="0" anchor="ctr"/>
          <a:lstStyle/>
          <a:p>
            <a:pPr indent="0" marL="0">
              <a:buNone/>
            </a:pPr>
            <a:r>
              <a:rPr lang="en-US" sz="1200" dirty="0">
                <a:solidFill>
                  <a:schemeClr val="tx2"/>
                </a:solidFill>
              </a:rPr>
              <a:t>per camera frame, 4-core CPU, no GPU</a:t>
            </a:r>
            <a:endParaRPr lang="en-US" sz="1200" dirty="0"/>
          </a:p>
        </p:txBody>
      </p:sp>
      <p:sp>
        <p:nvSpPr>
          <p:cNvPr id="28" name="Text 22"/>
          <p:cNvSpPr txBox="1"/>
          <p:nvPr/>
        </p:nvSpPr>
        <p:spPr>
          <a:xfrm>
            <a:off x="822960" y="4507992"/>
            <a:ext cx="1325880" cy="411480"/>
          </a:xfrm>
          <a:prstGeom prst="rect">
            <a:avLst/>
          </a:prstGeom>
          <a:noFill/>
          <a:ln/>
        </p:spPr>
        <p:txBody>
          <a:bodyPr wrap="square" lIns="0" tIns="0" rIns="0" bIns="0" rtlCol="0" anchor="ctr"/>
          <a:lstStyle/>
          <a:p>
            <a:pPr indent="0" marL="0">
              <a:buNone/>
            </a:pPr>
            <a:r>
              <a:rPr lang="en-US" sz="2100" b="1" dirty="0">
                <a:solidFill>
                  <a:schemeClr val="accent1"/>
                </a:solidFill>
              </a:rPr>
              <a:t>&lt; 400 MB</a:t>
            </a:r>
            <a:endParaRPr lang="en-US" sz="2100" dirty="0"/>
          </a:p>
        </p:txBody>
      </p:sp>
      <p:sp>
        <p:nvSpPr>
          <p:cNvPr id="29" name="Text 23"/>
          <p:cNvSpPr txBox="1"/>
          <p:nvPr/>
        </p:nvSpPr>
        <p:spPr>
          <a:xfrm>
            <a:off x="2194560" y="4507992"/>
            <a:ext cx="3535528" cy="411480"/>
          </a:xfrm>
          <a:prstGeom prst="rect">
            <a:avLst/>
          </a:prstGeom>
          <a:noFill/>
          <a:ln/>
        </p:spPr>
        <p:txBody>
          <a:bodyPr wrap="square" lIns="0" tIns="0" rIns="0" bIns="0" rtlCol="0" anchor="ctr"/>
          <a:lstStyle/>
          <a:p>
            <a:pPr indent="0" marL="0">
              <a:buNone/>
            </a:pPr>
            <a:r>
              <a:rPr lang="en-US" sz="1200" dirty="0">
                <a:solidFill>
                  <a:schemeClr val="tx2"/>
                </a:solidFill>
              </a:rPr>
              <a:t>server memory</a:t>
            </a:r>
            <a:endParaRPr lang="en-US" sz="1200" dirty="0"/>
          </a:p>
        </p:txBody>
      </p:sp>
      <p:sp>
        <p:nvSpPr>
          <p:cNvPr id="30" name="Text 24"/>
          <p:cNvSpPr txBox="1"/>
          <p:nvPr/>
        </p:nvSpPr>
        <p:spPr>
          <a:xfrm>
            <a:off x="822960" y="4992624"/>
            <a:ext cx="1325880" cy="411480"/>
          </a:xfrm>
          <a:prstGeom prst="rect">
            <a:avLst/>
          </a:prstGeom>
          <a:noFill/>
          <a:ln/>
        </p:spPr>
        <p:txBody>
          <a:bodyPr wrap="square" lIns="0" tIns="0" rIns="0" bIns="0" rtlCol="0" anchor="ctr"/>
          <a:lstStyle/>
          <a:p>
            <a:pPr indent="0" marL="0">
              <a:buNone/>
            </a:pPr>
            <a:r>
              <a:rPr lang="en-US" sz="2100" b="1" dirty="0">
                <a:solidFill>
                  <a:schemeClr val="accent1"/>
                </a:solidFill>
              </a:rPr>
              <a:t>~20</a:t>
            </a:r>
            <a:endParaRPr lang="en-US" sz="2100" dirty="0"/>
          </a:p>
        </p:txBody>
      </p:sp>
      <p:sp>
        <p:nvSpPr>
          <p:cNvPr id="31" name="Text 25"/>
          <p:cNvSpPr txBox="1"/>
          <p:nvPr/>
        </p:nvSpPr>
        <p:spPr>
          <a:xfrm>
            <a:off x="2194560" y="4992624"/>
            <a:ext cx="3535528" cy="411480"/>
          </a:xfrm>
          <a:prstGeom prst="rect">
            <a:avLst/>
          </a:prstGeom>
          <a:noFill/>
          <a:ln/>
        </p:spPr>
        <p:txBody>
          <a:bodyPr wrap="square" lIns="0" tIns="0" rIns="0" bIns="0" rtlCol="0" anchor="ctr"/>
          <a:lstStyle/>
          <a:p>
            <a:pPr indent="0" marL="0">
              <a:buNone/>
            </a:pPr>
            <a:r>
              <a:rPr lang="en-US" sz="1200" dirty="0">
                <a:solidFill>
                  <a:schemeClr val="tx2"/>
                </a:solidFill>
              </a:rPr>
              <a:t>cameras per small server (we plan 8)</a:t>
            </a:r>
            <a:endParaRPr lang="en-US" sz="1200" dirty="0"/>
          </a:p>
        </p:txBody>
      </p:sp>
      <p:sp>
        <p:nvSpPr>
          <p:cNvPr id="32" name="real conditions card"/>
          <p:cNvSpPr/>
          <p:nvPr/>
        </p:nvSpPr>
        <p:spPr>
          <a:xfrm>
            <a:off x="6233008" y="3456432"/>
            <a:ext cx="5410048" cy="2103120"/>
          </a:xfrm>
          <a:prstGeom prst="roundRect">
            <a:avLst>
              <a:gd name="adj" fmla="val 5217"/>
            </a:avLst>
          </a:prstGeom>
          <a:solidFill>
            <a:schemeClr val="bg1"/>
          </a:solidFill>
          <a:ln w="12700">
            <a:solidFill>
              <a:srgbClr val="E6ECF4"/>
            </a:solidFill>
            <a:prstDash val="solid"/>
          </a:ln>
        </p:spPr>
      </p:sp>
      <p:sp>
        <p:nvSpPr>
          <p:cNvPr id="33" name="REAL CONDITIONS label"/>
          <p:cNvSpPr txBox="1"/>
          <p:nvPr/>
        </p:nvSpPr>
        <p:spPr>
          <a:xfrm>
            <a:off x="6507328" y="3657600"/>
            <a:ext cx="486140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REAL CONDITIONS</a:t>
            </a:r>
            <a:endParaRPr lang="en-US" sz="1200" dirty="0"/>
          </a:p>
        </p:txBody>
      </p:sp>
      <p:sp>
        <p:nvSpPr>
          <p:cNvPr id="34" name="Offline: “no data”, no booking circle"/>
          <p:cNvSpPr/>
          <p:nvPr/>
        </p:nvSpPr>
        <p:spPr>
          <a:xfrm>
            <a:off x="6507328" y="4142232"/>
            <a:ext cx="274320" cy="274320"/>
          </a:xfrm>
          <a:prstGeom prst="ellipse">
            <a:avLst/>
          </a:prstGeom>
          <a:solidFill>
            <a:schemeClr val="accent2"/>
          </a:solidFill>
          <a:ln/>
        </p:spPr>
      </p:sp>
      <p:pic>
        <p:nvPicPr>
          <p:cNvPr id="35" name="Offline: “no data”, no booking icon" descr="Offline: “no data”, no booking">    </p:cNvPr>
          <p:cNvPicPr>
            <a:picLocks noChangeAspect="1"/>
          </p:cNvPicPr>
          <p:nvPr/>
        </p:nvPicPr>
        <p:blipFill>
          <a:blip r:embed="rId5"/>
          <a:stretch>
            <a:fillRect/>
          </a:stretch>
        </p:blipFill>
        <p:spPr>
          <a:xfrm>
            <a:off x="6573164" y="4208069"/>
            <a:ext cx="142646" cy="142646"/>
          </a:xfrm>
          <a:prstGeom prst="rect">
            <a:avLst/>
          </a:prstGeom>
        </p:spPr>
      </p:pic>
      <p:sp>
        <p:nvSpPr>
          <p:cNvPr id="36" name="Text 29"/>
          <p:cNvSpPr txBox="1"/>
          <p:nvPr/>
        </p:nvSpPr>
        <p:spPr>
          <a:xfrm>
            <a:off x="6918808" y="4114800"/>
            <a:ext cx="4495648" cy="329184"/>
          </a:xfrm>
          <a:prstGeom prst="rect">
            <a:avLst/>
          </a:prstGeom>
          <a:noFill/>
          <a:ln/>
        </p:spPr>
        <p:txBody>
          <a:bodyPr wrap="square" lIns="0" tIns="0" rIns="0" bIns="0" rtlCol="0" anchor="ctr"/>
          <a:lstStyle/>
          <a:p>
            <a:pPr indent="0" marL="0">
              <a:buNone/>
            </a:pPr>
            <a:r>
              <a:rPr lang="en-US" sz="1250" dirty="0">
                <a:solidFill>
                  <a:schemeClr val="tx2"/>
                </a:solidFill>
              </a:rPr>
              <a:t>Offline: “no data”, no booking</a:t>
            </a:r>
            <a:endParaRPr lang="en-US" sz="1250" dirty="0"/>
          </a:p>
        </p:txBody>
      </p:sp>
      <p:sp>
        <p:nvSpPr>
          <p:cNvPr id="37" name="Privacy: never saved, pixelated circle"/>
          <p:cNvSpPr/>
          <p:nvPr/>
        </p:nvSpPr>
        <p:spPr>
          <a:xfrm>
            <a:off x="6507328" y="4690872"/>
            <a:ext cx="274320" cy="274320"/>
          </a:xfrm>
          <a:prstGeom prst="ellipse">
            <a:avLst/>
          </a:prstGeom>
          <a:solidFill>
            <a:schemeClr val="accent2"/>
          </a:solidFill>
          <a:ln/>
        </p:spPr>
      </p:sp>
      <p:pic>
        <p:nvPicPr>
          <p:cNvPr id="38" name="Privacy: never saved, pixelated icon" descr="Privacy: never saved, pixelated">    </p:cNvPr>
          <p:cNvPicPr>
            <a:picLocks noChangeAspect="1"/>
          </p:cNvPicPr>
          <p:nvPr/>
        </p:nvPicPr>
        <p:blipFill>
          <a:blip r:embed="rId6"/>
          <a:stretch>
            <a:fillRect/>
          </a:stretch>
        </p:blipFill>
        <p:spPr>
          <a:xfrm>
            <a:off x="6573164" y="4756709"/>
            <a:ext cx="142646" cy="142646"/>
          </a:xfrm>
          <a:prstGeom prst="rect">
            <a:avLst/>
          </a:prstGeom>
        </p:spPr>
      </p:pic>
      <p:sp>
        <p:nvSpPr>
          <p:cNvPr id="39" name="Text 31"/>
          <p:cNvSpPr txBox="1"/>
          <p:nvPr/>
        </p:nvSpPr>
        <p:spPr>
          <a:xfrm>
            <a:off x="6918808" y="4663440"/>
            <a:ext cx="4495648" cy="329184"/>
          </a:xfrm>
          <a:prstGeom prst="rect">
            <a:avLst/>
          </a:prstGeom>
          <a:noFill/>
          <a:ln/>
        </p:spPr>
        <p:txBody>
          <a:bodyPr wrap="square" lIns="0" tIns="0" rIns="0" bIns="0" rtlCol="0" anchor="ctr"/>
          <a:lstStyle/>
          <a:p>
            <a:pPr indent="0" marL="0">
              <a:buNone/>
            </a:pPr>
            <a:r>
              <a:rPr lang="en-US" sz="1250" dirty="0">
                <a:solidFill>
                  <a:schemeClr val="tx2"/>
                </a:solidFill>
              </a:rPr>
              <a:t>Privacy: never saved, pixelated</a:t>
            </a:r>
            <a:endParaRPr lang="en-US" sz="1250" dirty="0"/>
          </a:p>
        </p:txBody>
      </p:sp>
      <p:sp>
        <p:nvSpPr>
          <p:cNvPr id="40" name="sources strip"/>
          <p:cNvSpPr/>
          <p:nvPr/>
        </p:nvSpPr>
        <p:spPr>
          <a:xfrm>
            <a:off x="548640" y="5733288"/>
            <a:ext cx="11094415" cy="457200"/>
          </a:xfrm>
          <a:prstGeom prst="roundRect">
            <a:avLst>
              <a:gd name="adj" fmla="val 16000"/>
            </a:avLst>
          </a:prstGeom>
          <a:solidFill>
            <a:schemeClr val="accent6"/>
          </a:solidFill>
          <a:ln/>
        </p:spPr>
      </p:sp>
      <p:sp>
        <p:nvSpPr>
          <p:cNvPr id="41" name="sources"/>
          <p:cNvSpPr txBox="1"/>
          <p:nvPr/>
        </p:nvSpPr>
        <p:spPr>
          <a:xfrm>
            <a:off x="777240" y="5733288"/>
            <a:ext cx="10637215" cy="457200"/>
          </a:xfrm>
          <a:prstGeom prst="rect">
            <a:avLst/>
          </a:prstGeom>
          <a:noFill/>
          <a:ln/>
        </p:spPr>
        <p:txBody>
          <a:bodyPr wrap="square" lIns="0" tIns="0" rIns="0" bIns="0" rtlCol="0" anchor="ctr"/>
          <a:lstStyle/>
          <a:p>
            <a:pPr indent="0" marL="0">
              <a:buNone/>
            </a:pPr>
            <a:r>
              <a:rPr lang="en-US" sz="1200" b="1" dirty="0">
                <a:solidFill>
                  <a:schemeClr val="tx1"/>
                </a:solidFill>
              </a:rPr>
              <a:t>Open models: </a:t>
            </a:r>
            <a:pPr indent="0" marL="0">
              <a:buNone/>
            </a:pPr>
            <a:r>
              <a:rPr lang="en-US" sz="1200" dirty="0">
                <a:solidFill>
                  <a:schemeClr val="tx2"/>
                </a:solidFill>
              </a:rPr>
              <a:t>YOLO11 (Ultralytics, AGPL-3.0), Leaflet, © OpenStreetMap.     </a:t>
            </a:r>
            <a:pPr indent="0" marL="0">
              <a:buNone/>
            </a:pPr>
            <a:r>
              <a:rPr lang="en-US" sz="1200" b="1" dirty="0">
                <a:solidFill>
                  <a:schemeClr val="tx1"/>
                </a:solidFill>
              </a:rPr>
              <a:t>Ours: </a:t>
            </a:r>
            <a:pPr indent="0" marL="0">
              <a:buNone/>
            </a:pPr>
            <a:r>
              <a:rPr lang="en-US" sz="1200" dirty="0">
                <a:solidFill>
                  <a:schemeClr val="tx2"/>
                </a:solidFill>
              </a:rPr>
              <a:t>spot discovery, occupancy rules, booking engine, apps.</a:t>
            </a:r>
            <a:endParaRPr lang="en-US" sz="1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COMPETITORS IN UZBEKISTAN</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t"/>
          <a:lstStyle/>
          <a:p>
            <a:pPr algn="l" indent="0" marL="0">
              <a:buNone/>
            </a:pPr>
            <a:r>
              <a:rPr lang="en-US" sz="3200" b="1" dirty="0">
                <a:solidFill>
                  <a:schemeClr val="tx1"/>
                </a:solidFill>
              </a:rPr>
              <a:t>Who else solves parking — and what they miss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514600"/>
                <a:gridCol w="2514600"/>
                <a:gridCol w="2743200"/>
                <a:gridCol w="3319272"/>
              </a:tblGrid>
              <a:tr h="384048">
                <a:tc>
                  <a:txBody>
                    <a:bodyPr/>
                    <a:lstStyle/>
                    <a:p>
                      <a:pPr indent="0" marL="0">
                        <a:buNone/>
                      </a:pPr>
                      <a:r>
                        <a:rPr lang="en-US" sz="1200" b="1" dirty="0">
                          <a:solidFill>
                            <a:schemeClr val="bg1"/>
                          </a:solidFill>
                          <a:latin typeface="Arial" pitchFamily="34" charset="0"/>
                          <a:ea typeface="Arial" pitchFamily="34" charset="-122"/>
                          <a:cs typeface="Arial" pitchFamily="34" charset="-120"/>
                        </a:rPr>
                        <a:t>Who</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Arial" pitchFamily="34" charset="0"/>
                          <a:ea typeface="Arial" pitchFamily="34" charset="-122"/>
                          <a:cs typeface="Arial" pitchFamily="34" charset="-120"/>
                        </a:rPr>
                        <a:t>What it does</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Arial" pitchFamily="34" charset="0"/>
                          <a:ea typeface="Arial" pitchFamily="34" charset="-122"/>
                          <a:cs typeface="Arial" pitchFamily="34" charset="-120"/>
                        </a:rPr>
                        <a:t>Strong points</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Arial" pitchFamily="34" charset="0"/>
                          <a:ea typeface="Arial" pitchFamily="34" charset="-122"/>
                          <a:cs typeface="Arial" pitchFamily="34" charset="-120"/>
                        </a:rPr>
                        <a:t>Weak points vs ParkDet</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chemeClr val="tx1"/>
                    </a:solidFill>
                  </a:tcPr>
                </a:tc>
              </a:tr>
              <a:tr h="603504">
                <a:tc>
                  <a:txBody>
                    <a:bodyPr/>
                    <a:lstStyle/>
                    <a:p>
                      <a:pPr indent="0" marL="0">
                        <a:buNone/>
                      </a:pPr>
                      <a:r>
                        <a:rPr lang="en-US" sz="1200" b="1" dirty="0">
                          <a:solidFill>
                            <a:schemeClr val="tx1"/>
                          </a:solidFill>
                          <a:latin typeface="Arial" pitchFamily="34" charset="0"/>
                          <a:ea typeface="Arial" pitchFamily="34" charset="-122"/>
                          <a:cs typeface="Arial" pitchFamily="34" charset="-120"/>
                        </a:rPr>
                        <a:t>Poytaxt Parking</a:t>
                      </a:r>
                      <a:endParaRPr lang="en-US" sz="1200" dirty="0">
                        <a:latin typeface="Arial" charset="0"/>
                        <a:ea typeface="Arial" charset="0"/>
                        <a:cs typeface="Arial" charset="0"/>
                      </a:endParaRPr>
                    </a:p>
                    <a:p>
                      <a:pPr indent="0" marL="0">
                        <a:buNone/>
                      </a:pPr>
                      <a:r>
                        <a:rPr lang="en-US" sz="1050" dirty="0">
                          <a:solidFill>
                            <a:schemeClr val="tx2"/>
                          </a:solidFill>
                          <a:latin typeface="Arial" pitchFamily="34" charset="0"/>
                          <a:ea typeface="Arial" pitchFamily="34" charset="-122"/>
                          <a:cs typeface="Arial" pitchFamily="34" charset="-120"/>
                        </a:rPr>
                        <a:t>Tashkent city app, 2025</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Arial" pitchFamily="34" charset="0"/>
                          <a:ea typeface="Arial" pitchFamily="34" charset="-122"/>
                          <a:cs typeface="Arial" pitchFamily="34" charset="-120"/>
                        </a:rPr>
                        <a:t>Pay for street parking by zone</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Arial" pitchFamily="34" charset="0"/>
                          <a:ea typeface="Arial" pitchFamily="34" charset="-122"/>
                          <a:cs typeface="Arial" pitchFamily="34" charset="-120"/>
                        </a:rPr>
                        <a:t>Official and city-wide; Payme, Click, Uzum, Paynet</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Arial" pitchFamily="34" charset="0"/>
                          <a:ea typeface="Arial" pitchFamily="34" charset="-122"/>
                          <a:cs typeface="Arial" pitchFamily="34" charset="-120"/>
                        </a:rPr>
                        <a:t>Street parking only; no booking found; app rated 2.4 / 5</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chemeClr val="bg1"/>
                    </a:solidFill>
                  </a:tcPr>
                </a:tc>
              </a:tr>
              <a:tr h="603504">
                <a:tc>
                  <a:txBody>
                    <a:bodyPr/>
                    <a:lstStyle/>
                    <a:p>
                      <a:pPr indent="0" marL="0">
                        <a:buNone/>
                      </a:pPr>
                      <a:r>
                        <a:rPr lang="en-US" sz="1200" b="1" dirty="0">
                          <a:solidFill>
                            <a:schemeClr val="tx1"/>
                          </a:solidFill>
                          <a:latin typeface="Arial" pitchFamily="34" charset="0"/>
                          <a:ea typeface="Arial" pitchFamily="34" charset="-122"/>
                          <a:cs typeface="Arial" pitchFamily="34" charset="-120"/>
                        </a:rPr>
                        <a:t>Gate systems with plate recognition</a:t>
                      </a:r>
                      <a:endParaRPr lang="en-US" sz="1200" dirty="0">
                        <a:latin typeface="Arial" charset="0"/>
                        <a:ea typeface="Arial" charset="0"/>
                        <a:cs typeface="Arial" charset="0"/>
                      </a:endParaRPr>
                    </a:p>
                    <a:p>
                      <a:pPr indent="0" marL="0">
                        <a:buNone/>
                      </a:pPr>
                      <a:r>
                        <a:rPr lang="en-US" sz="1050" dirty="0">
                          <a:solidFill>
                            <a:schemeClr val="tx2"/>
                          </a:solidFill>
                          <a:latin typeface="Arial" pitchFamily="34" charset="0"/>
                          <a:ea typeface="Arial" pitchFamily="34" charset="-122"/>
                          <a:cs typeface="Arial" pitchFamily="34" charset="-120"/>
                        </a:rPr>
                        <a:t>e.g. Tashkent airport, since 2022</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Arial" pitchFamily="34" charset="0"/>
                          <a:ea typeface="Arial" pitchFamily="34" charset="-122"/>
                          <a:cs typeface="Arial" pitchFamily="34" charset="-120"/>
                        </a:rPr>
                        <a:t>Automatic entry, exit and payment</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Arial" pitchFamily="34" charset="0"/>
                          <a:ea typeface="Arial" pitchFamily="34" charset="-122"/>
                          <a:cs typeface="Arial" pitchFamily="34" charset="-120"/>
                        </a:rPr>
                        <a:t>No paper tickets, no cashier</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Arial" pitchFamily="34" charset="0"/>
                          <a:ea typeface="Arial" pitchFamily="34" charset="-122"/>
                          <a:cs typeface="Arial" pitchFamily="34" charset="-120"/>
                        </a:rPr>
                        <a:t>Know who entered, not which spot is free; hardware at every gate</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tx1"/>
                          </a:solidFill>
                          <a:latin typeface="Arial" pitchFamily="34" charset="0"/>
                          <a:ea typeface="Arial" pitchFamily="34" charset="-122"/>
                          <a:cs typeface="Arial" pitchFamily="34" charset="-120"/>
                        </a:rPr>
                        <a:t>Yandex Maps, 2GIS</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Arial" pitchFamily="34" charset="0"/>
                          <a:ea typeface="Arial" pitchFamily="34" charset="-122"/>
                          <a:cs typeface="Arial" pitchFamily="34" charset="-120"/>
                        </a:rPr>
                        <a:t>Show lots and route drivers to them</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Arial" pitchFamily="34" charset="0"/>
                          <a:ea typeface="Arial" pitchFamily="34" charset="-122"/>
                          <a:cs typeface="Arial" pitchFamily="34" charset="-120"/>
                        </a:rPr>
                        <a:t>Already on every phone</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Arial" pitchFamily="34" charset="0"/>
                          <a:ea typeface="Arial" pitchFamily="34" charset="-122"/>
                          <a:cs typeface="Arial" pitchFamily="34" charset="-120"/>
                        </a:rPr>
                        <a:t>No live free spots or booking found — ParkDet hands navigation to them</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chemeClr val="bg1"/>
                    </a:solidFill>
                  </a:tcPr>
                </a:tc>
              </a:tr>
              <a:tr h="603504">
                <a:tc>
                  <a:txBody>
                    <a:bodyPr/>
                    <a:lstStyle/>
                    <a:p>
                      <a:pPr indent="0" marL="0">
                        <a:buNone/>
                      </a:pPr>
                      <a:r>
                        <a:rPr lang="en-US" sz="1200" b="1" dirty="0">
                          <a:solidFill>
                            <a:schemeClr val="tx1"/>
                          </a:solidFill>
                          <a:latin typeface="Arial" pitchFamily="34" charset="0"/>
                          <a:ea typeface="Arial" pitchFamily="34" charset="-122"/>
                          <a:cs typeface="Arial" pitchFamily="34" charset="-120"/>
                        </a:rPr>
                        <a:t>City traffic centre pilot</a:t>
                      </a:r>
                      <a:endParaRPr lang="en-US" sz="1200" dirty="0">
                        <a:latin typeface="Arial" charset="0"/>
                        <a:ea typeface="Arial" charset="0"/>
                        <a:cs typeface="Arial" charset="0"/>
                      </a:endParaRPr>
                    </a:p>
                    <a:p>
                      <a:pPr indent="0" marL="0">
                        <a:buNone/>
                      </a:pPr>
                      <a:r>
                        <a:rPr lang="en-US" sz="1050" dirty="0">
                          <a:solidFill>
                            <a:schemeClr val="tx2"/>
                          </a:solidFill>
                          <a:latin typeface="Arial" pitchFamily="34" charset="0"/>
                          <a:ea typeface="Arial" pitchFamily="34" charset="-122"/>
                          <a:cs typeface="Arial" pitchFamily="34" charset="-120"/>
                        </a:rPr>
                        <a:t>Tashkent, April 2026</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Arial" pitchFamily="34" charset="0"/>
                          <a:ea typeface="Arial" pitchFamily="34" charset="-122"/>
                          <a:cs typeface="Arial" pitchFamily="34" charset="-120"/>
                        </a:rPr>
                        <a:t>Joins private lots into one city system</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Arial" pitchFamily="34" charset="0"/>
                          <a:ea typeface="Arial" pitchFamily="34" charset="-122"/>
                          <a:cs typeface="Arial" pitchFamily="34" charset="-120"/>
                        </a:rPr>
                        <a:t>City backing</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Arial" pitchFamily="34" charset="0"/>
                          <a:ea typeface="Arial" pitchFamily="34" charset="-122"/>
                          <a:cs typeface="Arial" pitchFamily="34" charset="-120"/>
                        </a:rPr>
                        <a:t>Pilot; no driver app announced — a possible partner</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chemeClr val="bg1"/>
                    </a:solidFill>
                  </a:tcPr>
                </a:tc>
              </a:tr>
              <a:tr h="603504">
                <a:tc>
                  <a:txBody>
                    <a:bodyPr/>
                    <a:lstStyle/>
                    <a:p>
                      <a:pPr indent="0" marL="0">
                        <a:buNone/>
                      </a:pPr>
                      <a:r>
                        <a:rPr lang="en-US" sz="1200" b="1" dirty="0">
                          <a:solidFill>
                            <a:schemeClr val="tx1"/>
                          </a:solidFill>
                          <a:latin typeface="Arial" pitchFamily="34" charset="0"/>
                          <a:ea typeface="Arial" pitchFamily="34" charset="-122"/>
                          <a:cs typeface="Arial" pitchFamily="34" charset="-120"/>
                        </a:rPr>
                        <a:t>Per-spot sensors</a:t>
                      </a:r>
                      <a:endParaRPr lang="en-US" sz="1200" dirty="0">
                        <a:latin typeface="Arial" charset="0"/>
                        <a:ea typeface="Arial" charset="0"/>
                        <a:cs typeface="Arial" charset="0"/>
                      </a:endParaRPr>
                    </a:p>
                    <a:p>
                      <a:pPr indent="0" marL="0">
                        <a:buNone/>
                      </a:pPr>
                      <a:r>
                        <a:rPr lang="en-US" sz="1050" dirty="0">
                          <a:solidFill>
                            <a:schemeClr val="tx2"/>
                          </a:solidFill>
                          <a:latin typeface="Arial" pitchFamily="34" charset="0"/>
                          <a:ea typeface="Arial" pitchFamily="34" charset="-122"/>
                          <a:cs typeface="Arial" pitchFamily="34" charset="-120"/>
                        </a:rPr>
                        <a:t>e.g. Hikvision parking guidance</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Arial" pitchFamily="34" charset="0"/>
                          <a:ea typeface="Arial" pitchFamily="34" charset="-122"/>
                          <a:cs typeface="Arial" pitchFamily="34" charset="-120"/>
                        </a:rPr>
                        <a:t>A sensor or camera over every spot</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Arial" pitchFamily="34" charset="0"/>
                          <a:ea typeface="Arial" pitchFamily="34" charset="-122"/>
                          <a:cs typeface="Arial" pitchFamily="34" charset="-120"/>
                        </a:rPr>
                        <a:t>Very accurate per spot</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chemeClr val="bg1"/>
                    </a:solidFill>
                  </a:tcPr>
                </a:tc>
                <a:tc>
                  <a:txBody>
                    <a:bodyPr/>
                    <a:lstStyle/>
                    <a:p>
                      <a:pPr indent="0" marL="0">
                        <a:buNone/>
                      </a:pPr>
                      <a:r>
                        <a:rPr lang="en-US" sz="1200" dirty="0">
                          <a:solidFill>
                            <a:schemeClr val="tx2"/>
                          </a:solidFill>
                          <a:latin typeface="Arial" pitchFamily="34" charset="0"/>
                          <a:ea typeface="Arial" pitchFamily="34" charset="-122"/>
                          <a:cs typeface="Arial" pitchFamily="34" charset="-120"/>
                        </a:rPr>
                        <a:t>One device per spot = costly install; none found in Uzbekistan</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chemeClr val="bg1"/>
                    </a:solidFill>
                  </a:tcPr>
                </a:tc>
              </a:tr>
              <a:tr h="603504">
                <a:tc>
                  <a:txBody>
                    <a:bodyPr/>
                    <a:lstStyle/>
                    <a:p>
                      <a:pPr indent="0" marL="0">
                        <a:buNone/>
                      </a:pPr>
                      <a:r>
                        <a:rPr lang="en-US" sz="1200" b="1" dirty="0">
                          <a:solidFill>
                            <a:schemeClr val="accent1"/>
                          </a:solidFill>
                          <a:latin typeface="Arial" pitchFamily="34" charset="0"/>
                          <a:ea typeface="Arial" pitchFamily="34" charset="-122"/>
                          <a:cs typeface="Arial" pitchFamily="34" charset="-120"/>
                        </a:rPr>
                        <a:t>ParkDet</a:t>
                      </a:r>
                      <a:endParaRPr lang="en-US" sz="1200" dirty="0">
                        <a:latin typeface="Arial" charset="0"/>
                        <a:ea typeface="Arial" charset="0"/>
                        <a:cs typeface="Arial" charset="0"/>
                      </a:endParaRPr>
                    </a:p>
                    <a:p>
                      <a:pPr indent="0" marL="0">
                        <a:buNone/>
                      </a:pPr>
                      <a:r>
                        <a:rPr lang="en-US" sz="1050" dirty="0">
                          <a:solidFill>
                            <a:schemeClr val="tx2"/>
                          </a:solidFill>
                          <a:latin typeface="Arial" pitchFamily="34" charset="0"/>
                          <a:ea typeface="Arial" pitchFamily="34" charset="-122"/>
                          <a:cs typeface="Arial" pitchFamily="34" charset="-120"/>
                        </a:rPr>
                        <a:t>us</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rgbClr val="E6ECF4"/>
                    </a:solidFill>
                  </a:tcPr>
                </a:tc>
                <a:tc>
                  <a:txBody>
                    <a:bodyPr/>
                    <a:lstStyle/>
                    <a:p>
                      <a:pPr indent="0" marL="0">
                        <a:buNone/>
                      </a:pPr>
                      <a:r>
                        <a:rPr lang="en-US" sz="1200" dirty="0">
                          <a:solidFill>
                            <a:schemeClr val="tx2"/>
                          </a:solidFill>
                          <a:latin typeface="Arial" pitchFamily="34" charset="0"/>
                          <a:ea typeface="Arial" pitchFamily="34" charset="-122"/>
                          <a:cs typeface="Arial" pitchFamily="34" charset="-120"/>
                        </a:rPr>
                        <a:t>One phone camera per lot: live map, booking, walk-in, directions</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rgbClr val="E6ECF4"/>
                    </a:solidFill>
                  </a:tcPr>
                </a:tc>
                <a:tc>
                  <a:txBody>
                    <a:bodyPr/>
                    <a:lstStyle/>
                    <a:p>
                      <a:pPr indent="0" marL="0">
                        <a:buNone/>
                      </a:pPr>
                      <a:r>
                        <a:rPr lang="en-US" sz="1200" dirty="0">
                          <a:solidFill>
                            <a:schemeClr val="tx2"/>
                          </a:solidFill>
                          <a:latin typeface="Arial" pitchFamily="34" charset="0"/>
                          <a:ea typeface="Arial" pitchFamily="34" charset="-122"/>
                          <a:cs typeface="Arial" pitchFamily="34" charset="-120"/>
                        </a:rPr>
                        <a:t>No per-spot hardware; works with a phone or an existing camera</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rgbClr val="E6ECF4"/>
                    </a:solidFill>
                  </a:tcPr>
                </a:tc>
                <a:tc>
                  <a:txBody>
                    <a:bodyPr/>
                    <a:lstStyle/>
                    <a:p>
                      <a:pPr indent="0" marL="0">
                        <a:buNone/>
                      </a:pPr>
                      <a:r>
                        <a:rPr lang="en-US" sz="1200" dirty="0">
                          <a:solidFill>
                            <a:schemeClr val="tx2"/>
                          </a:solidFill>
                          <a:latin typeface="Arial" pitchFamily="34" charset="0"/>
                          <a:ea typeface="Arial" pitchFamily="34" charset="-122"/>
                          <a:cs typeface="Arial" pitchFamily="34" charset="-120"/>
                        </a:rPr>
                        <a:t>Prototype: accuracy on Tashkent photos still to measure</a:t>
                      </a:r>
                      <a:endParaRPr lang="en-US" sz="1200" dirty="0">
                        <a:latin typeface="Arial" charset="0"/>
                        <a:ea typeface="Arial" charset="0"/>
                        <a:cs typeface="Arial" charset="0"/>
                      </a:endParaRPr>
                    </a:p>
                  </a:txBody>
                  <a:tcPr marL="91440" marR="91440" marT="45720" marB="45720" anchor="ctr">
                    <a:lnL w="9525" cap="flat" cmpd="sng" algn="ctr">
                      <a:solidFill>
                        <a:srgbClr val="E6ECF4"/>
                      </a:solidFill>
                      <a:prstDash val="solid"/>
                      <a:round/>
                      <a:headEnd type="none" w="med" len="med"/>
                      <a:tailEnd type="none" w="med" len="med"/>
                    </a:lnL>
                    <a:lnR w="9525" cap="flat" cmpd="sng" algn="ctr">
                      <a:solidFill>
                        <a:srgbClr val="E6ECF4"/>
                      </a:solidFill>
                      <a:prstDash val="solid"/>
                      <a:round/>
                      <a:headEnd type="none" w="med" len="med"/>
                      <a:tailEnd type="none" w="med" len="med"/>
                    </a:lnR>
                    <a:lnT w="9525" cap="flat" cmpd="sng" algn="ctr">
                      <a:solidFill>
                        <a:srgbClr val="E6ECF4"/>
                      </a:solidFill>
                      <a:prstDash val="solid"/>
                      <a:round/>
                      <a:headEnd type="none" w="med" len="med"/>
                      <a:tailEnd type="none" w="med" len="med"/>
                    </a:lnT>
                    <a:lnB w="9525" cap="flat" cmpd="sng" algn="ctr">
                      <a:solidFill>
                        <a:srgbClr val="E6ECF4"/>
                      </a:solidFill>
                      <a:prstDash val="solid"/>
                      <a:round/>
                      <a:headEnd type="none" w="med" len="med"/>
                      <a:tailEnd type="none" w="med" len="med"/>
                    </a:lnB>
                    <a:solidFill>
                      <a:srgbClr val="E6ECF4"/>
                    </a:solidFill>
                  </a:tcPr>
                </a:tc>
              </a:tr>
            </a:tbl>
          </a:graphicData>
        </a:graphic>
      </p:graphicFrame>
      <p:sp>
        <p:nvSpPr>
          <p:cNvPr id="5" name="market signal tile"/>
          <p:cNvSpPr/>
          <p:nvPr/>
        </p:nvSpPr>
        <p:spPr>
          <a:xfrm>
            <a:off x="548640" y="5760720"/>
            <a:ext cx="11094415" cy="438912"/>
          </a:xfrm>
          <a:prstGeom prst="roundRect">
            <a:avLst>
              <a:gd name="adj" fmla="val 16667"/>
            </a:avLst>
          </a:prstGeom>
          <a:solidFill>
            <a:schemeClr val="accent6"/>
          </a:solidFill>
          <a:ln/>
        </p:spPr>
      </p:sp>
      <p:sp>
        <p:nvSpPr>
          <p:cNvPr id="6" name="market signal"/>
          <p:cNvSpPr txBox="1"/>
          <p:nvPr/>
        </p:nvSpPr>
        <p:spPr>
          <a:xfrm>
            <a:off x="777240" y="5760720"/>
            <a:ext cx="10637215" cy="438912"/>
          </a:xfrm>
          <a:prstGeom prst="rect">
            <a:avLst/>
          </a:prstGeom>
          <a:noFill/>
          <a:ln/>
        </p:spPr>
        <p:txBody>
          <a:bodyPr wrap="square" lIns="0" tIns="0" rIns="0" bIns="0" rtlCol="0" anchor="ctr"/>
          <a:lstStyle/>
          <a:p>
            <a:pPr indent="0" marL="0">
              <a:buNone/>
            </a:pPr>
            <a:r>
              <a:rPr lang="en-US" sz="1250" b="1" dirty="0">
                <a:solidFill>
                  <a:schemeClr val="tx1"/>
                </a:solidFill>
              </a:rPr>
              <a:t>Market signal: </a:t>
            </a:r>
            <a:pPr indent="0" marL="0">
              <a:buNone/>
            </a:pPr>
            <a:r>
              <a:rPr lang="en-US" sz="1250" dirty="0">
                <a:solidFill>
                  <a:schemeClr val="tx2"/>
                </a:solidFill>
              </a:rPr>
              <a:t>Tashkent airport's parking tender (May 2026) asks the operator for online booking and free-space boards.</a:t>
            </a:r>
            <a:endParaRPr lang="en-US" sz="1250" dirty="0"/>
          </a:p>
        </p:txBody>
      </p:sp>
      <p:sp>
        <p:nvSpPr>
          <p:cNvPr id="7" name="sources note"/>
          <p:cNvSpPr txBox="1"/>
          <p:nvPr/>
        </p:nvSpPr>
        <p:spPr>
          <a:xfrm>
            <a:off x="4114800" y="6355080"/>
            <a:ext cx="6949440" cy="274320"/>
          </a:xfrm>
          <a:prstGeom prst="rect">
            <a:avLst/>
          </a:prstGeom>
          <a:noFill/>
          <a:ln/>
        </p:spPr>
        <p:txBody>
          <a:bodyPr wrap="square" lIns="0" tIns="0" rIns="0" bIns="0" rtlCol="0" anchor="t"/>
          <a:lstStyle/>
          <a:p>
            <a:pPr algn="r" indent="0" marL="0">
              <a:buNone/>
            </a:pPr>
            <a:r>
              <a:rPr lang="en-US" sz="1000" dirty="0">
                <a:solidFill>
                  <a:schemeClr val="tx2"/>
                </a:solidFill>
              </a:rPr>
              <a:t>Sources for every row: speaker notes</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BUSINESS MODEL AND PILOT</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t"/>
          <a:lstStyle/>
          <a:p>
            <a:pPr algn="l" indent="0" marL="0">
              <a:buNone/>
            </a:pPr>
            <a:r>
              <a:rPr lang="en-US" sz="3200" b="1" dirty="0">
                <a:solidFill>
                  <a:schemeClr val="tx1"/>
                </a:solidFill>
              </a:rPr>
              <a:t>Drivers pay per hour, split 50/50 with the lot</a:t>
            </a:r>
            <a:endParaRPr lang="en-US" sz="3200" dirty="0"/>
          </a:p>
        </p:txBody>
      </p:sp>
      <p:sp>
        <p:nvSpPr>
          <p:cNvPr id="4" name="HOW WE EARN label"/>
          <p:cNvSpPr txBox="1"/>
          <p:nvPr/>
        </p:nvSpPr>
        <p:spPr>
          <a:xfrm>
            <a:off x="548640" y="1481328"/>
            <a:ext cx="56235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HOW WE EARN</a:t>
            </a:r>
            <a:endParaRPr lang="en-US" sz="1200" dirty="0"/>
          </a:p>
        </p:txBody>
      </p:sp>
      <p:sp>
        <p:nvSpPr>
          <p:cNvPr id="5" name="Customers:  circle"/>
          <p:cNvSpPr/>
          <p:nvPr/>
        </p:nvSpPr>
        <p:spPr>
          <a:xfrm>
            <a:off x="548640" y="1828800"/>
            <a:ext cx="475488" cy="475488"/>
          </a:xfrm>
          <a:prstGeom prst="ellipse">
            <a:avLst/>
          </a:prstGeom>
          <a:solidFill>
            <a:schemeClr val="accent1"/>
          </a:solidFill>
          <a:ln/>
        </p:spPr>
      </p:sp>
      <p:pic>
        <p:nvPicPr>
          <p:cNvPr id="6" name="Customers:  icon" descr="Customers: ">    </p:cNvPr>
          <p:cNvPicPr>
            <a:picLocks noChangeAspect="1"/>
          </p:cNvPicPr>
          <p:nvPr/>
        </p:nvPicPr>
        <p:blipFill>
          <a:blip r:embed="rId1"/>
          <a:stretch>
            <a:fillRect/>
          </a:stretch>
        </p:blipFill>
        <p:spPr>
          <a:xfrm>
            <a:off x="662757" y="1942917"/>
            <a:ext cx="247254" cy="247254"/>
          </a:xfrm>
          <a:prstGeom prst="rect">
            <a:avLst/>
          </a:prstGeom>
        </p:spPr>
      </p:pic>
      <p:sp>
        <p:nvSpPr>
          <p:cNvPr id="7" name="Customers: "/>
          <p:cNvSpPr txBox="1"/>
          <p:nvPr/>
        </p:nvSpPr>
        <p:spPr>
          <a:xfrm>
            <a:off x="1234440" y="1801368"/>
            <a:ext cx="4937760" cy="658368"/>
          </a:xfrm>
          <a:prstGeom prst="rect">
            <a:avLst/>
          </a:prstGeom>
          <a:noFill/>
          <a:ln/>
        </p:spPr>
        <p:txBody>
          <a:bodyPr wrap="square" lIns="0" tIns="0" rIns="0" bIns="0" rtlCol="0" anchor="ctr"/>
          <a:lstStyle/>
          <a:p>
            <a:pPr indent="0" marL="0">
              <a:buNone/>
            </a:pPr>
            <a:r>
              <a:rPr lang="en-US" sz="1450" b="1" dirty="0">
                <a:solidFill>
                  <a:schemeClr val="tx1"/>
                </a:solidFill>
              </a:rPr>
              <a:t>Customers: </a:t>
            </a:r>
            <a:pPr indent="0" marL="0">
              <a:buNone/>
            </a:pPr>
            <a:r>
              <a:rPr lang="en-US" sz="1450" dirty="0">
                <a:solidFill>
                  <a:schemeClr val="tx2"/>
                </a:solidFill>
              </a:rPr>
              <a:t>malls, business centres, universities, dealerships, paid city lots</a:t>
            </a:r>
            <a:endParaRPr lang="en-US" sz="1450" dirty="0"/>
          </a:p>
        </p:txBody>
      </p:sp>
      <p:sp>
        <p:nvSpPr>
          <p:cNvPr id="8" name="Revenue:  circle"/>
          <p:cNvSpPr/>
          <p:nvPr/>
        </p:nvSpPr>
        <p:spPr>
          <a:xfrm>
            <a:off x="548640" y="2578608"/>
            <a:ext cx="475488" cy="475488"/>
          </a:xfrm>
          <a:prstGeom prst="ellipse">
            <a:avLst/>
          </a:prstGeom>
          <a:solidFill>
            <a:schemeClr val="accent1"/>
          </a:solidFill>
          <a:ln/>
        </p:spPr>
      </p:sp>
      <p:pic>
        <p:nvPicPr>
          <p:cNvPr id="9" name="Revenue:  icon" descr="Revenue: ">    </p:cNvPr>
          <p:cNvPicPr>
            <a:picLocks noChangeAspect="1"/>
          </p:cNvPicPr>
          <p:nvPr/>
        </p:nvPicPr>
        <p:blipFill>
          <a:blip r:embed="rId2"/>
          <a:stretch>
            <a:fillRect/>
          </a:stretch>
        </p:blipFill>
        <p:spPr>
          <a:xfrm>
            <a:off x="662757" y="2692725"/>
            <a:ext cx="247254" cy="247254"/>
          </a:xfrm>
          <a:prstGeom prst="rect">
            <a:avLst/>
          </a:prstGeom>
        </p:spPr>
      </p:pic>
      <p:sp>
        <p:nvSpPr>
          <p:cNvPr id="10" name="Revenue: "/>
          <p:cNvSpPr txBox="1"/>
          <p:nvPr/>
        </p:nvSpPr>
        <p:spPr>
          <a:xfrm>
            <a:off x="1234440" y="2551176"/>
            <a:ext cx="4937760" cy="658368"/>
          </a:xfrm>
          <a:prstGeom prst="rect">
            <a:avLst/>
          </a:prstGeom>
          <a:noFill/>
          <a:ln/>
        </p:spPr>
        <p:txBody>
          <a:bodyPr wrap="square" lIns="0" tIns="0" rIns="0" bIns="0" rtlCol="0" anchor="ctr"/>
          <a:lstStyle/>
          <a:p>
            <a:pPr indent="0" marL="0">
              <a:buNone/>
            </a:pPr>
            <a:r>
              <a:rPr lang="en-US" sz="1450" b="1" dirty="0">
                <a:solidFill>
                  <a:schemeClr val="tx1"/>
                </a:solidFill>
              </a:rPr>
              <a:t>Revenue: </a:t>
            </a:r>
            <a:pPr indent="0" marL="0">
              <a:buNone/>
            </a:pPr>
            <a:r>
              <a:rPr lang="en-US" sz="1450" dirty="0">
                <a:solidFill>
                  <a:schemeClr val="tx2"/>
                </a:solidFill>
              </a:rPr>
              <a:t>drivers pay 5 000 so'm for the first hour and 2 000 so'm for each extra hour; 50% goes to the parking lot, 50% is our income</a:t>
            </a:r>
            <a:endParaRPr lang="en-US" sz="1450" dirty="0"/>
          </a:p>
        </p:txBody>
      </p:sp>
      <p:sp>
        <p:nvSpPr>
          <p:cNvPr id="11" name="Operator gains:  circle"/>
          <p:cNvSpPr/>
          <p:nvPr/>
        </p:nvSpPr>
        <p:spPr>
          <a:xfrm>
            <a:off x="548640" y="3328416"/>
            <a:ext cx="475488" cy="475488"/>
          </a:xfrm>
          <a:prstGeom prst="ellipse">
            <a:avLst/>
          </a:prstGeom>
          <a:solidFill>
            <a:schemeClr val="accent1"/>
          </a:solidFill>
          <a:ln/>
        </p:spPr>
      </p:sp>
      <p:pic>
        <p:nvPicPr>
          <p:cNvPr id="12" name="Operator gains:  icon" descr="Operator gains: ">    </p:cNvPr>
          <p:cNvPicPr>
            <a:picLocks noChangeAspect="1"/>
          </p:cNvPicPr>
          <p:nvPr/>
        </p:nvPicPr>
        <p:blipFill>
          <a:blip r:embed="rId3"/>
          <a:stretch>
            <a:fillRect/>
          </a:stretch>
        </p:blipFill>
        <p:spPr>
          <a:xfrm>
            <a:off x="662757" y="3442533"/>
            <a:ext cx="247254" cy="247254"/>
          </a:xfrm>
          <a:prstGeom prst="rect">
            <a:avLst/>
          </a:prstGeom>
        </p:spPr>
      </p:pic>
      <p:sp>
        <p:nvSpPr>
          <p:cNvPr id="13" name="Operator gains: "/>
          <p:cNvSpPr txBox="1"/>
          <p:nvPr/>
        </p:nvSpPr>
        <p:spPr>
          <a:xfrm>
            <a:off x="1234440" y="3300984"/>
            <a:ext cx="4937760" cy="658368"/>
          </a:xfrm>
          <a:prstGeom prst="rect">
            <a:avLst/>
          </a:prstGeom>
          <a:noFill/>
          <a:ln/>
        </p:spPr>
        <p:txBody>
          <a:bodyPr wrap="square" lIns="0" tIns="0" rIns="0" bIns="0" rtlCol="0" anchor="ctr"/>
          <a:lstStyle/>
          <a:p>
            <a:pPr indent="0" marL="0">
              <a:buNone/>
            </a:pPr>
            <a:r>
              <a:rPr lang="en-US" sz="1450" b="1" dirty="0">
                <a:solidFill>
                  <a:schemeClr val="tx1"/>
                </a:solidFill>
              </a:rPr>
              <a:t>Operator gains: </a:t>
            </a:r>
            <a:pPr indent="0" marL="0">
              <a:buNone/>
            </a:pPr>
            <a:r>
              <a:rPr lang="en-US" sz="1450" dirty="0">
                <a:solidFill>
                  <a:schemeClr val="tx2"/>
                </a:solidFill>
              </a:rPr>
              <a:t>paid bookings, no gate staff for walk-ins, usage data</a:t>
            </a:r>
            <a:endParaRPr lang="en-US" sz="1450" dirty="0"/>
          </a:p>
        </p:txBody>
      </p:sp>
      <p:sp>
        <p:nvSpPr>
          <p:cNvPr id="14" name="unit economics"/>
          <p:cNvSpPr/>
          <p:nvPr/>
        </p:nvSpPr>
        <p:spPr>
          <a:xfrm>
            <a:off x="548640" y="4206240"/>
            <a:ext cx="5623560" cy="1417320"/>
          </a:xfrm>
          <a:prstGeom prst="roundRect">
            <a:avLst>
              <a:gd name="adj" fmla="val 7742"/>
            </a:avLst>
          </a:prstGeom>
          <a:solidFill>
            <a:schemeClr val="tx1"/>
          </a:solidFill>
          <a:ln/>
        </p:spPr>
      </p:sp>
      <p:sp>
        <p:nvSpPr>
          <p:cNvPr id="15" name="formulas"/>
          <p:cNvSpPr txBox="1"/>
          <p:nvPr/>
        </p:nvSpPr>
        <p:spPr>
          <a:xfrm>
            <a:off x="777240" y="4206240"/>
            <a:ext cx="5166360" cy="1417320"/>
          </a:xfrm>
          <a:prstGeom prst="rect">
            <a:avLst/>
          </a:prstGeom>
          <a:noFill/>
          <a:ln/>
        </p:spPr>
        <p:txBody>
          <a:bodyPr wrap="square" lIns="0" tIns="0" rIns="0" bIns="0" rtlCol="0" anchor="ctr"/>
          <a:lstStyle/>
          <a:p>
            <a:pPr indent="0" marL="0">
              <a:spcAft>
                <a:spcPts val="400"/>
              </a:spcAft>
              <a:buNone/>
            </a:pPr>
            <a:r>
              <a:rPr lang="en-US" sz="1300" b="1" dirty="0">
                <a:solidFill>
                  <a:schemeClr val="accent2"/>
                </a:solidFill>
              </a:rPr>
              <a:t>Price per driver</a:t>
            </a:r>
            <a:pPr indent="0" marL="0">
              <a:spcAft>
                <a:spcPts val="400"/>
              </a:spcAft>
              <a:buNone/>
            </a:pPr>
            <a:r>
              <a:rPr lang="en-US" sz="1300" dirty="0">
                <a:solidFill>
                  <a:schemeClr val="bg1"/>
                </a:solidFill>
              </a:rPr>
              <a:t> = 5 000 so'm (first hour) + 2 000 so'm × extra hours</a:t>
            </a:r>
            <a:endParaRPr lang="en-US" sz="1300" dirty="0"/>
          </a:p>
          <a:p>
            <a:pPr indent="0" marL="0">
              <a:spcAft>
                <a:spcPts val="400"/>
              </a:spcAft>
              <a:buNone/>
            </a:pPr>
            <a:r>
              <a:rPr lang="en-US" sz="1300" b="1" dirty="0">
                <a:solidFill>
                  <a:schemeClr val="accent2"/>
                </a:solidFill>
              </a:rPr>
              <a:t>Split</a:t>
            </a:r>
            <a:pPr indent="0" marL="0">
              <a:spcAft>
                <a:spcPts val="400"/>
              </a:spcAft>
              <a:buNone/>
            </a:pPr>
            <a:r>
              <a:rPr lang="en-US" sz="1300" dirty="0">
                <a:solidFill>
                  <a:schemeClr val="bg1"/>
                </a:solidFill>
              </a:rPr>
              <a:t> = 50% parking lot · 50% ParkDet</a:t>
            </a:r>
            <a:endParaRPr lang="en-US" sz="1300" dirty="0"/>
          </a:p>
          <a:p>
            <a:pPr indent="0" marL="0">
              <a:spcAft>
                <a:spcPts val="400"/>
              </a:spcAft>
              <a:buNone/>
            </a:pPr>
            <a:r>
              <a:rPr lang="en-US" sz="1300" b="1" dirty="0">
                <a:solidFill>
                  <a:schemeClr val="accent2"/>
                </a:solidFill>
              </a:rPr>
              <a:t>Our cost per camera / month</a:t>
            </a:r>
            <a:pPr indent="0" marL="0">
              <a:spcAft>
                <a:spcPts val="400"/>
              </a:spcAft>
              <a:buNone/>
            </a:pPr>
            <a:r>
              <a:rPr lang="en-US" sz="1300" dirty="0">
                <a:solidFill>
                  <a:schemeClr val="bg1"/>
                </a:solidFill>
              </a:rPr>
              <a:t> = [server $] ÷ 8 + [phone] ÷ [months] + [support]</a:t>
            </a:r>
            <a:endParaRPr lang="en-US" sz="1300" dirty="0"/>
          </a:p>
        </p:txBody>
      </p:sp>
      <p:sp>
        <p:nvSpPr>
          <p:cNvPr id="16" name="3-MONTH PILOT IN ONE LOT label"/>
          <p:cNvSpPr txBox="1"/>
          <p:nvPr/>
        </p:nvSpPr>
        <p:spPr>
          <a:xfrm>
            <a:off x="6537960" y="1481328"/>
            <a:ext cx="5105095"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3-MONTH PILOT IN ONE LOT</a:t>
            </a:r>
            <a:endParaRPr lang="en-US" sz="1200" dirty="0"/>
          </a:p>
        </p:txBody>
      </p:sp>
      <p:sp>
        <p:nvSpPr>
          <p:cNvPr id="17" name="Month 1 · Install and check"/>
          <p:cNvSpPr/>
          <p:nvPr/>
        </p:nvSpPr>
        <p:spPr>
          <a:xfrm>
            <a:off x="6537960" y="1828800"/>
            <a:ext cx="5105095" cy="749808"/>
          </a:xfrm>
          <a:prstGeom prst="roundRect">
            <a:avLst>
              <a:gd name="adj" fmla="val 14634"/>
            </a:avLst>
          </a:prstGeom>
          <a:solidFill>
            <a:schemeClr val="bg1"/>
          </a:solidFill>
          <a:ln w="12700">
            <a:solidFill>
              <a:srgbClr val="E6ECF4"/>
            </a:solidFill>
            <a:prstDash val="solid"/>
          </a:ln>
        </p:spPr>
      </p:sp>
      <p:sp>
        <p:nvSpPr>
          <p:cNvPr id="18" name="Month 1 · Install and check dot"/>
          <p:cNvSpPr/>
          <p:nvPr/>
        </p:nvSpPr>
        <p:spPr>
          <a:xfrm>
            <a:off x="6720840" y="1956816"/>
            <a:ext cx="329184" cy="329184"/>
          </a:xfrm>
          <a:prstGeom prst="ellipse">
            <a:avLst/>
          </a:prstGeom>
          <a:solidFill>
            <a:schemeClr val="accent1"/>
          </a:solidFill>
          <a:ln/>
        </p:spPr>
      </p:sp>
      <p:sp>
        <p:nvSpPr>
          <p:cNvPr id="19" name="Text 14"/>
          <p:cNvSpPr txBox="1"/>
          <p:nvPr/>
        </p:nvSpPr>
        <p:spPr>
          <a:xfrm>
            <a:off x="6720840" y="195681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Month 1 · Install and check text"/>
          <p:cNvSpPr txBox="1"/>
          <p:nvPr/>
        </p:nvSpPr>
        <p:spPr>
          <a:xfrm>
            <a:off x="7223760" y="1920240"/>
            <a:ext cx="4236415" cy="621792"/>
          </a:xfrm>
          <a:prstGeom prst="rect">
            <a:avLst/>
          </a:prstGeom>
          <a:noFill/>
          <a:ln/>
        </p:spPr>
        <p:txBody>
          <a:bodyPr wrap="square" lIns="0" tIns="0" rIns="0" bIns="0" rtlCol="0" anchor="t"/>
          <a:lstStyle/>
          <a:p>
            <a:pPr indent="0" marL="0">
              <a:buNone/>
            </a:pPr>
            <a:r>
              <a:rPr lang="en-US" sz="1400" b="1" dirty="0">
                <a:solidFill>
                  <a:schemeClr val="tx1"/>
                </a:solidFill>
              </a:rPr>
              <a:t>Month 1 · Install and check</a:t>
            </a:r>
            <a:endParaRPr lang="en-US" sz="1400" dirty="0"/>
          </a:p>
          <a:p>
            <a:pPr indent="0" marL="0">
              <a:buNone/>
            </a:pPr>
            <a:r>
              <a:rPr lang="en-US" sz="1200" dirty="0">
                <a:solidFill>
                  <a:schemeClr val="tx2"/>
                </a:solidFill>
              </a:rPr>
              <a:t>1–2 phone cameras at [pilot lot]; spot check; label photos</a:t>
            </a:r>
            <a:endParaRPr lang="en-US" sz="1400" dirty="0"/>
          </a:p>
        </p:txBody>
      </p:sp>
      <p:sp>
        <p:nvSpPr>
          <p:cNvPr id="21" name="Month 2 · Drivers use it"/>
          <p:cNvSpPr/>
          <p:nvPr/>
        </p:nvSpPr>
        <p:spPr>
          <a:xfrm>
            <a:off x="6537960" y="2697480"/>
            <a:ext cx="5105095" cy="749808"/>
          </a:xfrm>
          <a:prstGeom prst="roundRect">
            <a:avLst>
              <a:gd name="adj" fmla="val 14634"/>
            </a:avLst>
          </a:prstGeom>
          <a:solidFill>
            <a:schemeClr val="bg1"/>
          </a:solidFill>
          <a:ln w="12700">
            <a:solidFill>
              <a:srgbClr val="E6ECF4"/>
            </a:solidFill>
            <a:prstDash val="solid"/>
          </a:ln>
        </p:spPr>
      </p:sp>
      <p:sp>
        <p:nvSpPr>
          <p:cNvPr id="22" name="Month 2 · Drivers use it dot"/>
          <p:cNvSpPr/>
          <p:nvPr/>
        </p:nvSpPr>
        <p:spPr>
          <a:xfrm>
            <a:off x="6720840" y="2825496"/>
            <a:ext cx="329184" cy="329184"/>
          </a:xfrm>
          <a:prstGeom prst="ellipse">
            <a:avLst/>
          </a:prstGeom>
          <a:solidFill>
            <a:schemeClr val="accent1"/>
          </a:solidFill>
          <a:ln/>
        </p:spPr>
      </p:sp>
      <p:sp>
        <p:nvSpPr>
          <p:cNvPr id="23" name="Text 18"/>
          <p:cNvSpPr txBox="1"/>
          <p:nvPr/>
        </p:nvSpPr>
        <p:spPr>
          <a:xfrm>
            <a:off x="6720840" y="282549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4" name="Month 2 · Drivers use it text"/>
          <p:cNvSpPr txBox="1"/>
          <p:nvPr/>
        </p:nvSpPr>
        <p:spPr>
          <a:xfrm>
            <a:off x="7223760" y="2788920"/>
            <a:ext cx="4236415" cy="621792"/>
          </a:xfrm>
          <a:prstGeom prst="rect">
            <a:avLst/>
          </a:prstGeom>
          <a:noFill/>
          <a:ln/>
        </p:spPr>
        <p:txBody>
          <a:bodyPr wrap="square" lIns="0" tIns="0" rIns="0" bIns="0" rtlCol="0" anchor="t"/>
          <a:lstStyle/>
          <a:p>
            <a:pPr indent="0" marL="0">
              <a:buNone/>
            </a:pPr>
            <a:r>
              <a:rPr lang="en-US" sz="1400" b="1" dirty="0">
                <a:solidFill>
                  <a:schemeClr val="tx1"/>
                </a:solidFill>
              </a:rPr>
              <a:t>Month 2 · Drivers use it</a:t>
            </a:r>
            <a:endParaRPr lang="en-US" sz="1400" dirty="0"/>
          </a:p>
          <a:p>
            <a:pPr indent="0" marL="0">
              <a:buNone/>
            </a:pPr>
            <a:r>
              <a:rPr lang="en-US" sz="1200" dirty="0">
                <a:solidFill>
                  <a:schemeClr val="tx2"/>
                </a:solidFill>
              </a:rPr>
              <a:t>Map, booking and walk-in live; weekly accuracy report</a:t>
            </a:r>
            <a:endParaRPr lang="en-US" sz="1400" dirty="0"/>
          </a:p>
        </p:txBody>
      </p:sp>
      <p:sp>
        <p:nvSpPr>
          <p:cNvPr id="25" name="Month 3 · Pay and decide"/>
          <p:cNvSpPr/>
          <p:nvPr/>
        </p:nvSpPr>
        <p:spPr>
          <a:xfrm>
            <a:off x="6537960" y="3566160"/>
            <a:ext cx="5105095" cy="749808"/>
          </a:xfrm>
          <a:prstGeom prst="roundRect">
            <a:avLst>
              <a:gd name="adj" fmla="val 14634"/>
            </a:avLst>
          </a:prstGeom>
          <a:solidFill>
            <a:schemeClr val="bg1"/>
          </a:solidFill>
          <a:ln w="12700">
            <a:solidFill>
              <a:srgbClr val="E6ECF4"/>
            </a:solidFill>
            <a:prstDash val="solid"/>
          </a:ln>
        </p:spPr>
      </p:sp>
      <p:sp>
        <p:nvSpPr>
          <p:cNvPr id="26" name="Month 3 · Pay and decide dot"/>
          <p:cNvSpPr/>
          <p:nvPr/>
        </p:nvSpPr>
        <p:spPr>
          <a:xfrm>
            <a:off x="6720840" y="3694176"/>
            <a:ext cx="329184" cy="329184"/>
          </a:xfrm>
          <a:prstGeom prst="ellipse">
            <a:avLst/>
          </a:prstGeom>
          <a:solidFill>
            <a:schemeClr val="accent2"/>
          </a:solidFill>
          <a:ln/>
        </p:spPr>
      </p:sp>
      <p:sp>
        <p:nvSpPr>
          <p:cNvPr id="27" name="Text 22"/>
          <p:cNvSpPr txBox="1"/>
          <p:nvPr/>
        </p:nvSpPr>
        <p:spPr>
          <a:xfrm>
            <a:off x="6720840" y="369417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8" name="Month 3 · Pay and decide text"/>
          <p:cNvSpPr txBox="1"/>
          <p:nvPr/>
        </p:nvSpPr>
        <p:spPr>
          <a:xfrm>
            <a:off x="7223760" y="3657600"/>
            <a:ext cx="4236415" cy="621792"/>
          </a:xfrm>
          <a:prstGeom prst="rect">
            <a:avLst/>
          </a:prstGeom>
          <a:noFill/>
          <a:ln/>
        </p:spPr>
        <p:txBody>
          <a:bodyPr wrap="square" lIns="0" tIns="0" rIns="0" bIns="0" rtlCol="0" anchor="t"/>
          <a:lstStyle/>
          <a:p>
            <a:pPr indent="0" marL="0">
              <a:buNone/>
            </a:pPr>
            <a:r>
              <a:rPr lang="en-US" sz="1400" b="1" dirty="0">
                <a:solidFill>
                  <a:schemeClr val="tx1"/>
                </a:solidFill>
              </a:rPr>
              <a:t>Month 3 · Pay and decide</a:t>
            </a:r>
            <a:endParaRPr lang="en-US" sz="1400" dirty="0"/>
          </a:p>
          <a:p>
            <a:pPr indent="0" marL="0">
              <a:buNone/>
            </a:pPr>
            <a:r>
              <a:rPr lang="en-US" sz="1200" dirty="0">
                <a:solidFill>
                  <a:schemeClr val="tx2"/>
                </a:solidFill>
              </a:rPr>
              <a:t>Local payment provider; ROI review; go / no-go</a:t>
            </a:r>
            <a:endParaRPr lang="en-US" sz="1400" dirty="0"/>
          </a:p>
        </p:txBody>
      </p:sp>
      <p:sp>
        <p:nvSpPr>
          <p:cNvPr id="29" name="pilot cost tile"/>
          <p:cNvSpPr/>
          <p:nvPr/>
        </p:nvSpPr>
        <p:spPr>
          <a:xfrm>
            <a:off x="6537960" y="4498848"/>
            <a:ext cx="5105095" cy="1124712"/>
          </a:xfrm>
          <a:prstGeom prst="roundRect">
            <a:avLst>
              <a:gd name="adj" fmla="val 9756"/>
            </a:avLst>
          </a:prstGeom>
          <a:solidFill>
            <a:schemeClr val="accent6"/>
          </a:solidFill>
          <a:ln/>
        </p:spPr>
      </p:sp>
      <p:sp>
        <p:nvSpPr>
          <p:cNvPr id="30" name="pilot cost and ask"/>
          <p:cNvSpPr txBox="1"/>
          <p:nvPr/>
        </p:nvSpPr>
        <p:spPr>
          <a:xfrm>
            <a:off x="6812280" y="4498848"/>
            <a:ext cx="4556455" cy="1124712"/>
          </a:xfrm>
          <a:prstGeom prst="rect">
            <a:avLst/>
          </a:prstGeom>
          <a:noFill/>
          <a:ln/>
        </p:spPr>
        <p:txBody>
          <a:bodyPr wrap="square" lIns="0" tIns="0" rIns="0" bIns="0" rtlCol="0" anchor="ctr"/>
          <a:lstStyle/>
          <a:p>
            <a:pPr indent="0" marL="0">
              <a:spcAft>
                <a:spcPts val="300"/>
              </a:spcAft>
              <a:buNone/>
            </a:pPr>
            <a:r>
              <a:rPr lang="en-US" sz="1400" b="1" dirty="0">
                <a:solidFill>
                  <a:schemeClr val="tx1"/>
                </a:solidFill>
              </a:rPr>
              <a:t>Pilot cost: </a:t>
            </a:r>
            <a:pPr indent="0" marL="0">
              <a:spcAft>
                <a:spcPts val="300"/>
              </a:spcAft>
              <a:buNone/>
            </a:pPr>
            <a:r>
              <a:rPr lang="en-US" sz="1400" dirty="0">
                <a:solidFill>
                  <a:schemeClr val="tx2"/>
                </a:solidFill>
              </a:rPr>
              <a:t>[sum] — people, server, phones, labelling</a:t>
            </a:r>
            <a:endParaRPr lang="en-US" sz="1400" dirty="0"/>
          </a:p>
          <a:p>
            <a:pPr indent="0" marL="0">
              <a:spcAft>
                <a:spcPts val="300"/>
              </a:spcAft>
              <a:buNone/>
            </a:pPr>
            <a:r>
              <a:rPr lang="en-US" sz="1400" b="1" dirty="0">
                <a:solidFill>
                  <a:schemeClr val="tx1"/>
                </a:solidFill>
              </a:rPr>
              <a:t>Payback: </a:t>
            </a:r>
            <a:pPr indent="0" marL="0">
              <a:spcAft>
                <a:spcPts val="300"/>
              </a:spcAft>
              <a:buNone/>
            </a:pPr>
            <a:r>
              <a:rPr lang="en-US" sz="1400" dirty="0">
                <a:solidFill>
                  <a:schemeClr val="tx2"/>
                </a:solidFill>
              </a:rPr>
              <a:t>[__] months</a:t>
            </a:r>
            <a:endParaRPr lang="en-US" sz="1400" dirty="0"/>
          </a:p>
          <a:p>
            <a:pPr indent="0" marL="0">
              <a:spcAft>
                <a:spcPts val="300"/>
              </a:spcAft>
              <a:buNone/>
            </a:pPr>
            <a:r>
              <a:rPr lang="en-US" sz="1400" b="1" dirty="0">
                <a:solidFill>
                  <a:schemeClr val="accent1"/>
                </a:solidFill>
              </a:rPr>
              <a:t>Our ask: one lot to pilot in</a:t>
            </a:r>
            <a:endParaRPr lang="en-US" sz="1400" dirty="0"/>
          </a:p>
        </p:txBody>
      </p:sp>
      <p:sp>
        <p:nvSpPr>
          <p:cNvPr id="31" name="bracket note"/>
          <p:cNvSpPr txBox="1"/>
          <p:nvPr/>
        </p:nvSpPr>
        <p:spPr>
          <a:xfrm>
            <a:off x="4114800" y="6355080"/>
            <a:ext cx="6949440" cy="274320"/>
          </a:xfrm>
          <a:prstGeom prst="rect">
            <a:avLst/>
          </a:prstGeom>
          <a:noFill/>
          <a:ln/>
        </p:spPr>
        <p:txBody>
          <a:bodyPr wrap="square" lIns="0" tIns="0" rIns="0" bIns="0" rtlCol="0" anchor="t"/>
          <a:lstStyle/>
          <a:p>
            <a:pPr algn="r" indent="0" marL="0">
              <a:buNone/>
            </a:pPr>
            <a:r>
              <a:rPr lang="en-US" sz="1000" dirty="0">
                <a:solidFill>
                  <a:schemeClr val="tx2"/>
                </a:solidFill>
              </a:rPr>
              <a:t>Every [bracket] = a real quote or interview number, never a guess</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background glow"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bay line 1-1"/>
          <p:cNvSpPr/>
          <p:nvPr/>
        </p:nvSpPr>
        <p:spPr>
          <a:xfrm>
            <a:off x="335128" y="0"/>
            <a:ext cx="0" cy="914400"/>
          </a:xfrm>
          <a:prstGeom prst="line">
            <a:avLst/>
          </a:prstGeom>
          <a:noFill/>
          <a:ln w="19050">
            <a:solidFill>
              <a:srgbClr val="FFFFFF">
                <a:alpha val="18000"/>
              </a:srgbClr>
            </a:solidFill>
            <a:prstDash val="solid"/>
          </a:ln>
        </p:spPr>
      </p:sp>
      <p:sp>
        <p:nvSpPr>
          <p:cNvPr id="4" name="bay line 1-2"/>
          <p:cNvSpPr/>
          <p:nvPr/>
        </p:nvSpPr>
        <p:spPr>
          <a:xfrm>
            <a:off x="1295248" y="0"/>
            <a:ext cx="0" cy="914400"/>
          </a:xfrm>
          <a:prstGeom prst="line">
            <a:avLst/>
          </a:prstGeom>
          <a:noFill/>
          <a:ln w="19050">
            <a:solidFill>
              <a:srgbClr val="FFFFFF">
                <a:alpha val="18000"/>
              </a:srgbClr>
            </a:solidFill>
            <a:prstDash val="solid"/>
          </a:ln>
        </p:spPr>
      </p:sp>
      <p:sp>
        <p:nvSpPr>
          <p:cNvPr id="5" name="bay line 1-3"/>
          <p:cNvSpPr/>
          <p:nvPr/>
        </p:nvSpPr>
        <p:spPr>
          <a:xfrm>
            <a:off x="2255368" y="0"/>
            <a:ext cx="0" cy="914400"/>
          </a:xfrm>
          <a:prstGeom prst="line">
            <a:avLst/>
          </a:prstGeom>
          <a:noFill/>
          <a:ln w="19050">
            <a:solidFill>
              <a:srgbClr val="FFFFFF">
                <a:alpha val="18000"/>
              </a:srgbClr>
            </a:solidFill>
            <a:prstDash val="solid"/>
          </a:ln>
        </p:spPr>
      </p:sp>
      <p:sp>
        <p:nvSpPr>
          <p:cNvPr id="6" name="bay line 1-4"/>
          <p:cNvSpPr/>
          <p:nvPr/>
        </p:nvSpPr>
        <p:spPr>
          <a:xfrm>
            <a:off x="3215488" y="0"/>
            <a:ext cx="0" cy="914400"/>
          </a:xfrm>
          <a:prstGeom prst="line">
            <a:avLst/>
          </a:prstGeom>
          <a:noFill/>
          <a:ln w="19050">
            <a:solidFill>
              <a:srgbClr val="FFFFFF">
                <a:alpha val="18000"/>
              </a:srgbClr>
            </a:solidFill>
            <a:prstDash val="solid"/>
          </a:ln>
        </p:spPr>
      </p:sp>
      <p:sp>
        <p:nvSpPr>
          <p:cNvPr id="7" name="bay line 1-5"/>
          <p:cNvSpPr/>
          <p:nvPr/>
        </p:nvSpPr>
        <p:spPr>
          <a:xfrm>
            <a:off x="4175608" y="0"/>
            <a:ext cx="0" cy="914400"/>
          </a:xfrm>
          <a:prstGeom prst="line">
            <a:avLst/>
          </a:prstGeom>
          <a:noFill/>
          <a:ln w="19050">
            <a:solidFill>
              <a:srgbClr val="FFFFFF">
                <a:alpha val="18000"/>
              </a:srgbClr>
            </a:solidFill>
            <a:prstDash val="solid"/>
          </a:ln>
        </p:spPr>
      </p:sp>
      <p:sp>
        <p:nvSpPr>
          <p:cNvPr id="8" name="bay line 1-6"/>
          <p:cNvSpPr/>
          <p:nvPr/>
        </p:nvSpPr>
        <p:spPr>
          <a:xfrm>
            <a:off x="5135728" y="0"/>
            <a:ext cx="0" cy="914400"/>
          </a:xfrm>
          <a:prstGeom prst="line">
            <a:avLst/>
          </a:prstGeom>
          <a:noFill/>
          <a:ln w="19050">
            <a:solidFill>
              <a:srgbClr val="FFFFFF">
                <a:alpha val="18000"/>
              </a:srgbClr>
            </a:solidFill>
            <a:prstDash val="solid"/>
          </a:ln>
        </p:spPr>
      </p:sp>
      <p:sp>
        <p:nvSpPr>
          <p:cNvPr id="9" name="bay line 1-7"/>
          <p:cNvSpPr/>
          <p:nvPr/>
        </p:nvSpPr>
        <p:spPr>
          <a:xfrm>
            <a:off x="6095848" y="0"/>
            <a:ext cx="0" cy="914400"/>
          </a:xfrm>
          <a:prstGeom prst="line">
            <a:avLst/>
          </a:prstGeom>
          <a:noFill/>
          <a:ln w="19050">
            <a:solidFill>
              <a:srgbClr val="FFFFFF">
                <a:alpha val="18000"/>
              </a:srgbClr>
            </a:solidFill>
            <a:prstDash val="solid"/>
          </a:ln>
        </p:spPr>
      </p:sp>
      <p:sp>
        <p:nvSpPr>
          <p:cNvPr id="10" name="bay line 1-8"/>
          <p:cNvSpPr/>
          <p:nvPr/>
        </p:nvSpPr>
        <p:spPr>
          <a:xfrm>
            <a:off x="7055968" y="0"/>
            <a:ext cx="0" cy="914400"/>
          </a:xfrm>
          <a:prstGeom prst="line">
            <a:avLst/>
          </a:prstGeom>
          <a:noFill/>
          <a:ln w="19050">
            <a:solidFill>
              <a:srgbClr val="FFFFFF">
                <a:alpha val="18000"/>
              </a:srgbClr>
            </a:solidFill>
            <a:prstDash val="solid"/>
          </a:ln>
        </p:spPr>
      </p:sp>
      <p:sp>
        <p:nvSpPr>
          <p:cNvPr id="11" name="bay line 1-9"/>
          <p:cNvSpPr/>
          <p:nvPr/>
        </p:nvSpPr>
        <p:spPr>
          <a:xfrm>
            <a:off x="8016088" y="0"/>
            <a:ext cx="0" cy="914400"/>
          </a:xfrm>
          <a:prstGeom prst="line">
            <a:avLst/>
          </a:prstGeom>
          <a:noFill/>
          <a:ln w="19050">
            <a:solidFill>
              <a:srgbClr val="FFFFFF">
                <a:alpha val="18000"/>
              </a:srgbClr>
            </a:solidFill>
            <a:prstDash val="solid"/>
          </a:ln>
        </p:spPr>
      </p:sp>
      <p:sp>
        <p:nvSpPr>
          <p:cNvPr id="12" name="bay line 1-10"/>
          <p:cNvSpPr/>
          <p:nvPr/>
        </p:nvSpPr>
        <p:spPr>
          <a:xfrm>
            <a:off x="8976208" y="0"/>
            <a:ext cx="0" cy="914400"/>
          </a:xfrm>
          <a:prstGeom prst="line">
            <a:avLst/>
          </a:prstGeom>
          <a:noFill/>
          <a:ln w="19050">
            <a:solidFill>
              <a:srgbClr val="FFFFFF">
                <a:alpha val="18000"/>
              </a:srgbClr>
            </a:solidFill>
            <a:prstDash val="solid"/>
          </a:ln>
        </p:spPr>
      </p:sp>
      <p:sp>
        <p:nvSpPr>
          <p:cNvPr id="13" name="bay line 1-11"/>
          <p:cNvSpPr/>
          <p:nvPr/>
        </p:nvSpPr>
        <p:spPr>
          <a:xfrm>
            <a:off x="9936328" y="0"/>
            <a:ext cx="0" cy="914400"/>
          </a:xfrm>
          <a:prstGeom prst="line">
            <a:avLst/>
          </a:prstGeom>
          <a:noFill/>
          <a:ln w="19050">
            <a:solidFill>
              <a:srgbClr val="FFFFFF">
                <a:alpha val="18000"/>
              </a:srgbClr>
            </a:solidFill>
            <a:prstDash val="solid"/>
          </a:ln>
        </p:spPr>
      </p:sp>
      <p:sp>
        <p:nvSpPr>
          <p:cNvPr id="14" name="bay line 1-12"/>
          <p:cNvSpPr/>
          <p:nvPr/>
        </p:nvSpPr>
        <p:spPr>
          <a:xfrm>
            <a:off x="10896448" y="0"/>
            <a:ext cx="0" cy="914400"/>
          </a:xfrm>
          <a:prstGeom prst="line">
            <a:avLst/>
          </a:prstGeom>
          <a:noFill/>
          <a:ln w="19050">
            <a:solidFill>
              <a:srgbClr val="FFFFFF">
                <a:alpha val="18000"/>
              </a:srgbClr>
            </a:solidFill>
            <a:prstDash val="solid"/>
          </a:ln>
        </p:spPr>
      </p:sp>
      <p:sp>
        <p:nvSpPr>
          <p:cNvPr id="15" name="bay line 1-13"/>
          <p:cNvSpPr/>
          <p:nvPr/>
        </p:nvSpPr>
        <p:spPr>
          <a:xfrm>
            <a:off x="11856568" y="0"/>
            <a:ext cx="0" cy="914400"/>
          </a:xfrm>
          <a:prstGeom prst="line">
            <a:avLst/>
          </a:prstGeom>
          <a:noFill/>
          <a:ln w="19050">
            <a:solidFill>
              <a:srgbClr val="FFFFFF">
                <a:alpha val="18000"/>
              </a:srgbClr>
            </a:solidFill>
            <a:prstDash val="solid"/>
          </a:ln>
        </p:spPr>
      </p:sp>
      <p:pic>
        <p:nvPicPr>
          <p:cNvPr id="16" name="parked car 1-1" descr="preencoded.png">    </p:cNvPr>
          <p:cNvPicPr>
            <a:picLocks noChangeAspect="1"/>
          </p:cNvPicPr>
          <p:nvPr/>
        </p:nvPicPr>
        <p:blipFill>
          <a:blip r:embed="rId2">
            <a:alphaModFix amt="12000"/>
          </a:blip>
          <a:stretch>
            <a:fillRect/>
          </a:stretch>
        </p:blipFill>
        <p:spPr>
          <a:xfrm>
            <a:off x="586588" y="91440"/>
            <a:ext cx="457200" cy="731520"/>
          </a:xfrm>
          <a:prstGeom prst="rect">
            <a:avLst/>
          </a:prstGeom>
        </p:spPr>
      </p:pic>
      <p:pic>
        <p:nvPicPr>
          <p:cNvPr id="17" name="parked car 1-2" descr="preencoded.png">    </p:cNvPr>
          <p:cNvPicPr>
            <a:picLocks noChangeAspect="1"/>
          </p:cNvPicPr>
          <p:nvPr/>
        </p:nvPicPr>
        <p:blipFill>
          <a:blip r:embed="rId3">
            <a:alphaModFix amt="12000"/>
          </a:blip>
          <a:stretch>
            <a:fillRect/>
          </a:stretch>
        </p:blipFill>
        <p:spPr>
          <a:xfrm>
            <a:off x="1546708" y="91440"/>
            <a:ext cx="457200" cy="731520"/>
          </a:xfrm>
          <a:prstGeom prst="rect">
            <a:avLst/>
          </a:prstGeom>
        </p:spPr>
      </p:pic>
      <p:pic>
        <p:nvPicPr>
          <p:cNvPr id="18" name="parked car 1-4" descr="preencoded.png">    </p:cNvPr>
          <p:cNvPicPr>
            <a:picLocks noChangeAspect="1"/>
          </p:cNvPicPr>
          <p:nvPr/>
        </p:nvPicPr>
        <p:blipFill>
          <a:blip r:embed="rId4">
            <a:alphaModFix amt="12000"/>
          </a:blip>
          <a:stretch>
            <a:fillRect/>
          </a:stretch>
        </p:blipFill>
        <p:spPr>
          <a:xfrm>
            <a:off x="3466948" y="91440"/>
            <a:ext cx="457200" cy="731520"/>
          </a:xfrm>
          <a:prstGeom prst="rect">
            <a:avLst/>
          </a:prstGeom>
        </p:spPr>
      </p:pic>
      <p:pic>
        <p:nvPicPr>
          <p:cNvPr id="19" name="parked car 1-5" descr="preencoded.png">    </p:cNvPr>
          <p:cNvPicPr>
            <a:picLocks noChangeAspect="1"/>
          </p:cNvPicPr>
          <p:nvPr/>
        </p:nvPicPr>
        <p:blipFill>
          <a:blip r:embed="rId5">
            <a:alphaModFix amt="12000"/>
          </a:blip>
          <a:stretch>
            <a:fillRect/>
          </a:stretch>
        </p:blipFill>
        <p:spPr>
          <a:xfrm>
            <a:off x="4427068" y="91440"/>
            <a:ext cx="457200" cy="731520"/>
          </a:xfrm>
          <a:prstGeom prst="rect">
            <a:avLst/>
          </a:prstGeom>
        </p:spPr>
      </p:pic>
      <p:pic>
        <p:nvPicPr>
          <p:cNvPr id="20" name="parked car 1-6" descr="preencoded.png">    </p:cNvPr>
          <p:cNvPicPr>
            <a:picLocks noChangeAspect="1"/>
          </p:cNvPicPr>
          <p:nvPr/>
        </p:nvPicPr>
        <p:blipFill>
          <a:blip r:embed="rId6">
            <a:alphaModFix amt="12000"/>
          </a:blip>
          <a:stretch>
            <a:fillRect/>
          </a:stretch>
        </p:blipFill>
        <p:spPr>
          <a:xfrm>
            <a:off x="5387188" y="91440"/>
            <a:ext cx="457200" cy="731520"/>
          </a:xfrm>
          <a:prstGeom prst="rect">
            <a:avLst/>
          </a:prstGeom>
        </p:spPr>
      </p:pic>
      <p:pic>
        <p:nvPicPr>
          <p:cNvPr id="21" name="parked car 1-7" descr="preencoded.png">    </p:cNvPr>
          <p:cNvPicPr>
            <a:picLocks noChangeAspect="1"/>
          </p:cNvPicPr>
          <p:nvPr/>
        </p:nvPicPr>
        <p:blipFill>
          <a:blip r:embed="rId7">
            <a:alphaModFix amt="12000"/>
          </a:blip>
          <a:stretch>
            <a:fillRect/>
          </a:stretch>
        </p:blipFill>
        <p:spPr>
          <a:xfrm>
            <a:off x="6347308" y="91440"/>
            <a:ext cx="457200" cy="731520"/>
          </a:xfrm>
          <a:prstGeom prst="rect">
            <a:avLst/>
          </a:prstGeom>
        </p:spPr>
      </p:pic>
      <p:pic>
        <p:nvPicPr>
          <p:cNvPr id="22" name="parked car 1-8" descr="preencoded.png">    </p:cNvPr>
          <p:cNvPicPr>
            <a:picLocks noChangeAspect="1"/>
          </p:cNvPicPr>
          <p:nvPr/>
        </p:nvPicPr>
        <p:blipFill>
          <a:blip r:embed="rId8">
            <a:alphaModFix amt="12000"/>
          </a:blip>
          <a:stretch>
            <a:fillRect/>
          </a:stretch>
        </p:blipFill>
        <p:spPr>
          <a:xfrm>
            <a:off x="7307428" y="91440"/>
            <a:ext cx="457200" cy="731520"/>
          </a:xfrm>
          <a:prstGeom prst="rect">
            <a:avLst/>
          </a:prstGeom>
        </p:spPr>
      </p:pic>
      <p:pic>
        <p:nvPicPr>
          <p:cNvPr id="23" name="parked car 1-10" descr="preencoded.png">    </p:cNvPr>
          <p:cNvPicPr>
            <a:picLocks noChangeAspect="1"/>
          </p:cNvPicPr>
          <p:nvPr/>
        </p:nvPicPr>
        <p:blipFill>
          <a:blip r:embed="rId9">
            <a:alphaModFix amt="12000"/>
          </a:blip>
          <a:stretch>
            <a:fillRect/>
          </a:stretch>
        </p:blipFill>
        <p:spPr>
          <a:xfrm>
            <a:off x="9227668" y="91440"/>
            <a:ext cx="457200" cy="731520"/>
          </a:xfrm>
          <a:prstGeom prst="rect">
            <a:avLst/>
          </a:prstGeom>
        </p:spPr>
      </p:pic>
      <p:pic>
        <p:nvPicPr>
          <p:cNvPr id="24" name="parked car 1-11" descr="preencoded.png">    </p:cNvPr>
          <p:cNvPicPr>
            <a:picLocks noChangeAspect="1"/>
          </p:cNvPicPr>
          <p:nvPr/>
        </p:nvPicPr>
        <p:blipFill>
          <a:blip r:embed="rId10">
            <a:alphaModFix amt="12000"/>
          </a:blip>
          <a:stretch>
            <a:fillRect/>
          </a:stretch>
        </p:blipFill>
        <p:spPr>
          <a:xfrm>
            <a:off x="10187788" y="91440"/>
            <a:ext cx="457200" cy="731520"/>
          </a:xfrm>
          <a:prstGeom prst="rect">
            <a:avLst/>
          </a:prstGeom>
        </p:spPr>
      </p:pic>
      <p:pic>
        <p:nvPicPr>
          <p:cNvPr id="25" name="parked car 1-12" descr="preencoded.png">    </p:cNvPr>
          <p:cNvPicPr>
            <a:picLocks noChangeAspect="1"/>
          </p:cNvPicPr>
          <p:nvPr/>
        </p:nvPicPr>
        <p:blipFill>
          <a:blip r:embed="rId11">
            <a:alphaModFix amt="12000"/>
          </a:blip>
          <a:stretch>
            <a:fillRect/>
          </a:stretch>
        </p:blipFill>
        <p:spPr>
          <a:xfrm>
            <a:off x="11147908" y="91440"/>
            <a:ext cx="457200" cy="731520"/>
          </a:xfrm>
          <a:prstGeom prst="rect">
            <a:avLst/>
          </a:prstGeom>
        </p:spPr>
      </p:pic>
      <p:sp>
        <p:nvSpPr>
          <p:cNvPr id="26" name="bay line 2-1"/>
          <p:cNvSpPr/>
          <p:nvPr/>
        </p:nvSpPr>
        <p:spPr>
          <a:xfrm>
            <a:off x="335128" y="5943600"/>
            <a:ext cx="0" cy="914400"/>
          </a:xfrm>
          <a:prstGeom prst="line">
            <a:avLst/>
          </a:prstGeom>
          <a:noFill/>
          <a:ln w="19050">
            <a:solidFill>
              <a:srgbClr val="FFFFFF">
                <a:alpha val="18000"/>
              </a:srgbClr>
            </a:solidFill>
            <a:prstDash val="solid"/>
          </a:ln>
        </p:spPr>
      </p:sp>
      <p:sp>
        <p:nvSpPr>
          <p:cNvPr id="27" name="bay line 2-2"/>
          <p:cNvSpPr/>
          <p:nvPr/>
        </p:nvSpPr>
        <p:spPr>
          <a:xfrm>
            <a:off x="1295248" y="5943600"/>
            <a:ext cx="0" cy="914400"/>
          </a:xfrm>
          <a:prstGeom prst="line">
            <a:avLst/>
          </a:prstGeom>
          <a:noFill/>
          <a:ln w="19050">
            <a:solidFill>
              <a:srgbClr val="FFFFFF">
                <a:alpha val="18000"/>
              </a:srgbClr>
            </a:solidFill>
            <a:prstDash val="solid"/>
          </a:ln>
        </p:spPr>
      </p:sp>
      <p:sp>
        <p:nvSpPr>
          <p:cNvPr id="28" name="bay line 2-3"/>
          <p:cNvSpPr/>
          <p:nvPr/>
        </p:nvSpPr>
        <p:spPr>
          <a:xfrm>
            <a:off x="2255368" y="5943600"/>
            <a:ext cx="0" cy="914400"/>
          </a:xfrm>
          <a:prstGeom prst="line">
            <a:avLst/>
          </a:prstGeom>
          <a:noFill/>
          <a:ln w="19050">
            <a:solidFill>
              <a:srgbClr val="FFFFFF">
                <a:alpha val="18000"/>
              </a:srgbClr>
            </a:solidFill>
            <a:prstDash val="solid"/>
          </a:ln>
        </p:spPr>
      </p:sp>
      <p:sp>
        <p:nvSpPr>
          <p:cNvPr id="29" name="bay line 2-4"/>
          <p:cNvSpPr/>
          <p:nvPr/>
        </p:nvSpPr>
        <p:spPr>
          <a:xfrm>
            <a:off x="3215488" y="5943600"/>
            <a:ext cx="0" cy="914400"/>
          </a:xfrm>
          <a:prstGeom prst="line">
            <a:avLst/>
          </a:prstGeom>
          <a:noFill/>
          <a:ln w="19050">
            <a:solidFill>
              <a:srgbClr val="FFFFFF">
                <a:alpha val="18000"/>
              </a:srgbClr>
            </a:solidFill>
            <a:prstDash val="solid"/>
          </a:ln>
        </p:spPr>
      </p:sp>
      <p:sp>
        <p:nvSpPr>
          <p:cNvPr id="30" name="bay line 2-5"/>
          <p:cNvSpPr/>
          <p:nvPr/>
        </p:nvSpPr>
        <p:spPr>
          <a:xfrm>
            <a:off x="4175608" y="5943600"/>
            <a:ext cx="0" cy="914400"/>
          </a:xfrm>
          <a:prstGeom prst="line">
            <a:avLst/>
          </a:prstGeom>
          <a:noFill/>
          <a:ln w="19050">
            <a:solidFill>
              <a:srgbClr val="FFFFFF">
                <a:alpha val="18000"/>
              </a:srgbClr>
            </a:solidFill>
            <a:prstDash val="solid"/>
          </a:ln>
        </p:spPr>
      </p:sp>
      <p:sp>
        <p:nvSpPr>
          <p:cNvPr id="31" name="bay line 2-6"/>
          <p:cNvSpPr/>
          <p:nvPr/>
        </p:nvSpPr>
        <p:spPr>
          <a:xfrm>
            <a:off x="5135728" y="5943600"/>
            <a:ext cx="0" cy="914400"/>
          </a:xfrm>
          <a:prstGeom prst="line">
            <a:avLst/>
          </a:prstGeom>
          <a:noFill/>
          <a:ln w="19050">
            <a:solidFill>
              <a:srgbClr val="FFFFFF">
                <a:alpha val="18000"/>
              </a:srgbClr>
            </a:solidFill>
            <a:prstDash val="solid"/>
          </a:ln>
        </p:spPr>
      </p:sp>
      <p:sp>
        <p:nvSpPr>
          <p:cNvPr id="32" name="bay line 2-7"/>
          <p:cNvSpPr/>
          <p:nvPr/>
        </p:nvSpPr>
        <p:spPr>
          <a:xfrm>
            <a:off x="6095848" y="5943600"/>
            <a:ext cx="0" cy="914400"/>
          </a:xfrm>
          <a:prstGeom prst="line">
            <a:avLst/>
          </a:prstGeom>
          <a:noFill/>
          <a:ln w="19050">
            <a:solidFill>
              <a:srgbClr val="FFFFFF">
                <a:alpha val="18000"/>
              </a:srgbClr>
            </a:solidFill>
            <a:prstDash val="solid"/>
          </a:ln>
        </p:spPr>
      </p:sp>
      <p:sp>
        <p:nvSpPr>
          <p:cNvPr id="33" name="bay line 2-8"/>
          <p:cNvSpPr/>
          <p:nvPr/>
        </p:nvSpPr>
        <p:spPr>
          <a:xfrm>
            <a:off x="7055968" y="5943600"/>
            <a:ext cx="0" cy="914400"/>
          </a:xfrm>
          <a:prstGeom prst="line">
            <a:avLst/>
          </a:prstGeom>
          <a:noFill/>
          <a:ln w="19050">
            <a:solidFill>
              <a:srgbClr val="FFFFFF">
                <a:alpha val="18000"/>
              </a:srgbClr>
            </a:solidFill>
            <a:prstDash val="solid"/>
          </a:ln>
        </p:spPr>
      </p:sp>
      <p:sp>
        <p:nvSpPr>
          <p:cNvPr id="34" name="bay line 2-9"/>
          <p:cNvSpPr/>
          <p:nvPr/>
        </p:nvSpPr>
        <p:spPr>
          <a:xfrm>
            <a:off x="8016088" y="5943600"/>
            <a:ext cx="0" cy="914400"/>
          </a:xfrm>
          <a:prstGeom prst="line">
            <a:avLst/>
          </a:prstGeom>
          <a:noFill/>
          <a:ln w="19050">
            <a:solidFill>
              <a:srgbClr val="FFFFFF">
                <a:alpha val="18000"/>
              </a:srgbClr>
            </a:solidFill>
            <a:prstDash val="solid"/>
          </a:ln>
        </p:spPr>
      </p:sp>
      <p:sp>
        <p:nvSpPr>
          <p:cNvPr id="35" name="bay line 2-10"/>
          <p:cNvSpPr/>
          <p:nvPr/>
        </p:nvSpPr>
        <p:spPr>
          <a:xfrm>
            <a:off x="8976208" y="5943600"/>
            <a:ext cx="0" cy="914400"/>
          </a:xfrm>
          <a:prstGeom prst="line">
            <a:avLst/>
          </a:prstGeom>
          <a:noFill/>
          <a:ln w="19050">
            <a:solidFill>
              <a:srgbClr val="FFFFFF">
                <a:alpha val="18000"/>
              </a:srgbClr>
            </a:solidFill>
            <a:prstDash val="solid"/>
          </a:ln>
        </p:spPr>
      </p:sp>
      <p:sp>
        <p:nvSpPr>
          <p:cNvPr id="36" name="bay line 2-11"/>
          <p:cNvSpPr/>
          <p:nvPr/>
        </p:nvSpPr>
        <p:spPr>
          <a:xfrm>
            <a:off x="9936328" y="5943600"/>
            <a:ext cx="0" cy="914400"/>
          </a:xfrm>
          <a:prstGeom prst="line">
            <a:avLst/>
          </a:prstGeom>
          <a:noFill/>
          <a:ln w="19050">
            <a:solidFill>
              <a:srgbClr val="FFFFFF">
                <a:alpha val="18000"/>
              </a:srgbClr>
            </a:solidFill>
            <a:prstDash val="solid"/>
          </a:ln>
        </p:spPr>
      </p:sp>
      <p:sp>
        <p:nvSpPr>
          <p:cNvPr id="37" name="bay line 2-12"/>
          <p:cNvSpPr/>
          <p:nvPr/>
        </p:nvSpPr>
        <p:spPr>
          <a:xfrm>
            <a:off x="10896448" y="5943600"/>
            <a:ext cx="0" cy="914400"/>
          </a:xfrm>
          <a:prstGeom prst="line">
            <a:avLst/>
          </a:prstGeom>
          <a:noFill/>
          <a:ln w="19050">
            <a:solidFill>
              <a:srgbClr val="FFFFFF">
                <a:alpha val="18000"/>
              </a:srgbClr>
            </a:solidFill>
            <a:prstDash val="solid"/>
          </a:ln>
        </p:spPr>
      </p:sp>
      <p:sp>
        <p:nvSpPr>
          <p:cNvPr id="38" name="bay line 2-13"/>
          <p:cNvSpPr/>
          <p:nvPr/>
        </p:nvSpPr>
        <p:spPr>
          <a:xfrm>
            <a:off x="11856568" y="5943600"/>
            <a:ext cx="0" cy="914400"/>
          </a:xfrm>
          <a:prstGeom prst="line">
            <a:avLst/>
          </a:prstGeom>
          <a:noFill/>
          <a:ln w="19050">
            <a:solidFill>
              <a:srgbClr val="FFFFFF">
                <a:alpha val="18000"/>
              </a:srgbClr>
            </a:solidFill>
            <a:prstDash val="solid"/>
          </a:ln>
        </p:spPr>
      </p:sp>
      <p:pic>
        <p:nvPicPr>
          <p:cNvPr id="39" name="parked car 2-1" descr="preencoded.png">    </p:cNvPr>
          <p:cNvPicPr>
            <a:picLocks noChangeAspect="1"/>
          </p:cNvPicPr>
          <p:nvPr/>
        </p:nvPicPr>
        <p:blipFill>
          <a:blip r:embed="rId12">
            <a:alphaModFix amt="12000"/>
          </a:blip>
          <a:stretch>
            <a:fillRect/>
          </a:stretch>
        </p:blipFill>
        <p:spPr>
          <a:xfrm>
            <a:off x="586588" y="6035040"/>
            <a:ext cx="457200" cy="731520"/>
          </a:xfrm>
          <a:prstGeom prst="rect">
            <a:avLst/>
          </a:prstGeom>
        </p:spPr>
      </p:pic>
      <p:pic>
        <p:nvPicPr>
          <p:cNvPr id="40" name="parked car 2-3" descr="preencoded.png">    </p:cNvPr>
          <p:cNvPicPr>
            <a:picLocks noChangeAspect="1"/>
          </p:cNvPicPr>
          <p:nvPr/>
        </p:nvPicPr>
        <p:blipFill>
          <a:blip r:embed="rId13">
            <a:alphaModFix amt="12000"/>
          </a:blip>
          <a:stretch>
            <a:fillRect/>
          </a:stretch>
        </p:blipFill>
        <p:spPr>
          <a:xfrm>
            <a:off x="2506828" y="6035040"/>
            <a:ext cx="457200" cy="731520"/>
          </a:xfrm>
          <a:prstGeom prst="rect">
            <a:avLst/>
          </a:prstGeom>
        </p:spPr>
      </p:pic>
      <p:pic>
        <p:nvPicPr>
          <p:cNvPr id="41" name="parked car 2-4" descr="preencoded.png">    </p:cNvPr>
          <p:cNvPicPr>
            <a:picLocks noChangeAspect="1"/>
          </p:cNvPicPr>
          <p:nvPr/>
        </p:nvPicPr>
        <p:blipFill>
          <a:blip r:embed="rId14">
            <a:alphaModFix amt="12000"/>
          </a:blip>
          <a:stretch>
            <a:fillRect/>
          </a:stretch>
        </p:blipFill>
        <p:spPr>
          <a:xfrm>
            <a:off x="3466948" y="6035040"/>
            <a:ext cx="457200" cy="731520"/>
          </a:xfrm>
          <a:prstGeom prst="rect">
            <a:avLst/>
          </a:prstGeom>
        </p:spPr>
      </p:pic>
      <p:pic>
        <p:nvPicPr>
          <p:cNvPr id="42" name="parked car 2-5" descr="preencoded.png">    </p:cNvPr>
          <p:cNvPicPr>
            <a:picLocks noChangeAspect="1"/>
          </p:cNvPicPr>
          <p:nvPr/>
        </p:nvPicPr>
        <p:blipFill>
          <a:blip r:embed="rId15">
            <a:alphaModFix amt="12000"/>
          </a:blip>
          <a:stretch>
            <a:fillRect/>
          </a:stretch>
        </p:blipFill>
        <p:spPr>
          <a:xfrm>
            <a:off x="4427068" y="6035040"/>
            <a:ext cx="457200" cy="731520"/>
          </a:xfrm>
          <a:prstGeom prst="rect">
            <a:avLst/>
          </a:prstGeom>
        </p:spPr>
      </p:pic>
      <p:pic>
        <p:nvPicPr>
          <p:cNvPr id="43" name="parked car 2-6" descr="preencoded.png">    </p:cNvPr>
          <p:cNvPicPr>
            <a:picLocks noChangeAspect="1"/>
          </p:cNvPicPr>
          <p:nvPr/>
        </p:nvPicPr>
        <p:blipFill>
          <a:blip r:embed="rId16">
            <a:alphaModFix amt="12000"/>
          </a:blip>
          <a:stretch>
            <a:fillRect/>
          </a:stretch>
        </p:blipFill>
        <p:spPr>
          <a:xfrm>
            <a:off x="5387188" y="6035040"/>
            <a:ext cx="457200" cy="731520"/>
          </a:xfrm>
          <a:prstGeom prst="rect">
            <a:avLst/>
          </a:prstGeom>
        </p:spPr>
      </p:pic>
      <p:pic>
        <p:nvPicPr>
          <p:cNvPr id="44" name="parked car 2-7" descr="preencoded.png">    </p:cNvPr>
          <p:cNvPicPr>
            <a:picLocks noChangeAspect="1"/>
          </p:cNvPicPr>
          <p:nvPr/>
        </p:nvPicPr>
        <p:blipFill>
          <a:blip r:embed="rId17">
            <a:alphaModFix amt="12000"/>
          </a:blip>
          <a:stretch>
            <a:fillRect/>
          </a:stretch>
        </p:blipFill>
        <p:spPr>
          <a:xfrm>
            <a:off x="6347308" y="6035040"/>
            <a:ext cx="457200" cy="731520"/>
          </a:xfrm>
          <a:prstGeom prst="rect">
            <a:avLst/>
          </a:prstGeom>
        </p:spPr>
      </p:pic>
      <p:sp>
        <p:nvSpPr>
          <p:cNvPr id="45" name="free spot ring"/>
          <p:cNvSpPr/>
          <p:nvPr/>
        </p:nvSpPr>
        <p:spPr>
          <a:xfrm>
            <a:off x="7234276" y="6099048"/>
            <a:ext cx="603504" cy="603504"/>
          </a:xfrm>
          <a:prstGeom prst="ellipse">
            <a:avLst/>
          </a:prstGeom>
          <a:solidFill>
            <a:schemeClr val="accent2">
              <a:alpha val="15000"/>
            </a:schemeClr>
          </a:solidFill>
          <a:ln w="15875">
            <a:solidFill>
              <a:srgbClr val="F2A93B">
                <a:alpha val="60000"/>
              </a:srgbClr>
            </a:solidFill>
            <a:prstDash val="solid"/>
          </a:ln>
        </p:spPr>
      </p:sp>
      <p:sp>
        <p:nvSpPr>
          <p:cNvPr id="46" name="free spot dot"/>
          <p:cNvSpPr/>
          <p:nvPr/>
        </p:nvSpPr>
        <p:spPr>
          <a:xfrm>
            <a:off x="7417156" y="6281928"/>
            <a:ext cx="237744" cy="237744"/>
          </a:xfrm>
          <a:prstGeom prst="ellipse">
            <a:avLst/>
          </a:prstGeom>
          <a:solidFill>
            <a:schemeClr val="accent2"/>
          </a:solidFill>
          <a:ln/>
        </p:spPr>
      </p:sp>
      <p:pic>
        <p:nvPicPr>
          <p:cNvPr id="47" name="parked car 2-9" descr="preencoded.png">    </p:cNvPr>
          <p:cNvPicPr>
            <a:picLocks noChangeAspect="1"/>
          </p:cNvPicPr>
          <p:nvPr/>
        </p:nvPicPr>
        <p:blipFill>
          <a:blip r:embed="rId18">
            <a:alphaModFix amt="12000"/>
          </a:blip>
          <a:stretch>
            <a:fillRect/>
          </a:stretch>
        </p:blipFill>
        <p:spPr>
          <a:xfrm>
            <a:off x="8267548" y="6035040"/>
            <a:ext cx="457200" cy="731520"/>
          </a:xfrm>
          <a:prstGeom prst="rect">
            <a:avLst/>
          </a:prstGeom>
        </p:spPr>
      </p:pic>
      <p:pic>
        <p:nvPicPr>
          <p:cNvPr id="48" name="parked car 2-10" descr="preencoded.png">    </p:cNvPr>
          <p:cNvPicPr>
            <a:picLocks noChangeAspect="1"/>
          </p:cNvPicPr>
          <p:nvPr/>
        </p:nvPicPr>
        <p:blipFill>
          <a:blip r:embed="rId19">
            <a:alphaModFix amt="12000"/>
          </a:blip>
          <a:stretch>
            <a:fillRect/>
          </a:stretch>
        </p:blipFill>
        <p:spPr>
          <a:xfrm>
            <a:off x="9227668" y="6035040"/>
            <a:ext cx="457200" cy="731520"/>
          </a:xfrm>
          <a:prstGeom prst="rect">
            <a:avLst/>
          </a:prstGeom>
        </p:spPr>
      </p:pic>
      <p:pic>
        <p:nvPicPr>
          <p:cNvPr id="49" name="parked car 2-11" descr="preencoded.png">    </p:cNvPr>
          <p:cNvPicPr>
            <a:picLocks noChangeAspect="1"/>
          </p:cNvPicPr>
          <p:nvPr/>
        </p:nvPicPr>
        <p:blipFill>
          <a:blip r:embed="rId20">
            <a:alphaModFix amt="12000"/>
          </a:blip>
          <a:stretch>
            <a:fillRect/>
          </a:stretch>
        </p:blipFill>
        <p:spPr>
          <a:xfrm>
            <a:off x="10187788" y="6035040"/>
            <a:ext cx="457200" cy="731520"/>
          </a:xfrm>
          <a:prstGeom prst="rect">
            <a:avLst/>
          </a:prstGeom>
        </p:spPr>
      </p:pic>
      <p:pic>
        <p:nvPicPr>
          <p:cNvPr id="50" name="parked car 2-12" descr="preencoded.png">    </p:cNvPr>
          <p:cNvPicPr>
            <a:picLocks noChangeAspect="1"/>
          </p:cNvPicPr>
          <p:nvPr/>
        </p:nvPicPr>
        <p:blipFill>
          <a:blip r:embed="rId21">
            <a:alphaModFix amt="12000"/>
          </a:blip>
          <a:stretch>
            <a:fillRect/>
          </a:stretch>
        </p:blipFill>
        <p:spPr>
          <a:xfrm>
            <a:off x="11147908" y="6035040"/>
            <a:ext cx="457200" cy="731520"/>
          </a:xfrm>
          <a:prstGeom prst="rect">
            <a:avLst/>
          </a:prstGeom>
        </p:spPr>
      </p:pic>
      <p:pic>
        <p:nvPicPr>
          <p:cNvPr id="51" name="logo mark" descr="ParkDet logo">    </p:cNvPr>
          <p:cNvPicPr>
            <a:picLocks noChangeAspect="1"/>
          </p:cNvPicPr>
          <p:nvPr/>
        </p:nvPicPr>
        <p:blipFill>
          <a:blip r:embed="rId22"/>
          <a:stretch>
            <a:fillRect/>
          </a:stretch>
        </p:blipFill>
        <p:spPr>
          <a:xfrm>
            <a:off x="4513936" y="1920240"/>
            <a:ext cx="868680" cy="868680"/>
          </a:xfrm>
          <a:prstGeom prst="rect">
            <a:avLst/>
          </a:prstGeom>
        </p:spPr>
      </p:pic>
      <p:sp>
        <p:nvSpPr>
          <p:cNvPr id="52" name="logo wordmark"/>
          <p:cNvSpPr txBox="1"/>
          <p:nvPr/>
        </p:nvSpPr>
        <p:spPr>
          <a:xfrm>
            <a:off x="5565496" y="1920240"/>
            <a:ext cx="2478024" cy="868680"/>
          </a:xfrm>
          <a:prstGeom prst="rect">
            <a:avLst/>
          </a:prstGeom>
          <a:noFill/>
          <a:ln/>
        </p:spPr>
        <p:txBody>
          <a:bodyPr wrap="square" lIns="0" tIns="0" rIns="0" bIns="0" rtlCol="0" anchor="ctr"/>
          <a:lstStyle/>
          <a:p>
            <a:pPr indent="0" marL="0">
              <a:buNone/>
            </a:pPr>
            <a:r>
              <a:rPr lang="en-US" sz="4400" b="1" dirty="0">
                <a:solidFill>
                  <a:schemeClr val="bg1"/>
                </a:solidFill>
              </a:rPr>
              <a:t>ParkDet</a:t>
            </a:r>
            <a:endParaRPr lang="en-US" sz="4400" dirty="0"/>
          </a:p>
        </p:txBody>
      </p:sp>
      <p:sp>
        <p:nvSpPr>
          <p:cNvPr id="53" name="thanks"/>
          <p:cNvSpPr txBox="1"/>
          <p:nvPr/>
        </p:nvSpPr>
        <p:spPr>
          <a:xfrm>
            <a:off x="548640" y="3017520"/>
            <a:ext cx="11094415" cy="1051560"/>
          </a:xfrm>
          <a:prstGeom prst="rect">
            <a:avLst/>
          </a:prstGeom>
          <a:noFill/>
          <a:ln/>
        </p:spPr>
        <p:txBody>
          <a:bodyPr wrap="square" lIns="0" tIns="0" rIns="0" bIns="0" rtlCol="0" anchor="ctr"/>
          <a:lstStyle/>
          <a:p>
            <a:pPr algn="ctr" indent="0" marL="0">
              <a:buNone/>
            </a:pPr>
            <a:r>
              <a:rPr lang="en-US" sz="6000" b="1" dirty="0">
                <a:solidFill>
                  <a:schemeClr val="bg1"/>
                </a:solidFill>
              </a:rPr>
              <a:t>Thanks for watching</a:t>
            </a:r>
            <a:endParaRPr lang="en-US" sz="6000" dirty="0"/>
          </a:p>
        </p:txBody>
      </p:sp>
      <p:sp>
        <p:nvSpPr>
          <p:cNvPr id="54" name="divider"/>
          <p:cNvSpPr/>
          <p:nvPr/>
        </p:nvSpPr>
        <p:spPr>
          <a:xfrm>
            <a:off x="5684368" y="4270248"/>
            <a:ext cx="822960" cy="0"/>
          </a:xfrm>
          <a:prstGeom prst="line">
            <a:avLst/>
          </a:prstGeom>
          <a:noFill/>
          <a:ln w="31750">
            <a:solidFill>
              <a:srgbClr val="F2A93B"/>
            </a:solidFill>
            <a:prstDash val="solid"/>
          </a:ln>
        </p:spPr>
      </p:sp>
      <p:sp>
        <p:nvSpPr>
          <p:cNvPr id="55" name="tagline"/>
          <p:cNvSpPr txBox="1"/>
          <p:nvPr/>
        </p:nvSpPr>
        <p:spPr>
          <a:xfrm>
            <a:off x="548640" y="4453128"/>
            <a:ext cx="11094415" cy="457200"/>
          </a:xfrm>
          <a:prstGeom prst="rect">
            <a:avLst/>
          </a:prstGeom>
          <a:noFill/>
          <a:ln/>
        </p:spPr>
        <p:txBody>
          <a:bodyPr wrap="square" lIns="0" tIns="0" rIns="0" bIns="0" rtlCol="0" anchor="ctr"/>
          <a:lstStyle/>
          <a:p>
            <a:pPr algn="ctr" indent="0" marL="0">
              <a:buNone/>
            </a:pPr>
            <a:r>
              <a:rPr lang="en-US" sz="2200" b="1" dirty="0">
                <a:solidFill>
                  <a:schemeClr val="accent2"/>
                </a:solidFill>
              </a:rPr>
              <a:t>Park</a:t>
            </a:r>
            <a:pPr algn="ctr" indent="0" marL="0">
              <a:buNone/>
            </a:pPr>
            <a:r>
              <a:rPr lang="en-US" sz="2200" dirty="0">
                <a:solidFill>
                  <a:schemeClr val="accent5"/>
                </a:solidFill>
              </a:rPr>
              <a:t>ing </a:t>
            </a:r>
            <a:pPr algn="ctr" indent="0" marL="0">
              <a:buNone/>
            </a:pPr>
            <a:r>
              <a:rPr lang="en-US" sz="2200" b="1" dirty="0">
                <a:solidFill>
                  <a:schemeClr val="accent2"/>
                </a:solidFill>
              </a:rPr>
              <a:t>Det</a:t>
            </a:r>
            <a:pPr algn="ctr" indent="0" marL="0">
              <a:buNone/>
            </a:pPr>
            <a:r>
              <a:rPr lang="en-US" sz="2200" dirty="0">
                <a:solidFill>
                  <a:schemeClr val="accent5"/>
                </a:solidFill>
              </a:rPr>
              <a:t>ector</a:t>
            </a:r>
            <a:pPr algn="ctr" indent="0" marL="0">
              <a:buNone/>
            </a:pPr>
            <a:r>
              <a:rPr lang="en-US" sz="2200" dirty="0">
                <a:solidFill>
                  <a:schemeClr val="accent5"/>
                </a:solidFill>
              </a:rPr>
              <a:t>  ·  Free parking spots, seen live</a:t>
            </a:r>
            <a:endParaRPr lang="en-US" sz="2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theme/theme1.xml><?xml version="1.0" encoding="utf-8"?>
<a:theme xmlns:a="http://schemas.openxmlformats.org/drawingml/2006/main" name="ParkDet">
  <a:themeElements>
    <a:clrScheme name="ParkDet">
      <a:dk1>
        <a:srgbClr val="0F1A2B"/>
      </a:dk1>
      <a:lt1>
        <a:srgbClr val="FFFFFF"/>
      </a:lt1>
      <a:dk2>
        <a:srgbClr val="44546A"/>
      </a:dk2>
      <a:lt2>
        <a:srgbClr val="F4F7FB"/>
      </a:lt2>
      <a:accent1>
        <a:srgbClr val="1F5FE0"/>
      </a:accent1>
      <a:accent2>
        <a:srgbClr val="F2A93B"/>
      </a:accent2>
      <a:accent3>
        <a:srgbClr val="18A058"/>
      </a:accent3>
      <a:accent4>
        <a:srgbClr val="D03050"/>
      </a:accent4>
      <a:accent5>
        <a:srgbClr val="BFCBDD"/>
      </a:accent5>
      <a:accent6>
        <a:srgbClr val="E6ECF4"/>
      </a:accent6>
      <a:hlink>
        <a:srgbClr val="1F5FE0"/>
      </a:hlink>
      <a:folHlink>
        <a:srgbClr val="6B7A90"/>
      </a:folHlink>
    </a:clrScheme>
    <a:fontScheme name="ParkDe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ParkDet — CV Track Defence</dc:title>
  <dc:subject>PptxGenJS Presentation</dc:subject>
  <dc:creator>Team ALL-IN-ONE</dc:creator>
  <cp:lastModifiedBy>Team ALL-IN-ONE</cp:lastModifiedBy>
  <cp:revision>1</cp:revision>
  <dcterms:created xsi:type="dcterms:W3CDTF">2026-10-11T06:20:02Z</dcterms:created>
  <dcterms:modified xsi:type="dcterms:W3CDTF">2026-10-11T06:20:02Z</dcterms:modified>
</cp:coreProperties>
</file>