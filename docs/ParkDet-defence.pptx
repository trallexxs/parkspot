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352f5dbe-d5ae-e188-7e50-f2ab9aaec0ef}">
          <p14:sldIdLst>
            <p14:sldId id="256"/>
            <p14:sldId id="257"/>
          </p14:sldIdLst>
        </p14:section>
        <p14:section name="Demo (2:20)" id="{8aa4f189-41ba-1dd2-34ba-ea5bab81427f}">
          <p14:sldIdLst>
            <p14:sldId id="258"/>
            <p14:sldId id="259"/>
          </p14:sldIdLst>
        </p14:section>
        <p14:section name="Technology (1:25)" id="{9190ac55-e7ba-c580-3290-a6b74b2242c2}">
          <p14:sldIdLst>
            <p14:sldId id="260"/>
          </p14:sldIdLst>
        </p14:section>
        <p14:section name="Competitors (0:45)" id="{7471345d-982f-3ba5-26c7-66f40d9e9b53}">
          <p14:sldIdLst>
            <p14:sldId id="261"/>
          </p14:sldIdLst>
        </p14:section>
        <p14:section name="Business and pilot (1:20)" id="{a10778e7-cb90-0443-a488-46585a8aca76}">
          <p14:sldIdLst>
            <p14:sldId id="262"/>
          </p14:sldIdLst>
        </p14:section>
        <p14:section name="Close (0:10)" id="{779fbbbf-8d99-86dd-785b-b8d800726d0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(The phone shows our app's live spot map from a test run: green = free, yellow = reserved, red = taken (a car is parked)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scan the QR code at the gate and the first hour is paid automatically.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3:00–3:20
"Here are the app's main screens: nearby lots with live free spots and Navigate; Find me a spot, which picks the nearest free spot; the ticket with its QR code and a countdown of how long the spot is held; the walk-in page after scanning the gate QR with the round button in the menu: the first hour is already paid, and you choose a spot or just park; and the entrance screen." Hand over to Amirxon.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3:20–4:45
"How it works. A phone at the lot sends a picture every few seconds.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5:30–6:50
"How we earn: drivers pay 5,000 so'm for the first hour and 2,000 so'm for each extra hour. Half of every payment goes to the parking lot, half is our income. We work with malls, business centres, universities, dealerships and paid city lots. The lot gets paid bookings, no gate staff for walk-ins, and data on how the lot is used. Our cost per camera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Replace every [bracket] with a sourced number, or say "this is our hypothesis, to be validated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6:50–7:00 (finish by 6:55)
"Thanks for watching — we're happy to take your questions."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slideLayout" Target="../slideLayouts/slideLayout4.xml"/><Relationship Id="rId2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pic>
        <p:nvPicPr>
          <p:cNvPr id="7" name="photo Bahodurov Bahridin" descr="Bahodurov Bahridin">    </p:cNvPr>
          <p:cNvPicPr>
            <a:picLocks noChangeAspect="1"/>
          </p:cNvPicPr>
          <p:nvPr/>
        </p:nvPicPr>
        <p:blipFill>
          <a:blip r:embed="rId1"/>
          <a:stretch>
            <a:fillRect/>
          </a:stretch>
        </p:blipFill>
        <p:spPr>
          <a:xfrm>
            <a:off x="548640" y="4434840"/>
            <a:ext cx="777240" cy="777240"/>
          </a:xfrm>
          <a:prstGeom prst="ellipse">
            <a:avLst/>
          </a:prstGeom>
        </p:spPr>
      </p:pic>
      <p:sp>
        <p:nvSpPr>
          <p:cNvPr id="8" name="photo ring 1"/>
          <p:cNvSpPr/>
          <p:nvPr/>
        </p:nvSpPr>
        <p:spPr>
          <a:xfrm>
            <a:off x="548640" y="4434840"/>
            <a:ext cx="777240" cy="777240"/>
          </a:xfrm>
          <a:prstGeom prst="ellipse">
            <a:avLst/>
          </a:prstGeom>
          <a:ln w="25400">
            <a:solidFill>
              <a:srgbClr val="F2A93B"/>
            </a:solidFill>
            <a:prstDash val="solid"/>
          </a:ln>
        </p:spPr>
      </p:sp>
      <p:sp>
        <p:nvSpPr>
          <p:cNvPr id="9"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pic>
        <p:nvPicPr>
          <p:cNvPr id="10" name="photo Gopurjonov Bobur" descr="Gopurjonov Bobur">    </p:cNvPr>
          <p:cNvPicPr>
            <a:picLocks noChangeAspect="1"/>
          </p:cNvPicPr>
          <p:nvPr/>
        </p:nvPicPr>
        <p:blipFill>
          <a:blip r:embed="rId2"/>
          <a:stretch>
            <a:fillRect/>
          </a:stretch>
        </p:blipFill>
        <p:spPr>
          <a:xfrm>
            <a:off x="3063240" y="4434840"/>
            <a:ext cx="777240" cy="777240"/>
          </a:xfrm>
          <a:prstGeom prst="ellipse">
            <a:avLst/>
          </a:prstGeom>
        </p:spPr>
      </p:pic>
      <p:sp>
        <p:nvSpPr>
          <p:cNvPr id="11" name="photo ring 2"/>
          <p:cNvSpPr/>
          <p:nvPr/>
        </p:nvSpPr>
        <p:spPr>
          <a:xfrm>
            <a:off x="3063240" y="4434840"/>
            <a:ext cx="777240" cy="777240"/>
          </a:xfrm>
          <a:prstGeom prst="ellipse">
            <a:avLst/>
          </a:prstGeom>
          <a:ln w="25400">
            <a:solidFill>
              <a:srgbClr val="F2A93B"/>
            </a:solidFill>
            <a:prstDash val="solid"/>
          </a:ln>
        </p:spPr>
      </p:sp>
      <p:sp>
        <p:nvSpPr>
          <p:cNvPr id="12"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pic>
        <p:nvPicPr>
          <p:cNvPr id="13" name="photo Shomurodov Amirxon" descr="Shomurodov Amirxon">    </p:cNvPr>
          <p:cNvPicPr>
            <a:picLocks noChangeAspect="1"/>
          </p:cNvPicPr>
          <p:nvPr/>
        </p:nvPicPr>
        <p:blipFill>
          <a:blip r:embed="rId3"/>
          <a:stretch>
            <a:fillRect/>
          </a:stretch>
        </p:blipFill>
        <p:spPr>
          <a:xfrm>
            <a:off x="5577840" y="4434840"/>
            <a:ext cx="777240" cy="777240"/>
          </a:xfrm>
          <a:prstGeom prst="ellipse">
            <a:avLst/>
          </a:prstGeom>
        </p:spPr>
      </p:pic>
      <p:sp>
        <p:nvSpPr>
          <p:cNvPr id="14" name="photo ring 3"/>
          <p:cNvSpPr/>
          <p:nvPr/>
        </p:nvSpPr>
        <p:spPr>
          <a:xfrm>
            <a:off x="5577840" y="4434840"/>
            <a:ext cx="777240" cy="777240"/>
          </a:xfrm>
          <a:prstGeom prst="ellipse">
            <a:avLst/>
          </a:prstGeom>
          <a:ln w="25400">
            <a:solidFill>
              <a:srgbClr val="F2A93B"/>
            </a:solidFill>
            <a:prstDash val="solid"/>
          </a:ln>
        </p:spPr>
      </p:sp>
      <p:sp>
        <p:nvSpPr>
          <p:cNvPr id="15"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6" name="phone frame"/>
          <p:cNvSpPr/>
          <p:nvPr/>
        </p:nvSpPr>
        <p:spPr>
          <a:xfrm>
            <a:off x="9369924" y="548640"/>
            <a:ext cx="2288676" cy="5760720"/>
          </a:xfrm>
          <a:prstGeom prst="roundRect">
            <a:avLst>
              <a:gd name="adj" fmla="val 9988"/>
            </a:avLst>
          </a:prstGeom>
          <a:solidFill>
            <a:schemeClr val="bg1">
              <a:alpha val="12000"/>
            </a:schemeClr>
          </a:solidFill>
          <a:ln/>
        </p:spPr>
      </p:sp>
      <p:pic>
        <p:nvPicPr>
          <p:cNvPr id="17" name="app screenshot" descr="ParkDet driver app: a lot's live spot map with free (green), reserved (yellow) and taken (red) spots">    </p:cNvPr>
          <p:cNvPicPr>
            <a:picLocks noChangeAspect="1"/>
          </p:cNvPicPr>
          <p:nvPr/>
        </p:nvPicPr>
        <p:blipFill>
          <a:blip r:embed="rId4"/>
          <a:stretch>
            <a:fillRect/>
          </a:stretch>
        </p:blipFill>
        <p:spPr>
          <a:xfrm>
            <a:off x="9516228" y="694944"/>
            <a:ext cx="1996068" cy="5029200"/>
          </a:xfrm>
          <a:prstGeom prst="rect">
            <a:avLst/>
          </a:prstGeom>
        </p:spPr>
      </p:pic>
      <p:sp>
        <p:nvSpPr>
          <p:cNvPr id="18" name="screenshot caption"/>
          <p:cNvSpPr txBox="1"/>
          <p:nvPr/>
        </p:nvSpPr>
        <p:spPr>
          <a:xfrm>
            <a:off x="9369924" y="5788152"/>
            <a:ext cx="2288676"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rgbClr val="18A058"/>
                </a:solidFill>
              </a:rPr>
              <a:t>● </a:t>
            </a:r>
            <a:pPr algn="ctr" indent="0" marL="0">
              <a:buNone/>
            </a:pPr>
            <a:r>
              <a:rPr lang="en-US" sz="1100" dirty="0">
                <a:solidFill>
                  <a:schemeClr val="accent5"/>
                </a:solidFill>
              </a:rPr>
              <a:t>free   </a:t>
            </a:r>
            <a:pPr algn="ctr" indent="0" marL="0">
              <a:buNone/>
            </a:pPr>
            <a:r>
              <a:rPr lang="en-US" sz="1100" dirty="0">
                <a:solidFill>
                  <a:srgbClr val="EAB308"/>
                </a:solidFill>
              </a:rPr>
              <a:t>● </a:t>
            </a:r>
            <a:pPr algn="ctr" indent="0" marL="0">
              <a:buNone/>
            </a:pPr>
            <a:r>
              <a:rPr lang="en-US" sz="1100" dirty="0">
                <a:solidFill>
                  <a:schemeClr val="accent5"/>
                </a:solidFill>
              </a:rPr>
              <a:t>reserved   </a:t>
            </a:r>
            <a:pPr algn="ctr" indent="0" marL="0">
              <a:buNone/>
            </a:pPr>
            <a:r>
              <a:rPr lang="en-US" sz="1100" dirty="0">
                <a:solidFill>
                  <a:srgbClr val="E5484D"/>
                </a:solidFill>
              </a:rPr>
              <a:t>● </a:t>
            </a:r>
            <a:pPr algn="ctr" indent="0" marL="0">
              <a:buNone/>
            </a:pPr>
            <a:r>
              <a:rPr lang="en-US" sz="1100" dirty="0">
                <a:solidFill>
                  <a:schemeClr val="accent5"/>
                </a:solidFill>
              </a:rPr>
              <a:t>taken</a:t>
            </a:r>
            <a:endParaRPr lang="en-US" sz="1100" dirty="0"/>
          </a:p>
        </p:txBody>
      </p:sp>
      <p:sp>
        <p:nvSpPr>
          <p:cNvPr id="19"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paid automatically</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PRODUCT DEMO</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app, screen by screen</a:t>
            </a:r>
            <a:endParaRPr lang="en-US" sz="3200" dirty="0"/>
          </a:p>
        </p:txBody>
      </p:sp>
      <p:sp>
        <p:nvSpPr>
          <p:cNvPr id="4" name="Nearby lots tile"/>
          <p:cNvSpPr/>
          <p:nvPr/>
        </p:nvSpPr>
        <p:spPr>
          <a:xfrm>
            <a:off x="548640" y="1600200"/>
            <a:ext cx="2036003" cy="3246120"/>
          </a:xfrm>
          <a:prstGeom prst="roundRect">
            <a:avLst>
              <a:gd name="adj" fmla="val 4491"/>
            </a:avLst>
          </a:prstGeom>
          <a:solidFill>
            <a:schemeClr val="accent6"/>
          </a:solidFill>
          <a:ln/>
        </p:spPr>
      </p:sp>
      <p:pic>
        <p:nvPicPr>
          <p:cNvPr id="5" name="Nearby lots screenshot" descr="Nearby lots screen of the ParkDet app">    </p:cNvPr>
          <p:cNvPicPr>
            <a:picLocks noChangeAspect="1"/>
          </p:cNvPicPr>
          <p:nvPr/>
        </p:nvPicPr>
        <p:blipFill>
          <a:blip r:embed="rId1"/>
          <a:stretch>
            <a:fillRect/>
          </a:stretch>
        </p:blipFill>
        <p:spPr>
          <a:xfrm>
            <a:off x="658368" y="2484971"/>
            <a:ext cx="1816547" cy="1476579"/>
          </a:xfrm>
          <a:prstGeom prst="rect">
            <a:avLst/>
          </a:prstGeom>
        </p:spPr>
      </p:pic>
      <p:sp>
        <p:nvSpPr>
          <p:cNvPr id="6" name="Nearby lots title"/>
          <p:cNvSpPr txBox="1"/>
          <p:nvPr/>
        </p:nvSpPr>
        <p:spPr>
          <a:xfrm>
            <a:off x="548640"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Nearby lots</a:t>
            </a:r>
            <a:endParaRPr lang="en-US" sz="1500" dirty="0"/>
          </a:p>
        </p:txBody>
      </p:sp>
      <p:sp>
        <p:nvSpPr>
          <p:cNvPr id="7" name="Nearby lots caption"/>
          <p:cNvSpPr txBox="1"/>
          <p:nvPr/>
        </p:nvSpPr>
        <p:spPr>
          <a:xfrm>
            <a:off x="548640"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Live free spots, distance and price; Navigate opens Google Maps or Yandex</a:t>
            </a:r>
            <a:endParaRPr lang="en-US" sz="1200" dirty="0"/>
          </a:p>
        </p:txBody>
      </p:sp>
      <p:sp>
        <p:nvSpPr>
          <p:cNvPr id="8" name="Find me a spot tile"/>
          <p:cNvSpPr/>
          <p:nvPr/>
        </p:nvSpPr>
        <p:spPr>
          <a:xfrm>
            <a:off x="2813243" y="1600200"/>
            <a:ext cx="2036003" cy="3246120"/>
          </a:xfrm>
          <a:prstGeom prst="roundRect">
            <a:avLst>
              <a:gd name="adj" fmla="val 4491"/>
            </a:avLst>
          </a:prstGeom>
          <a:solidFill>
            <a:schemeClr val="accent6"/>
          </a:solidFill>
          <a:ln/>
        </p:spPr>
      </p:sp>
      <p:pic>
        <p:nvPicPr>
          <p:cNvPr id="9" name="Find me a spot screenshot" descr="Find me a spot screen of the ParkDet app">    </p:cNvPr>
          <p:cNvPicPr>
            <a:picLocks noChangeAspect="1"/>
          </p:cNvPicPr>
          <p:nvPr/>
        </p:nvPicPr>
        <p:blipFill>
          <a:blip r:embed="rId2"/>
          <a:stretch>
            <a:fillRect/>
          </a:stretch>
        </p:blipFill>
        <p:spPr>
          <a:xfrm>
            <a:off x="3046926" y="1709928"/>
            <a:ext cx="1568636" cy="3026664"/>
          </a:xfrm>
          <a:prstGeom prst="rect">
            <a:avLst/>
          </a:prstGeom>
        </p:spPr>
      </p:pic>
      <p:sp>
        <p:nvSpPr>
          <p:cNvPr id="10" name="Find me a spot title"/>
          <p:cNvSpPr txBox="1"/>
          <p:nvPr/>
        </p:nvSpPr>
        <p:spPr>
          <a:xfrm>
            <a:off x="2813243"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Find me a spot</a:t>
            </a:r>
            <a:endParaRPr lang="en-US" sz="1500" dirty="0"/>
          </a:p>
        </p:txBody>
      </p:sp>
      <p:sp>
        <p:nvSpPr>
          <p:cNvPr id="11" name="Find me a spot caption"/>
          <p:cNvSpPr txBox="1"/>
          <p:nvPr/>
        </p:nvSpPr>
        <p:spPr>
          <a:xfrm>
            <a:off x="2813243"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One tap: the nearest free spot and directions</a:t>
            </a:r>
            <a:endParaRPr lang="en-US" sz="1200" dirty="0"/>
          </a:p>
        </p:txBody>
      </p:sp>
      <p:sp>
        <p:nvSpPr>
          <p:cNvPr id="12" name="Booking ticket tile"/>
          <p:cNvSpPr/>
          <p:nvPr/>
        </p:nvSpPr>
        <p:spPr>
          <a:xfrm>
            <a:off x="5077846" y="1600200"/>
            <a:ext cx="2036003" cy="3246120"/>
          </a:xfrm>
          <a:prstGeom prst="roundRect">
            <a:avLst>
              <a:gd name="adj" fmla="val 4491"/>
            </a:avLst>
          </a:prstGeom>
          <a:solidFill>
            <a:schemeClr val="accent6"/>
          </a:solidFill>
          <a:ln/>
        </p:spPr>
      </p:sp>
      <p:pic>
        <p:nvPicPr>
          <p:cNvPr id="13" name="Booking ticket screenshot" descr="Booking ticket screen of the ParkDet app">    </p:cNvPr>
          <p:cNvPicPr>
            <a:picLocks noChangeAspect="1"/>
          </p:cNvPicPr>
          <p:nvPr/>
        </p:nvPicPr>
        <p:blipFill>
          <a:blip r:embed="rId3"/>
          <a:stretch>
            <a:fillRect/>
          </a:stretch>
        </p:blipFill>
        <p:spPr>
          <a:xfrm>
            <a:off x="5278397" y="1709928"/>
            <a:ext cx="1634902" cy="3026664"/>
          </a:xfrm>
          <a:prstGeom prst="rect">
            <a:avLst/>
          </a:prstGeom>
        </p:spPr>
      </p:pic>
      <p:sp>
        <p:nvSpPr>
          <p:cNvPr id="14" name="Booking ticket title"/>
          <p:cNvSpPr txBox="1"/>
          <p:nvPr/>
        </p:nvSpPr>
        <p:spPr>
          <a:xfrm>
            <a:off x="5077846"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Booking ticket</a:t>
            </a:r>
            <a:endParaRPr lang="en-US" sz="1500" dirty="0"/>
          </a:p>
        </p:txBody>
      </p:sp>
      <p:sp>
        <p:nvSpPr>
          <p:cNvPr id="15" name="Booking ticket caption"/>
          <p:cNvSpPr txBox="1"/>
          <p:nvPr/>
        </p:nvSpPr>
        <p:spPr>
          <a:xfrm>
            <a:off x="5077846"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QR ticket and a countdown of the hold</a:t>
            </a:r>
            <a:endParaRPr lang="en-US" sz="1200" dirty="0"/>
          </a:p>
        </p:txBody>
      </p:sp>
      <p:sp>
        <p:nvSpPr>
          <p:cNvPr id="16" name="Walk-in tile"/>
          <p:cNvSpPr/>
          <p:nvPr/>
        </p:nvSpPr>
        <p:spPr>
          <a:xfrm>
            <a:off x="7342449" y="1600200"/>
            <a:ext cx="2036003" cy="3246120"/>
          </a:xfrm>
          <a:prstGeom prst="roundRect">
            <a:avLst>
              <a:gd name="adj" fmla="val 4491"/>
            </a:avLst>
          </a:prstGeom>
          <a:solidFill>
            <a:schemeClr val="accent6"/>
          </a:solidFill>
          <a:ln/>
        </p:spPr>
      </p:sp>
      <p:pic>
        <p:nvPicPr>
          <p:cNvPr id="17" name="Walk-in screenshot" descr="Walk-in screen of the ParkDet app">    </p:cNvPr>
          <p:cNvPicPr>
            <a:picLocks noChangeAspect="1"/>
          </p:cNvPicPr>
          <p:nvPr/>
        </p:nvPicPr>
        <p:blipFill>
          <a:blip r:embed="rId4"/>
          <a:stretch>
            <a:fillRect/>
          </a:stretch>
        </p:blipFill>
        <p:spPr>
          <a:xfrm>
            <a:off x="7452177" y="1986611"/>
            <a:ext cx="1816547" cy="2473299"/>
          </a:xfrm>
          <a:prstGeom prst="rect">
            <a:avLst/>
          </a:prstGeom>
        </p:spPr>
      </p:pic>
      <p:sp>
        <p:nvSpPr>
          <p:cNvPr id="18" name="Walk-in title"/>
          <p:cNvSpPr txBox="1"/>
          <p:nvPr/>
        </p:nvSpPr>
        <p:spPr>
          <a:xfrm>
            <a:off x="7342449"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Walk-in</a:t>
            </a:r>
            <a:endParaRPr lang="en-US" sz="1500" dirty="0"/>
          </a:p>
        </p:txBody>
      </p:sp>
      <p:sp>
        <p:nvSpPr>
          <p:cNvPr id="19" name="Walk-in caption"/>
          <p:cNvSpPr txBox="1"/>
          <p:nvPr/>
        </p:nvSpPr>
        <p:spPr>
          <a:xfrm>
            <a:off x="7342449"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Scan the gate QR: first hour paid automatically; choose a spot or just park</a:t>
            </a:r>
            <a:endParaRPr lang="en-US" sz="1200" dirty="0"/>
          </a:p>
        </p:txBody>
      </p:sp>
      <p:sp>
        <p:nvSpPr>
          <p:cNvPr id="20" name="Entrance screen tile"/>
          <p:cNvSpPr/>
          <p:nvPr/>
        </p:nvSpPr>
        <p:spPr>
          <a:xfrm>
            <a:off x="9607052" y="1600200"/>
            <a:ext cx="2036003" cy="3246120"/>
          </a:xfrm>
          <a:prstGeom prst="roundRect">
            <a:avLst>
              <a:gd name="adj" fmla="val 4491"/>
            </a:avLst>
          </a:prstGeom>
          <a:solidFill>
            <a:schemeClr val="accent6"/>
          </a:solidFill>
          <a:ln/>
        </p:spPr>
      </p:sp>
      <p:pic>
        <p:nvPicPr>
          <p:cNvPr id="21" name="Entrance screen screenshot" descr="Entrance screen of the ParkDet app">    </p:cNvPr>
          <p:cNvPicPr>
            <a:picLocks noChangeAspect="1"/>
          </p:cNvPicPr>
          <p:nvPr/>
        </p:nvPicPr>
        <p:blipFill>
          <a:blip r:embed="rId5"/>
          <a:stretch>
            <a:fillRect/>
          </a:stretch>
        </p:blipFill>
        <p:spPr>
          <a:xfrm>
            <a:off x="9716780" y="2712356"/>
            <a:ext cx="1816547" cy="1021808"/>
          </a:xfrm>
          <a:prstGeom prst="rect">
            <a:avLst/>
          </a:prstGeom>
        </p:spPr>
      </p:pic>
      <p:sp>
        <p:nvSpPr>
          <p:cNvPr id="22" name="Entrance screen title"/>
          <p:cNvSpPr txBox="1"/>
          <p:nvPr/>
        </p:nvSpPr>
        <p:spPr>
          <a:xfrm>
            <a:off x="9607052"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Entrance screen</a:t>
            </a:r>
            <a:endParaRPr lang="en-US" sz="1500" dirty="0"/>
          </a:p>
        </p:txBody>
      </p:sp>
      <p:sp>
        <p:nvSpPr>
          <p:cNvPr id="23" name="Entrance screen caption"/>
          <p:cNvSpPr txBox="1"/>
          <p:nvPr/>
        </p:nvSpPr>
        <p:spPr>
          <a:xfrm>
            <a:off x="9607052"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Free count and the nearest spot, big and simple</a:t>
            </a:r>
            <a:endParaRPr lang="en-US" sz="1200" dirty="0"/>
          </a:p>
        </p:txBody>
      </p:sp>
      <p:sp>
        <p:nvSpPr>
          <p:cNvPr id="24" name="screen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Screens from test runs of the app; payment is in test mode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2554148"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3175940" y="2377440"/>
            <a:ext cx="146304" cy="237744"/>
          </a:xfrm>
          <a:prstGeom prst="chevron">
            <a:avLst/>
          </a:prstGeom>
          <a:solidFill>
            <a:schemeClr val="accent1"/>
          </a:solidFill>
          <a:ln/>
        </p:spPr>
      </p:sp>
      <p:sp>
        <p:nvSpPr>
          <p:cNvPr id="10" name="2 detectors, CPU step"/>
          <p:cNvSpPr/>
          <p:nvPr/>
        </p:nvSpPr>
        <p:spPr>
          <a:xfrm>
            <a:off x="3395396" y="1810512"/>
            <a:ext cx="2554148" cy="1371600"/>
          </a:xfrm>
          <a:prstGeom prst="roundRect">
            <a:avLst>
              <a:gd name="adj" fmla="val 8000"/>
            </a:avLst>
          </a:prstGeom>
          <a:solidFill>
            <a:schemeClr val="bg1"/>
          </a:solidFill>
          <a:ln w="12700">
            <a:solidFill>
              <a:srgbClr val="E6ECF4"/>
            </a:solidFill>
            <a:prstDash val="solid"/>
          </a:ln>
        </p:spPr>
      </p:sp>
      <p:sp>
        <p:nvSpPr>
          <p:cNvPr id="11" name="2 detectors, CPU circle"/>
          <p:cNvSpPr/>
          <p:nvPr/>
        </p:nvSpPr>
        <p:spPr>
          <a:xfrm>
            <a:off x="3559988" y="1965960"/>
            <a:ext cx="438912" cy="438912"/>
          </a:xfrm>
          <a:prstGeom prst="ellipse">
            <a:avLst/>
          </a:prstGeom>
          <a:solidFill>
            <a:schemeClr val="accent1"/>
          </a:solidFill>
          <a:ln/>
        </p:spPr>
      </p:sp>
      <p:pic>
        <p:nvPicPr>
          <p:cNvPr id="12" name="2 detectors, CPU icon" descr="2 detectors, CPU">    </p:cNvPr>
          <p:cNvPicPr>
            <a:picLocks noChangeAspect="1"/>
          </p:cNvPicPr>
          <p:nvPr/>
        </p:nvPicPr>
        <p:blipFill>
          <a:blip r:embed="rId2"/>
          <a:stretch>
            <a:fillRect/>
          </a:stretch>
        </p:blipFill>
        <p:spPr>
          <a:xfrm>
            <a:off x="3665327" y="2071299"/>
            <a:ext cx="228234" cy="228234"/>
          </a:xfrm>
          <a:prstGeom prst="rect">
            <a:avLst/>
          </a:prstGeom>
        </p:spPr>
      </p:pic>
      <p:sp>
        <p:nvSpPr>
          <p:cNvPr id="13" name="2 detectors, CPU text"/>
          <p:cNvSpPr txBox="1"/>
          <p:nvPr/>
        </p:nvSpPr>
        <p:spPr>
          <a:xfrm>
            <a:off x="3559988"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4" name="flow arrow 2"/>
          <p:cNvSpPr/>
          <p:nvPr/>
        </p:nvSpPr>
        <p:spPr>
          <a:xfrm>
            <a:off x="6022696" y="2377440"/>
            <a:ext cx="146304" cy="237744"/>
          </a:xfrm>
          <a:prstGeom prst="chevron">
            <a:avLst/>
          </a:prstGeom>
          <a:solidFill>
            <a:schemeClr val="accent1"/>
          </a:solidFill>
          <a:ln/>
        </p:spPr>
      </p:sp>
      <p:sp>
        <p:nvSpPr>
          <p:cNvPr id="15" name="Spots + occupancy step"/>
          <p:cNvSpPr/>
          <p:nvPr/>
        </p:nvSpPr>
        <p:spPr>
          <a:xfrm>
            <a:off x="6242152" y="1810512"/>
            <a:ext cx="2554148" cy="1371600"/>
          </a:xfrm>
          <a:prstGeom prst="roundRect">
            <a:avLst>
              <a:gd name="adj" fmla="val 8000"/>
            </a:avLst>
          </a:prstGeom>
          <a:solidFill>
            <a:schemeClr val="bg1"/>
          </a:solidFill>
          <a:ln w="12700">
            <a:solidFill>
              <a:srgbClr val="E6ECF4"/>
            </a:solidFill>
            <a:prstDash val="solid"/>
          </a:ln>
        </p:spPr>
      </p:sp>
      <p:sp>
        <p:nvSpPr>
          <p:cNvPr id="16" name="Spots + occupancy circle"/>
          <p:cNvSpPr/>
          <p:nvPr/>
        </p:nvSpPr>
        <p:spPr>
          <a:xfrm>
            <a:off x="6406744" y="1965960"/>
            <a:ext cx="438912" cy="438912"/>
          </a:xfrm>
          <a:prstGeom prst="ellipse">
            <a:avLst/>
          </a:prstGeom>
          <a:solidFill>
            <a:schemeClr val="accent1"/>
          </a:solidFill>
          <a:ln/>
        </p:spPr>
      </p:sp>
      <p:pic>
        <p:nvPicPr>
          <p:cNvPr id="17" name="Spots + occupancy icon" descr="Spots + occupancy">    </p:cNvPr>
          <p:cNvPicPr>
            <a:picLocks noChangeAspect="1"/>
          </p:cNvPicPr>
          <p:nvPr/>
        </p:nvPicPr>
        <p:blipFill>
          <a:blip r:embed="rId3"/>
          <a:stretch>
            <a:fillRect/>
          </a:stretch>
        </p:blipFill>
        <p:spPr>
          <a:xfrm>
            <a:off x="6512082" y="2071299"/>
            <a:ext cx="228234" cy="228234"/>
          </a:xfrm>
          <a:prstGeom prst="rect">
            <a:avLst/>
          </a:prstGeom>
        </p:spPr>
      </p:pic>
      <p:sp>
        <p:nvSpPr>
          <p:cNvPr id="18" name="Spots + occupancy text"/>
          <p:cNvSpPr txBox="1"/>
          <p:nvPr/>
        </p:nvSpPr>
        <p:spPr>
          <a:xfrm>
            <a:off x="6406744"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19" name="flow arrow 3"/>
          <p:cNvSpPr/>
          <p:nvPr/>
        </p:nvSpPr>
        <p:spPr>
          <a:xfrm>
            <a:off x="8869451" y="2377440"/>
            <a:ext cx="146304" cy="237744"/>
          </a:xfrm>
          <a:prstGeom prst="chevron">
            <a:avLst/>
          </a:prstGeom>
          <a:solidFill>
            <a:schemeClr val="accent1"/>
          </a:solidFill>
          <a:ln/>
        </p:spPr>
      </p:sp>
      <p:sp>
        <p:nvSpPr>
          <p:cNvPr id="20" name="Driver app step"/>
          <p:cNvSpPr/>
          <p:nvPr/>
        </p:nvSpPr>
        <p:spPr>
          <a:xfrm>
            <a:off x="9088907" y="1810512"/>
            <a:ext cx="2554148" cy="1371600"/>
          </a:xfrm>
          <a:prstGeom prst="roundRect">
            <a:avLst>
              <a:gd name="adj" fmla="val 8000"/>
            </a:avLst>
          </a:prstGeom>
          <a:solidFill>
            <a:schemeClr val="bg1"/>
          </a:solidFill>
          <a:ln w="12700">
            <a:solidFill>
              <a:srgbClr val="E6ECF4"/>
            </a:solidFill>
            <a:prstDash val="solid"/>
          </a:ln>
        </p:spPr>
      </p:sp>
      <p:sp>
        <p:nvSpPr>
          <p:cNvPr id="21" name="Driver app circle"/>
          <p:cNvSpPr/>
          <p:nvPr/>
        </p:nvSpPr>
        <p:spPr>
          <a:xfrm>
            <a:off x="9253499" y="1965960"/>
            <a:ext cx="438912" cy="438912"/>
          </a:xfrm>
          <a:prstGeom prst="ellipse">
            <a:avLst/>
          </a:prstGeom>
          <a:solidFill>
            <a:schemeClr val="accent1"/>
          </a:solidFill>
          <a:ln/>
        </p:spPr>
      </p:sp>
      <p:pic>
        <p:nvPicPr>
          <p:cNvPr id="22" name="Driver app icon" descr="Driver app">    </p:cNvPr>
          <p:cNvPicPr>
            <a:picLocks noChangeAspect="1"/>
          </p:cNvPicPr>
          <p:nvPr/>
        </p:nvPicPr>
        <p:blipFill>
          <a:blip r:embed="rId4"/>
          <a:stretch>
            <a:fillRect/>
          </a:stretch>
        </p:blipFill>
        <p:spPr>
          <a:xfrm>
            <a:off x="9358838" y="2071299"/>
            <a:ext cx="228234" cy="228234"/>
          </a:xfrm>
          <a:prstGeom prst="rect">
            <a:avLst/>
          </a:prstGeom>
        </p:spPr>
      </p:pic>
      <p:sp>
        <p:nvSpPr>
          <p:cNvPr id="23" name="Driver app text"/>
          <p:cNvSpPr txBox="1"/>
          <p:nvPr/>
        </p:nvSpPr>
        <p:spPr>
          <a:xfrm>
            <a:off x="9253499"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4" name="measured card"/>
          <p:cNvSpPr/>
          <p:nvPr/>
        </p:nvSpPr>
        <p:spPr>
          <a:xfrm>
            <a:off x="548640" y="3456432"/>
            <a:ext cx="5410048" cy="2103120"/>
          </a:xfrm>
          <a:prstGeom prst="roundRect">
            <a:avLst>
              <a:gd name="adj" fmla="val 5217"/>
            </a:avLst>
          </a:prstGeom>
          <a:solidFill>
            <a:schemeClr val="bg1"/>
          </a:solidFill>
          <a:ln w="12700">
            <a:solidFill>
              <a:srgbClr val="E6ECF4"/>
            </a:solidFill>
            <a:prstDash val="solid"/>
          </a:ln>
        </p:spPr>
      </p:sp>
      <p:sp>
        <p:nvSpPr>
          <p:cNvPr id="25" name="MEASURED label"/>
          <p:cNvSpPr txBox="1"/>
          <p:nvPr/>
        </p:nvSpPr>
        <p:spPr>
          <a:xfrm>
            <a:off x="822960"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26" name="Text 20"/>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27" name="Text 21"/>
          <p:cNvSpPr txBox="1"/>
          <p:nvPr/>
        </p:nvSpPr>
        <p:spPr>
          <a:xfrm>
            <a:off x="2194560" y="4023360"/>
            <a:ext cx="353552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28" name="Text 22"/>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29" name="Text 23"/>
          <p:cNvSpPr txBox="1"/>
          <p:nvPr/>
        </p:nvSpPr>
        <p:spPr>
          <a:xfrm>
            <a:off x="2194560" y="4507992"/>
            <a:ext cx="353552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0" name="Text 24"/>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1" name="Text 25"/>
          <p:cNvSpPr txBox="1"/>
          <p:nvPr/>
        </p:nvSpPr>
        <p:spPr>
          <a:xfrm>
            <a:off x="2194560" y="4992624"/>
            <a:ext cx="353552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2" name="real conditions card"/>
          <p:cNvSpPr/>
          <p:nvPr/>
        </p:nvSpPr>
        <p:spPr>
          <a:xfrm>
            <a:off x="6233008" y="3456432"/>
            <a:ext cx="5410048" cy="2103120"/>
          </a:xfrm>
          <a:prstGeom prst="roundRect">
            <a:avLst>
              <a:gd name="adj" fmla="val 5217"/>
            </a:avLst>
          </a:prstGeom>
          <a:solidFill>
            <a:schemeClr val="bg1"/>
          </a:solidFill>
          <a:ln w="12700">
            <a:solidFill>
              <a:srgbClr val="E6ECF4"/>
            </a:solidFill>
            <a:prstDash val="solid"/>
          </a:ln>
        </p:spPr>
      </p:sp>
      <p:sp>
        <p:nvSpPr>
          <p:cNvPr id="33" name="REAL CONDITIONS label"/>
          <p:cNvSpPr txBox="1"/>
          <p:nvPr/>
        </p:nvSpPr>
        <p:spPr>
          <a:xfrm>
            <a:off x="6507328"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4" name="Offline: “no data”, no booking circle"/>
          <p:cNvSpPr/>
          <p:nvPr/>
        </p:nvSpPr>
        <p:spPr>
          <a:xfrm>
            <a:off x="6507328" y="4142232"/>
            <a:ext cx="274320" cy="274320"/>
          </a:xfrm>
          <a:prstGeom prst="ellipse">
            <a:avLst/>
          </a:prstGeom>
          <a:solidFill>
            <a:schemeClr val="accent2"/>
          </a:solidFill>
          <a:ln/>
        </p:spPr>
      </p:sp>
      <p:pic>
        <p:nvPicPr>
          <p:cNvPr id="35" name="Offline: “no data”, no booking icon" descr="Offline: “no data”, no booking">    </p:cNvPr>
          <p:cNvPicPr>
            <a:picLocks noChangeAspect="1"/>
          </p:cNvPicPr>
          <p:nvPr/>
        </p:nvPicPr>
        <p:blipFill>
          <a:blip r:embed="rId5"/>
          <a:stretch>
            <a:fillRect/>
          </a:stretch>
        </p:blipFill>
        <p:spPr>
          <a:xfrm>
            <a:off x="6573164" y="4208069"/>
            <a:ext cx="142646" cy="142646"/>
          </a:xfrm>
          <a:prstGeom prst="rect">
            <a:avLst/>
          </a:prstGeom>
        </p:spPr>
      </p:pic>
      <p:sp>
        <p:nvSpPr>
          <p:cNvPr id="36" name="Text 29"/>
          <p:cNvSpPr txBox="1"/>
          <p:nvPr/>
        </p:nvSpPr>
        <p:spPr>
          <a:xfrm>
            <a:off x="6918808" y="4114800"/>
            <a:ext cx="449564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37" name="Privacy: never saved, pixelated circle"/>
          <p:cNvSpPr/>
          <p:nvPr/>
        </p:nvSpPr>
        <p:spPr>
          <a:xfrm>
            <a:off x="6507328" y="4690872"/>
            <a:ext cx="274320" cy="274320"/>
          </a:xfrm>
          <a:prstGeom prst="ellipse">
            <a:avLst/>
          </a:prstGeom>
          <a:solidFill>
            <a:schemeClr val="accent2"/>
          </a:solidFill>
          <a:ln/>
        </p:spPr>
      </p:sp>
      <p:pic>
        <p:nvPicPr>
          <p:cNvPr id="38" name="Privacy: never saved, pixelated icon" descr="Privacy: never saved, pixelated">    </p:cNvPr>
          <p:cNvPicPr>
            <a:picLocks noChangeAspect="1"/>
          </p:cNvPicPr>
          <p:nvPr/>
        </p:nvPicPr>
        <p:blipFill>
          <a:blip r:embed="rId6"/>
          <a:stretch>
            <a:fillRect/>
          </a:stretch>
        </p:blipFill>
        <p:spPr>
          <a:xfrm>
            <a:off x="6573164" y="4756709"/>
            <a:ext cx="142646" cy="142646"/>
          </a:xfrm>
          <a:prstGeom prst="rect">
            <a:avLst/>
          </a:prstGeom>
        </p:spPr>
      </p:pic>
      <p:sp>
        <p:nvSpPr>
          <p:cNvPr id="39" name="Text 31"/>
          <p:cNvSpPr txBox="1"/>
          <p:nvPr/>
        </p:nvSpPr>
        <p:spPr>
          <a:xfrm>
            <a:off x="6918808" y="4663440"/>
            <a:ext cx="449564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40" name="sources strip"/>
          <p:cNvSpPr/>
          <p:nvPr/>
        </p:nvSpPr>
        <p:spPr>
          <a:xfrm>
            <a:off x="548640" y="5733288"/>
            <a:ext cx="11094415" cy="457200"/>
          </a:xfrm>
          <a:prstGeom prst="roundRect">
            <a:avLst>
              <a:gd name="adj" fmla="val 16000"/>
            </a:avLst>
          </a:prstGeom>
          <a:solidFill>
            <a:schemeClr val="accent6"/>
          </a:solidFill>
          <a:ln/>
        </p:spPr>
      </p:sp>
      <p:sp>
        <p:nvSpPr>
          <p:cNvPr id="41"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Drivers pay per hour, split 50/50 with the lot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drivers pay 5 000 so'm for the first hour and 2 000 so'm for each extra hour; 50% goes to the parking lot, 50% is our income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777240" y="4206240"/>
            <a:ext cx="5166360" cy="1417320"/>
          </a:xfrm>
          <a:prstGeom prst="rect">
            <a:avLst/>
          </a:prstGeom>
          <a:noFill/>
          <a:ln/>
        </p:spPr>
        <p:txBody>
          <a:bodyPr wrap="square" lIns="0" tIns="0" rIns="0" bIns="0" rtlCol="0" anchor="ctr"/>
          <a:lstStyle/>
          <a:p>
            <a:pPr indent="0" marL="0">
              <a:spcAft>
                <a:spcPts val="400"/>
              </a:spcAft>
              <a:buNone/>
            </a:pPr>
            <a:r>
              <a:rPr lang="en-US" sz="1300" b="1" dirty="0">
                <a:solidFill>
                  <a:schemeClr val="accent2"/>
                </a:solidFill>
              </a:rPr>
              <a:t>Price per driver</a:t>
            </a:r>
            <a:pPr indent="0" marL="0">
              <a:spcAft>
                <a:spcPts val="400"/>
              </a:spcAft>
              <a:buNone/>
            </a:pPr>
            <a:r>
              <a:rPr lang="en-US" sz="1300" dirty="0">
                <a:solidFill>
                  <a:schemeClr val="bg1"/>
                </a:solidFill>
              </a:rPr>
              <a:t> = 5 000 so'm (first hour) + 2 000 so'm × extra hours</a:t>
            </a:r>
            <a:endParaRPr lang="en-US" sz="1300" dirty="0"/>
          </a:p>
          <a:p>
            <a:pPr indent="0" marL="0">
              <a:spcAft>
                <a:spcPts val="400"/>
              </a:spcAft>
              <a:buNone/>
            </a:pPr>
            <a:r>
              <a:rPr lang="en-US" sz="1300" b="1" dirty="0">
                <a:solidFill>
                  <a:schemeClr val="accent2"/>
                </a:solidFill>
              </a:rPr>
              <a:t>Split</a:t>
            </a:r>
            <a:pPr indent="0" marL="0">
              <a:spcAft>
                <a:spcPts val="400"/>
              </a:spcAft>
              <a:buNone/>
            </a:pPr>
            <a:r>
              <a:rPr lang="en-US" sz="1300" dirty="0">
                <a:solidFill>
                  <a:schemeClr val="bg1"/>
                </a:solidFill>
              </a:rPr>
              <a:t> = 50% parking lot · 50% ParkDet</a:t>
            </a:r>
            <a:endParaRPr lang="en-US" sz="1300" dirty="0"/>
          </a:p>
          <a:p>
            <a:pPr indent="0" marL="0">
              <a:spcAft>
                <a:spcPts val="400"/>
              </a:spcAft>
              <a:buNone/>
            </a:pPr>
            <a:r>
              <a:rPr lang="en-US" sz="1300" b="1" dirty="0">
                <a:solidFill>
                  <a:schemeClr val="accent2"/>
                </a:solidFill>
              </a:rPr>
              <a:t>Our cost per camera / month</a:t>
            </a:r>
            <a:pPr indent="0" marL="0">
              <a:spcAft>
                <a:spcPts val="400"/>
              </a:spcAft>
              <a:buNone/>
            </a:pPr>
            <a:r>
              <a:rPr lang="en-US" sz="1300" dirty="0">
                <a:solidFill>
                  <a:schemeClr val="bg1"/>
                </a:solidFill>
              </a:rPr>
              <a:t> = [server $] ÷ 8 + [phone] ÷ [months] + [support]</a:t>
            </a:r>
            <a:endParaRPr lang="en-US" sz="130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ckground glow"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bay line 1-1"/>
          <p:cNvSpPr/>
          <p:nvPr/>
        </p:nvSpPr>
        <p:spPr>
          <a:xfrm>
            <a:off x="335128" y="0"/>
            <a:ext cx="0" cy="914400"/>
          </a:xfrm>
          <a:prstGeom prst="line">
            <a:avLst/>
          </a:prstGeom>
          <a:noFill/>
          <a:ln w="19050">
            <a:solidFill>
              <a:srgbClr val="FFFFFF">
                <a:alpha val="18000"/>
              </a:srgbClr>
            </a:solidFill>
            <a:prstDash val="solid"/>
          </a:ln>
        </p:spPr>
      </p:sp>
      <p:sp>
        <p:nvSpPr>
          <p:cNvPr id="4" name="bay line 1-2"/>
          <p:cNvSpPr/>
          <p:nvPr/>
        </p:nvSpPr>
        <p:spPr>
          <a:xfrm>
            <a:off x="1295248" y="0"/>
            <a:ext cx="0" cy="914400"/>
          </a:xfrm>
          <a:prstGeom prst="line">
            <a:avLst/>
          </a:prstGeom>
          <a:noFill/>
          <a:ln w="19050">
            <a:solidFill>
              <a:srgbClr val="FFFFFF">
                <a:alpha val="18000"/>
              </a:srgbClr>
            </a:solidFill>
            <a:prstDash val="solid"/>
          </a:ln>
        </p:spPr>
      </p:sp>
      <p:sp>
        <p:nvSpPr>
          <p:cNvPr id="5" name="bay line 1-3"/>
          <p:cNvSpPr/>
          <p:nvPr/>
        </p:nvSpPr>
        <p:spPr>
          <a:xfrm>
            <a:off x="2255368" y="0"/>
            <a:ext cx="0" cy="914400"/>
          </a:xfrm>
          <a:prstGeom prst="line">
            <a:avLst/>
          </a:prstGeom>
          <a:noFill/>
          <a:ln w="19050">
            <a:solidFill>
              <a:srgbClr val="FFFFFF">
                <a:alpha val="18000"/>
              </a:srgbClr>
            </a:solidFill>
            <a:prstDash val="solid"/>
          </a:ln>
        </p:spPr>
      </p:sp>
      <p:sp>
        <p:nvSpPr>
          <p:cNvPr id="6" name="bay line 1-4"/>
          <p:cNvSpPr/>
          <p:nvPr/>
        </p:nvSpPr>
        <p:spPr>
          <a:xfrm>
            <a:off x="3215488" y="0"/>
            <a:ext cx="0" cy="914400"/>
          </a:xfrm>
          <a:prstGeom prst="line">
            <a:avLst/>
          </a:prstGeom>
          <a:noFill/>
          <a:ln w="19050">
            <a:solidFill>
              <a:srgbClr val="FFFFFF">
                <a:alpha val="18000"/>
              </a:srgbClr>
            </a:solidFill>
            <a:prstDash val="solid"/>
          </a:ln>
        </p:spPr>
      </p:sp>
      <p:sp>
        <p:nvSpPr>
          <p:cNvPr id="7" name="bay line 1-5"/>
          <p:cNvSpPr/>
          <p:nvPr/>
        </p:nvSpPr>
        <p:spPr>
          <a:xfrm>
            <a:off x="4175608" y="0"/>
            <a:ext cx="0" cy="914400"/>
          </a:xfrm>
          <a:prstGeom prst="line">
            <a:avLst/>
          </a:prstGeom>
          <a:noFill/>
          <a:ln w="19050">
            <a:solidFill>
              <a:srgbClr val="FFFFFF">
                <a:alpha val="18000"/>
              </a:srgbClr>
            </a:solidFill>
            <a:prstDash val="solid"/>
          </a:ln>
        </p:spPr>
      </p:sp>
      <p:sp>
        <p:nvSpPr>
          <p:cNvPr id="8" name="bay line 1-6"/>
          <p:cNvSpPr/>
          <p:nvPr/>
        </p:nvSpPr>
        <p:spPr>
          <a:xfrm>
            <a:off x="5135728" y="0"/>
            <a:ext cx="0" cy="914400"/>
          </a:xfrm>
          <a:prstGeom prst="line">
            <a:avLst/>
          </a:prstGeom>
          <a:noFill/>
          <a:ln w="19050">
            <a:solidFill>
              <a:srgbClr val="FFFFFF">
                <a:alpha val="18000"/>
              </a:srgbClr>
            </a:solidFill>
            <a:prstDash val="solid"/>
          </a:ln>
        </p:spPr>
      </p:sp>
      <p:sp>
        <p:nvSpPr>
          <p:cNvPr id="9" name="bay line 1-7"/>
          <p:cNvSpPr/>
          <p:nvPr/>
        </p:nvSpPr>
        <p:spPr>
          <a:xfrm>
            <a:off x="6095848" y="0"/>
            <a:ext cx="0" cy="914400"/>
          </a:xfrm>
          <a:prstGeom prst="line">
            <a:avLst/>
          </a:prstGeom>
          <a:noFill/>
          <a:ln w="19050">
            <a:solidFill>
              <a:srgbClr val="FFFFFF">
                <a:alpha val="18000"/>
              </a:srgbClr>
            </a:solidFill>
            <a:prstDash val="solid"/>
          </a:ln>
        </p:spPr>
      </p:sp>
      <p:sp>
        <p:nvSpPr>
          <p:cNvPr id="10" name="bay line 1-8"/>
          <p:cNvSpPr/>
          <p:nvPr/>
        </p:nvSpPr>
        <p:spPr>
          <a:xfrm>
            <a:off x="7055968" y="0"/>
            <a:ext cx="0" cy="914400"/>
          </a:xfrm>
          <a:prstGeom prst="line">
            <a:avLst/>
          </a:prstGeom>
          <a:noFill/>
          <a:ln w="19050">
            <a:solidFill>
              <a:srgbClr val="FFFFFF">
                <a:alpha val="18000"/>
              </a:srgbClr>
            </a:solidFill>
            <a:prstDash val="solid"/>
          </a:ln>
        </p:spPr>
      </p:sp>
      <p:sp>
        <p:nvSpPr>
          <p:cNvPr id="11" name="bay line 1-9"/>
          <p:cNvSpPr/>
          <p:nvPr/>
        </p:nvSpPr>
        <p:spPr>
          <a:xfrm>
            <a:off x="8016088" y="0"/>
            <a:ext cx="0" cy="914400"/>
          </a:xfrm>
          <a:prstGeom prst="line">
            <a:avLst/>
          </a:prstGeom>
          <a:noFill/>
          <a:ln w="19050">
            <a:solidFill>
              <a:srgbClr val="FFFFFF">
                <a:alpha val="18000"/>
              </a:srgbClr>
            </a:solidFill>
            <a:prstDash val="solid"/>
          </a:ln>
        </p:spPr>
      </p:sp>
      <p:sp>
        <p:nvSpPr>
          <p:cNvPr id="12" name="bay line 1-10"/>
          <p:cNvSpPr/>
          <p:nvPr/>
        </p:nvSpPr>
        <p:spPr>
          <a:xfrm>
            <a:off x="8976208" y="0"/>
            <a:ext cx="0" cy="914400"/>
          </a:xfrm>
          <a:prstGeom prst="line">
            <a:avLst/>
          </a:prstGeom>
          <a:noFill/>
          <a:ln w="19050">
            <a:solidFill>
              <a:srgbClr val="FFFFFF">
                <a:alpha val="18000"/>
              </a:srgbClr>
            </a:solidFill>
            <a:prstDash val="solid"/>
          </a:ln>
        </p:spPr>
      </p:sp>
      <p:sp>
        <p:nvSpPr>
          <p:cNvPr id="13" name="bay line 1-11"/>
          <p:cNvSpPr/>
          <p:nvPr/>
        </p:nvSpPr>
        <p:spPr>
          <a:xfrm>
            <a:off x="9936328" y="0"/>
            <a:ext cx="0" cy="914400"/>
          </a:xfrm>
          <a:prstGeom prst="line">
            <a:avLst/>
          </a:prstGeom>
          <a:noFill/>
          <a:ln w="19050">
            <a:solidFill>
              <a:srgbClr val="FFFFFF">
                <a:alpha val="18000"/>
              </a:srgbClr>
            </a:solidFill>
            <a:prstDash val="solid"/>
          </a:ln>
        </p:spPr>
      </p:sp>
      <p:sp>
        <p:nvSpPr>
          <p:cNvPr id="14" name="bay line 1-12"/>
          <p:cNvSpPr/>
          <p:nvPr/>
        </p:nvSpPr>
        <p:spPr>
          <a:xfrm>
            <a:off x="10896448" y="0"/>
            <a:ext cx="0" cy="914400"/>
          </a:xfrm>
          <a:prstGeom prst="line">
            <a:avLst/>
          </a:prstGeom>
          <a:noFill/>
          <a:ln w="19050">
            <a:solidFill>
              <a:srgbClr val="FFFFFF">
                <a:alpha val="18000"/>
              </a:srgbClr>
            </a:solidFill>
            <a:prstDash val="solid"/>
          </a:ln>
        </p:spPr>
      </p:sp>
      <p:sp>
        <p:nvSpPr>
          <p:cNvPr id="15" name="bay line 1-13"/>
          <p:cNvSpPr/>
          <p:nvPr/>
        </p:nvSpPr>
        <p:spPr>
          <a:xfrm>
            <a:off x="11856568" y="0"/>
            <a:ext cx="0" cy="914400"/>
          </a:xfrm>
          <a:prstGeom prst="line">
            <a:avLst/>
          </a:prstGeom>
          <a:noFill/>
          <a:ln w="19050">
            <a:solidFill>
              <a:srgbClr val="FFFFFF">
                <a:alpha val="18000"/>
              </a:srgbClr>
            </a:solidFill>
            <a:prstDash val="solid"/>
          </a:ln>
        </p:spPr>
      </p:sp>
      <p:pic>
        <p:nvPicPr>
          <p:cNvPr id="16" name="parked car 1-1" descr="preencoded.png">    </p:cNvPr>
          <p:cNvPicPr>
            <a:picLocks noChangeAspect="1"/>
          </p:cNvPicPr>
          <p:nvPr/>
        </p:nvPicPr>
        <p:blipFill>
          <a:blip r:embed="rId2">
            <a:alphaModFix amt="12000"/>
          </a:blip>
          <a:stretch>
            <a:fillRect/>
          </a:stretch>
        </p:blipFill>
        <p:spPr>
          <a:xfrm>
            <a:off x="586588" y="91440"/>
            <a:ext cx="457200" cy="731520"/>
          </a:xfrm>
          <a:prstGeom prst="rect">
            <a:avLst/>
          </a:prstGeom>
        </p:spPr>
      </p:pic>
      <p:pic>
        <p:nvPicPr>
          <p:cNvPr id="17" name="parked car 1-2" descr="preencoded.png">    </p:cNvPr>
          <p:cNvPicPr>
            <a:picLocks noChangeAspect="1"/>
          </p:cNvPicPr>
          <p:nvPr/>
        </p:nvPicPr>
        <p:blipFill>
          <a:blip r:embed="rId3">
            <a:alphaModFix amt="12000"/>
          </a:blip>
          <a:stretch>
            <a:fillRect/>
          </a:stretch>
        </p:blipFill>
        <p:spPr>
          <a:xfrm>
            <a:off x="1546708" y="91440"/>
            <a:ext cx="457200" cy="731520"/>
          </a:xfrm>
          <a:prstGeom prst="rect">
            <a:avLst/>
          </a:prstGeom>
        </p:spPr>
      </p:pic>
      <p:pic>
        <p:nvPicPr>
          <p:cNvPr id="18" name="parked car 1-4" descr="preencoded.png">    </p:cNvPr>
          <p:cNvPicPr>
            <a:picLocks noChangeAspect="1"/>
          </p:cNvPicPr>
          <p:nvPr/>
        </p:nvPicPr>
        <p:blipFill>
          <a:blip r:embed="rId4">
            <a:alphaModFix amt="12000"/>
          </a:blip>
          <a:stretch>
            <a:fillRect/>
          </a:stretch>
        </p:blipFill>
        <p:spPr>
          <a:xfrm>
            <a:off x="3466948" y="91440"/>
            <a:ext cx="457200" cy="731520"/>
          </a:xfrm>
          <a:prstGeom prst="rect">
            <a:avLst/>
          </a:prstGeom>
        </p:spPr>
      </p:pic>
      <p:pic>
        <p:nvPicPr>
          <p:cNvPr id="19" name="parked car 1-5" descr="preencoded.png">    </p:cNvPr>
          <p:cNvPicPr>
            <a:picLocks noChangeAspect="1"/>
          </p:cNvPicPr>
          <p:nvPr/>
        </p:nvPicPr>
        <p:blipFill>
          <a:blip r:embed="rId5">
            <a:alphaModFix amt="12000"/>
          </a:blip>
          <a:stretch>
            <a:fillRect/>
          </a:stretch>
        </p:blipFill>
        <p:spPr>
          <a:xfrm>
            <a:off x="4427068" y="91440"/>
            <a:ext cx="457200" cy="731520"/>
          </a:xfrm>
          <a:prstGeom prst="rect">
            <a:avLst/>
          </a:prstGeom>
        </p:spPr>
      </p:pic>
      <p:pic>
        <p:nvPicPr>
          <p:cNvPr id="20" name="parked car 1-6" descr="preencoded.png">    </p:cNvPr>
          <p:cNvPicPr>
            <a:picLocks noChangeAspect="1"/>
          </p:cNvPicPr>
          <p:nvPr/>
        </p:nvPicPr>
        <p:blipFill>
          <a:blip r:embed="rId6">
            <a:alphaModFix amt="12000"/>
          </a:blip>
          <a:stretch>
            <a:fillRect/>
          </a:stretch>
        </p:blipFill>
        <p:spPr>
          <a:xfrm>
            <a:off x="5387188" y="91440"/>
            <a:ext cx="457200" cy="731520"/>
          </a:xfrm>
          <a:prstGeom prst="rect">
            <a:avLst/>
          </a:prstGeom>
        </p:spPr>
      </p:pic>
      <p:pic>
        <p:nvPicPr>
          <p:cNvPr id="21" name="parked car 1-7" descr="preencoded.png">    </p:cNvPr>
          <p:cNvPicPr>
            <a:picLocks noChangeAspect="1"/>
          </p:cNvPicPr>
          <p:nvPr/>
        </p:nvPicPr>
        <p:blipFill>
          <a:blip r:embed="rId7">
            <a:alphaModFix amt="12000"/>
          </a:blip>
          <a:stretch>
            <a:fillRect/>
          </a:stretch>
        </p:blipFill>
        <p:spPr>
          <a:xfrm>
            <a:off x="6347308" y="91440"/>
            <a:ext cx="457200" cy="731520"/>
          </a:xfrm>
          <a:prstGeom prst="rect">
            <a:avLst/>
          </a:prstGeom>
        </p:spPr>
      </p:pic>
      <p:pic>
        <p:nvPicPr>
          <p:cNvPr id="22" name="parked car 1-8" descr="preencoded.png">    </p:cNvPr>
          <p:cNvPicPr>
            <a:picLocks noChangeAspect="1"/>
          </p:cNvPicPr>
          <p:nvPr/>
        </p:nvPicPr>
        <p:blipFill>
          <a:blip r:embed="rId8">
            <a:alphaModFix amt="12000"/>
          </a:blip>
          <a:stretch>
            <a:fillRect/>
          </a:stretch>
        </p:blipFill>
        <p:spPr>
          <a:xfrm>
            <a:off x="7307428" y="91440"/>
            <a:ext cx="457200" cy="731520"/>
          </a:xfrm>
          <a:prstGeom prst="rect">
            <a:avLst/>
          </a:prstGeom>
        </p:spPr>
      </p:pic>
      <p:pic>
        <p:nvPicPr>
          <p:cNvPr id="23" name="parked car 1-10" descr="preencoded.png">    </p:cNvPr>
          <p:cNvPicPr>
            <a:picLocks noChangeAspect="1"/>
          </p:cNvPicPr>
          <p:nvPr/>
        </p:nvPicPr>
        <p:blipFill>
          <a:blip r:embed="rId9">
            <a:alphaModFix amt="12000"/>
          </a:blip>
          <a:stretch>
            <a:fillRect/>
          </a:stretch>
        </p:blipFill>
        <p:spPr>
          <a:xfrm>
            <a:off x="9227668" y="91440"/>
            <a:ext cx="457200" cy="731520"/>
          </a:xfrm>
          <a:prstGeom prst="rect">
            <a:avLst/>
          </a:prstGeom>
        </p:spPr>
      </p:pic>
      <p:pic>
        <p:nvPicPr>
          <p:cNvPr id="24" name="parked car 1-11" descr="preencoded.png">    </p:cNvPr>
          <p:cNvPicPr>
            <a:picLocks noChangeAspect="1"/>
          </p:cNvPicPr>
          <p:nvPr/>
        </p:nvPicPr>
        <p:blipFill>
          <a:blip r:embed="rId10">
            <a:alphaModFix amt="12000"/>
          </a:blip>
          <a:stretch>
            <a:fillRect/>
          </a:stretch>
        </p:blipFill>
        <p:spPr>
          <a:xfrm>
            <a:off x="10187788" y="91440"/>
            <a:ext cx="457200" cy="731520"/>
          </a:xfrm>
          <a:prstGeom prst="rect">
            <a:avLst/>
          </a:prstGeom>
        </p:spPr>
      </p:pic>
      <p:pic>
        <p:nvPicPr>
          <p:cNvPr id="25" name="parked car 1-12" descr="preencoded.png">    </p:cNvPr>
          <p:cNvPicPr>
            <a:picLocks noChangeAspect="1"/>
          </p:cNvPicPr>
          <p:nvPr/>
        </p:nvPicPr>
        <p:blipFill>
          <a:blip r:embed="rId11">
            <a:alphaModFix amt="12000"/>
          </a:blip>
          <a:stretch>
            <a:fillRect/>
          </a:stretch>
        </p:blipFill>
        <p:spPr>
          <a:xfrm>
            <a:off x="11147908" y="91440"/>
            <a:ext cx="457200" cy="731520"/>
          </a:xfrm>
          <a:prstGeom prst="rect">
            <a:avLst/>
          </a:prstGeom>
        </p:spPr>
      </p:pic>
      <p:sp>
        <p:nvSpPr>
          <p:cNvPr id="26" name="bay line 2-1"/>
          <p:cNvSpPr/>
          <p:nvPr/>
        </p:nvSpPr>
        <p:spPr>
          <a:xfrm>
            <a:off x="335128" y="5943600"/>
            <a:ext cx="0" cy="914400"/>
          </a:xfrm>
          <a:prstGeom prst="line">
            <a:avLst/>
          </a:prstGeom>
          <a:noFill/>
          <a:ln w="19050">
            <a:solidFill>
              <a:srgbClr val="FFFFFF">
                <a:alpha val="18000"/>
              </a:srgbClr>
            </a:solidFill>
            <a:prstDash val="solid"/>
          </a:ln>
        </p:spPr>
      </p:sp>
      <p:sp>
        <p:nvSpPr>
          <p:cNvPr id="27" name="bay line 2-2"/>
          <p:cNvSpPr/>
          <p:nvPr/>
        </p:nvSpPr>
        <p:spPr>
          <a:xfrm>
            <a:off x="1295248" y="5943600"/>
            <a:ext cx="0" cy="914400"/>
          </a:xfrm>
          <a:prstGeom prst="line">
            <a:avLst/>
          </a:prstGeom>
          <a:noFill/>
          <a:ln w="19050">
            <a:solidFill>
              <a:srgbClr val="FFFFFF">
                <a:alpha val="18000"/>
              </a:srgbClr>
            </a:solidFill>
            <a:prstDash val="solid"/>
          </a:ln>
        </p:spPr>
      </p:sp>
      <p:sp>
        <p:nvSpPr>
          <p:cNvPr id="28" name="bay line 2-3"/>
          <p:cNvSpPr/>
          <p:nvPr/>
        </p:nvSpPr>
        <p:spPr>
          <a:xfrm>
            <a:off x="2255368" y="5943600"/>
            <a:ext cx="0" cy="914400"/>
          </a:xfrm>
          <a:prstGeom prst="line">
            <a:avLst/>
          </a:prstGeom>
          <a:noFill/>
          <a:ln w="19050">
            <a:solidFill>
              <a:srgbClr val="FFFFFF">
                <a:alpha val="18000"/>
              </a:srgbClr>
            </a:solidFill>
            <a:prstDash val="solid"/>
          </a:ln>
        </p:spPr>
      </p:sp>
      <p:sp>
        <p:nvSpPr>
          <p:cNvPr id="29" name="bay line 2-4"/>
          <p:cNvSpPr/>
          <p:nvPr/>
        </p:nvSpPr>
        <p:spPr>
          <a:xfrm>
            <a:off x="3215488" y="5943600"/>
            <a:ext cx="0" cy="914400"/>
          </a:xfrm>
          <a:prstGeom prst="line">
            <a:avLst/>
          </a:prstGeom>
          <a:noFill/>
          <a:ln w="19050">
            <a:solidFill>
              <a:srgbClr val="FFFFFF">
                <a:alpha val="18000"/>
              </a:srgbClr>
            </a:solidFill>
            <a:prstDash val="solid"/>
          </a:ln>
        </p:spPr>
      </p:sp>
      <p:sp>
        <p:nvSpPr>
          <p:cNvPr id="30" name="bay line 2-5"/>
          <p:cNvSpPr/>
          <p:nvPr/>
        </p:nvSpPr>
        <p:spPr>
          <a:xfrm>
            <a:off x="4175608" y="5943600"/>
            <a:ext cx="0" cy="914400"/>
          </a:xfrm>
          <a:prstGeom prst="line">
            <a:avLst/>
          </a:prstGeom>
          <a:noFill/>
          <a:ln w="19050">
            <a:solidFill>
              <a:srgbClr val="FFFFFF">
                <a:alpha val="18000"/>
              </a:srgbClr>
            </a:solidFill>
            <a:prstDash val="solid"/>
          </a:ln>
        </p:spPr>
      </p:sp>
      <p:sp>
        <p:nvSpPr>
          <p:cNvPr id="31" name="bay line 2-6"/>
          <p:cNvSpPr/>
          <p:nvPr/>
        </p:nvSpPr>
        <p:spPr>
          <a:xfrm>
            <a:off x="5135728" y="5943600"/>
            <a:ext cx="0" cy="914400"/>
          </a:xfrm>
          <a:prstGeom prst="line">
            <a:avLst/>
          </a:prstGeom>
          <a:noFill/>
          <a:ln w="19050">
            <a:solidFill>
              <a:srgbClr val="FFFFFF">
                <a:alpha val="18000"/>
              </a:srgbClr>
            </a:solidFill>
            <a:prstDash val="solid"/>
          </a:ln>
        </p:spPr>
      </p:sp>
      <p:sp>
        <p:nvSpPr>
          <p:cNvPr id="32" name="bay line 2-7"/>
          <p:cNvSpPr/>
          <p:nvPr/>
        </p:nvSpPr>
        <p:spPr>
          <a:xfrm>
            <a:off x="6095848" y="5943600"/>
            <a:ext cx="0" cy="914400"/>
          </a:xfrm>
          <a:prstGeom prst="line">
            <a:avLst/>
          </a:prstGeom>
          <a:noFill/>
          <a:ln w="19050">
            <a:solidFill>
              <a:srgbClr val="FFFFFF">
                <a:alpha val="18000"/>
              </a:srgbClr>
            </a:solidFill>
            <a:prstDash val="solid"/>
          </a:ln>
        </p:spPr>
      </p:sp>
      <p:sp>
        <p:nvSpPr>
          <p:cNvPr id="33" name="bay line 2-8"/>
          <p:cNvSpPr/>
          <p:nvPr/>
        </p:nvSpPr>
        <p:spPr>
          <a:xfrm>
            <a:off x="7055968" y="5943600"/>
            <a:ext cx="0" cy="914400"/>
          </a:xfrm>
          <a:prstGeom prst="line">
            <a:avLst/>
          </a:prstGeom>
          <a:noFill/>
          <a:ln w="19050">
            <a:solidFill>
              <a:srgbClr val="FFFFFF">
                <a:alpha val="18000"/>
              </a:srgbClr>
            </a:solidFill>
            <a:prstDash val="solid"/>
          </a:ln>
        </p:spPr>
      </p:sp>
      <p:sp>
        <p:nvSpPr>
          <p:cNvPr id="34" name="bay line 2-9"/>
          <p:cNvSpPr/>
          <p:nvPr/>
        </p:nvSpPr>
        <p:spPr>
          <a:xfrm>
            <a:off x="8016088" y="5943600"/>
            <a:ext cx="0" cy="914400"/>
          </a:xfrm>
          <a:prstGeom prst="line">
            <a:avLst/>
          </a:prstGeom>
          <a:noFill/>
          <a:ln w="19050">
            <a:solidFill>
              <a:srgbClr val="FFFFFF">
                <a:alpha val="18000"/>
              </a:srgbClr>
            </a:solidFill>
            <a:prstDash val="solid"/>
          </a:ln>
        </p:spPr>
      </p:sp>
      <p:sp>
        <p:nvSpPr>
          <p:cNvPr id="35" name="bay line 2-10"/>
          <p:cNvSpPr/>
          <p:nvPr/>
        </p:nvSpPr>
        <p:spPr>
          <a:xfrm>
            <a:off x="8976208" y="5943600"/>
            <a:ext cx="0" cy="914400"/>
          </a:xfrm>
          <a:prstGeom prst="line">
            <a:avLst/>
          </a:prstGeom>
          <a:noFill/>
          <a:ln w="19050">
            <a:solidFill>
              <a:srgbClr val="FFFFFF">
                <a:alpha val="18000"/>
              </a:srgbClr>
            </a:solidFill>
            <a:prstDash val="solid"/>
          </a:ln>
        </p:spPr>
      </p:sp>
      <p:sp>
        <p:nvSpPr>
          <p:cNvPr id="36" name="bay line 2-11"/>
          <p:cNvSpPr/>
          <p:nvPr/>
        </p:nvSpPr>
        <p:spPr>
          <a:xfrm>
            <a:off x="9936328" y="5943600"/>
            <a:ext cx="0" cy="914400"/>
          </a:xfrm>
          <a:prstGeom prst="line">
            <a:avLst/>
          </a:prstGeom>
          <a:noFill/>
          <a:ln w="19050">
            <a:solidFill>
              <a:srgbClr val="FFFFFF">
                <a:alpha val="18000"/>
              </a:srgbClr>
            </a:solidFill>
            <a:prstDash val="solid"/>
          </a:ln>
        </p:spPr>
      </p:sp>
      <p:sp>
        <p:nvSpPr>
          <p:cNvPr id="37" name="bay line 2-12"/>
          <p:cNvSpPr/>
          <p:nvPr/>
        </p:nvSpPr>
        <p:spPr>
          <a:xfrm>
            <a:off x="10896448" y="5943600"/>
            <a:ext cx="0" cy="914400"/>
          </a:xfrm>
          <a:prstGeom prst="line">
            <a:avLst/>
          </a:prstGeom>
          <a:noFill/>
          <a:ln w="19050">
            <a:solidFill>
              <a:srgbClr val="FFFFFF">
                <a:alpha val="18000"/>
              </a:srgbClr>
            </a:solidFill>
            <a:prstDash val="solid"/>
          </a:ln>
        </p:spPr>
      </p:sp>
      <p:sp>
        <p:nvSpPr>
          <p:cNvPr id="38" name="bay line 2-13"/>
          <p:cNvSpPr/>
          <p:nvPr/>
        </p:nvSpPr>
        <p:spPr>
          <a:xfrm>
            <a:off x="11856568" y="5943600"/>
            <a:ext cx="0" cy="914400"/>
          </a:xfrm>
          <a:prstGeom prst="line">
            <a:avLst/>
          </a:prstGeom>
          <a:noFill/>
          <a:ln w="19050">
            <a:solidFill>
              <a:srgbClr val="FFFFFF">
                <a:alpha val="18000"/>
              </a:srgbClr>
            </a:solidFill>
            <a:prstDash val="solid"/>
          </a:ln>
        </p:spPr>
      </p:sp>
      <p:pic>
        <p:nvPicPr>
          <p:cNvPr id="39" name="parked car 2-1" descr="preencoded.png">    </p:cNvPr>
          <p:cNvPicPr>
            <a:picLocks noChangeAspect="1"/>
          </p:cNvPicPr>
          <p:nvPr/>
        </p:nvPicPr>
        <p:blipFill>
          <a:blip r:embed="rId12">
            <a:alphaModFix amt="12000"/>
          </a:blip>
          <a:stretch>
            <a:fillRect/>
          </a:stretch>
        </p:blipFill>
        <p:spPr>
          <a:xfrm>
            <a:off x="586588" y="6035040"/>
            <a:ext cx="457200" cy="731520"/>
          </a:xfrm>
          <a:prstGeom prst="rect">
            <a:avLst/>
          </a:prstGeom>
        </p:spPr>
      </p:pic>
      <p:pic>
        <p:nvPicPr>
          <p:cNvPr id="40" name="parked car 2-3" descr="preencoded.png">    </p:cNvPr>
          <p:cNvPicPr>
            <a:picLocks noChangeAspect="1"/>
          </p:cNvPicPr>
          <p:nvPr/>
        </p:nvPicPr>
        <p:blipFill>
          <a:blip r:embed="rId13">
            <a:alphaModFix amt="12000"/>
          </a:blip>
          <a:stretch>
            <a:fillRect/>
          </a:stretch>
        </p:blipFill>
        <p:spPr>
          <a:xfrm>
            <a:off x="2506828" y="6035040"/>
            <a:ext cx="457200" cy="731520"/>
          </a:xfrm>
          <a:prstGeom prst="rect">
            <a:avLst/>
          </a:prstGeom>
        </p:spPr>
      </p:pic>
      <p:pic>
        <p:nvPicPr>
          <p:cNvPr id="41" name="parked car 2-4" descr="preencoded.png">    </p:cNvPr>
          <p:cNvPicPr>
            <a:picLocks noChangeAspect="1"/>
          </p:cNvPicPr>
          <p:nvPr/>
        </p:nvPicPr>
        <p:blipFill>
          <a:blip r:embed="rId14">
            <a:alphaModFix amt="12000"/>
          </a:blip>
          <a:stretch>
            <a:fillRect/>
          </a:stretch>
        </p:blipFill>
        <p:spPr>
          <a:xfrm>
            <a:off x="3466948" y="6035040"/>
            <a:ext cx="457200" cy="731520"/>
          </a:xfrm>
          <a:prstGeom prst="rect">
            <a:avLst/>
          </a:prstGeom>
        </p:spPr>
      </p:pic>
      <p:pic>
        <p:nvPicPr>
          <p:cNvPr id="42" name="parked car 2-5" descr="preencoded.png">    </p:cNvPr>
          <p:cNvPicPr>
            <a:picLocks noChangeAspect="1"/>
          </p:cNvPicPr>
          <p:nvPr/>
        </p:nvPicPr>
        <p:blipFill>
          <a:blip r:embed="rId15">
            <a:alphaModFix amt="12000"/>
          </a:blip>
          <a:stretch>
            <a:fillRect/>
          </a:stretch>
        </p:blipFill>
        <p:spPr>
          <a:xfrm>
            <a:off x="4427068" y="6035040"/>
            <a:ext cx="457200" cy="731520"/>
          </a:xfrm>
          <a:prstGeom prst="rect">
            <a:avLst/>
          </a:prstGeom>
        </p:spPr>
      </p:pic>
      <p:pic>
        <p:nvPicPr>
          <p:cNvPr id="43" name="parked car 2-6" descr="preencoded.png">    </p:cNvPr>
          <p:cNvPicPr>
            <a:picLocks noChangeAspect="1"/>
          </p:cNvPicPr>
          <p:nvPr/>
        </p:nvPicPr>
        <p:blipFill>
          <a:blip r:embed="rId16">
            <a:alphaModFix amt="12000"/>
          </a:blip>
          <a:stretch>
            <a:fillRect/>
          </a:stretch>
        </p:blipFill>
        <p:spPr>
          <a:xfrm>
            <a:off x="5387188" y="6035040"/>
            <a:ext cx="457200" cy="731520"/>
          </a:xfrm>
          <a:prstGeom prst="rect">
            <a:avLst/>
          </a:prstGeom>
        </p:spPr>
      </p:pic>
      <p:pic>
        <p:nvPicPr>
          <p:cNvPr id="44" name="parked car 2-7" descr="preencoded.png">    </p:cNvPr>
          <p:cNvPicPr>
            <a:picLocks noChangeAspect="1"/>
          </p:cNvPicPr>
          <p:nvPr/>
        </p:nvPicPr>
        <p:blipFill>
          <a:blip r:embed="rId17">
            <a:alphaModFix amt="12000"/>
          </a:blip>
          <a:stretch>
            <a:fillRect/>
          </a:stretch>
        </p:blipFill>
        <p:spPr>
          <a:xfrm>
            <a:off x="6347308" y="6035040"/>
            <a:ext cx="457200" cy="731520"/>
          </a:xfrm>
          <a:prstGeom prst="rect">
            <a:avLst/>
          </a:prstGeom>
        </p:spPr>
      </p:pic>
      <p:sp>
        <p:nvSpPr>
          <p:cNvPr id="45" name="free spot ring"/>
          <p:cNvSpPr/>
          <p:nvPr/>
        </p:nvSpPr>
        <p:spPr>
          <a:xfrm>
            <a:off x="7234276" y="6099048"/>
            <a:ext cx="603504" cy="603504"/>
          </a:xfrm>
          <a:prstGeom prst="ellipse">
            <a:avLst/>
          </a:prstGeom>
          <a:solidFill>
            <a:schemeClr val="accent2">
              <a:alpha val="15000"/>
            </a:schemeClr>
          </a:solidFill>
          <a:ln w="15875">
            <a:solidFill>
              <a:srgbClr val="F2A93B">
                <a:alpha val="60000"/>
              </a:srgbClr>
            </a:solidFill>
            <a:prstDash val="solid"/>
          </a:ln>
        </p:spPr>
      </p:sp>
      <p:sp>
        <p:nvSpPr>
          <p:cNvPr id="46" name="free spot dot"/>
          <p:cNvSpPr/>
          <p:nvPr/>
        </p:nvSpPr>
        <p:spPr>
          <a:xfrm>
            <a:off x="7417156" y="6281928"/>
            <a:ext cx="237744" cy="237744"/>
          </a:xfrm>
          <a:prstGeom prst="ellipse">
            <a:avLst/>
          </a:prstGeom>
          <a:solidFill>
            <a:schemeClr val="accent2"/>
          </a:solidFill>
          <a:ln/>
        </p:spPr>
      </p:sp>
      <p:pic>
        <p:nvPicPr>
          <p:cNvPr id="47" name="parked car 2-9" descr="preencoded.png">    </p:cNvPr>
          <p:cNvPicPr>
            <a:picLocks noChangeAspect="1"/>
          </p:cNvPicPr>
          <p:nvPr/>
        </p:nvPicPr>
        <p:blipFill>
          <a:blip r:embed="rId18">
            <a:alphaModFix amt="12000"/>
          </a:blip>
          <a:stretch>
            <a:fillRect/>
          </a:stretch>
        </p:blipFill>
        <p:spPr>
          <a:xfrm>
            <a:off x="8267548" y="6035040"/>
            <a:ext cx="457200" cy="731520"/>
          </a:xfrm>
          <a:prstGeom prst="rect">
            <a:avLst/>
          </a:prstGeom>
        </p:spPr>
      </p:pic>
      <p:pic>
        <p:nvPicPr>
          <p:cNvPr id="48" name="parked car 2-10" descr="preencoded.png">    </p:cNvPr>
          <p:cNvPicPr>
            <a:picLocks noChangeAspect="1"/>
          </p:cNvPicPr>
          <p:nvPr/>
        </p:nvPicPr>
        <p:blipFill>
          <a:blip r:embed="rId19">
            <a:alphaModFix amt="12000"/>
          </a:blip>
          <a:stretch>
            <a:fillRect/>
          </a:stretch>
        </p:blipFill>
        <p:spPr>
          <a:xfrm>
            <a:off x="9227668" y="6035040"/>
            <a:ext cx="457200" cy="731520"/>
          </a:xfrm>
          <a:prstGeom prst="rect">
            <a:avLst/>
          </a:prstGeom>
        </p:spPr>
      </p:pic>
      <p:pic>
        <p:nvPicPr>
          <p:cNvPr id="49" name="parked car 2-11" descr="preencoded.png">    </p:cNvPr>
          <p:cNvPicPr>
            <a:picLocks noChangeAspect="1"/>
          </p:cNvPicPr>
          <p:nvPr/>
        </p:nvPicPr>
        <p:blipFill>
          <a:blip r:embed="rId20">
            <a:alphaModFix amt="12000"/>
          </a:blip>
          <a:stretch>
            <a:fillRect/>
          </a:stretch>
        </p:blipFill>
        <p:spPr>
          <a:xfrm>
            <a:off x="10187788" y="6035040"/>
            <a:ext cx="457200" cy="731520"/>
          </a:xfrm>
          <a:prstGeom prst="rect">
            <a:avLst/>
          </a:prstGeom>
        </p:spPr>
      </p:pic>
      <p:pic>
        <p:nvPicPr>
          <p:cNvPr id="50" name="parked car 2-12" descr="preencoded.png">    </p:cNvPr>
          <p:cNvPicPr>
            <a:picLocks noChangeAspect="1"/>
          </p:cNvPicPr>
          <p:nvPr/>
        </p:nvPicPr>
        <p:blipFill>
          <a:blip r:embed="rId21">
            <a:alphaModFix amt="12000"/>
          </a:blip>
          <a:stretch>
            <a:fillRect/>
          </a:stretch>
        </p:blipFill>
        <p:spPr>
          <a:xfrm>
            <a:off x="11147908" y="6035040"/>
            <a:ext cx="457200" cy="731520"/>
          </a:xfrm>
          <a:prstGeom prst="rect">
            <a:avLst/>
          </a:prstGeom>
        </p:spPr>
      </p:pic>
      <p:pic>
        <p:nvPicPr>
          <p:cNvPr id="51" name="logo mark" descr="ParkDet logo">    </p:cNvPr>
          <p:cNvPicPr>
            <a:picLocks noChangeAspect="1"/>
          </p:cNvPicPr>
          <p:nvPr/>
        </p:nvPicPr>
        <p:blipFill>
          <a:blip r:embed="rId22"/>
          <a:stretch>
            <a:fillRect/>
          </a:stretch>
        </p:blipFill>
        <p:spPr>
          <a:xfrm>
            <a:off x="4513936" y="1920240"/>
            <a:ext cx="868680" cy="868680"/>
          </a:xfrm>
          <a:prstGeom prst="rect">
            <a:avLst/>
          </a:prstGeom>
        </p:spPr>
      </p:pic>
      <p:sp>
        <p:nvSpPr>
          <p:cNvPr id="52" name="logo wordmark"/>
          <p:cNvSpPr txBox="1"/>
          <p:nvPr/>
        </p:nvSpPr>
        <p:spPr>
          <a:xfrm>
            <a:off x="5565496" y="1920240"/>
            <a:ext cx="2478024" cy="868680"/>
          </a:xfrm>
          <a:prstGeom prst="rect">
            <a:avLst/>
          </a:prstGeom>
          <a:noFill/>
          <a:ln/>
        </p:spPr>
        <p:txBody>
          <a:bodyPr wrap="square" lIns="0" tIns="0" rIns="0" bIns="0" rtlCol="0" anchor="ctr"/>
          <a:lstStyle/>
          <a:p>
            <a:pPr indent="0" marL="0">
              <a:buNone/>
            </a:pPr>
            <a:r>
              <a:rPr lang="en-US" sz="4400" b="1" dirty="0">
                <a:solidFill>
                  <a:schemeClr val="bg1"/>
                </a:solidFill>
              </a:rPr>
              <a:t>ParkDet</a:t>
            </a:r>
            <a:endParaRPr lang="en-US" sz="4400" dirty="0"/>
          </a:p>
        </p:txBody>
      </p:sp>
      <p:sp>
        <p:nvSpPr>
          <p:cNvPr id="53" name="thanks"/>
          <p:cNvSpPr txBox="1"/>
          <p:nvPr/>
        </p:nvSpPr>
        <p:spPr>
          <a:xfrm>
            <a:off x="548640" y="3017520"/>
            <a:ext cx="11094415" cy="1051560"/>
          </a:xfrm>
          <a:prstGeom prst="rect">
            <a:avLst/>
          </a:prstGeom>
          <a:noFill/>
          <a:ln/>
        </p:spPr>
        <p:txBody>
          <a:bodyPr wrap="square" lIns="0" tIns="0" rIns="0" bIns="0" rtlCol="0" anchor="ctr"/>
          <a:lstStyle/>
          <a:p>
            <a:pPr algn="ctr" indent="0" marL="0">
              <a:buNone/>
            </a:pPr>
            <a:r>
              <a:rPr lang="en-US" sz="6000" b="1" dirty="0">
                <a:solidFill>
                  <a:schemeClr val="bg1"/>
                </a:solidFill>
              </a:rPr>
              <a:t>Thanks for watching</a:t>
            </a:r>
            <a:endParaRPr lang="en-US" sz="6000" dirty="0"/>
          </a:p>
        </p:txBody>
      </p:sp>
      <p:sp>
        <p:nvSpPr>
          <p:cNvPr id="54" name="divider"/>
          <p:cNvSpPr/>
          <p:nvPr/>
        </p:nvSpPr>
        <p:spPr>
          <a:xfrm>
            <a:off x="5684368" y="4270248"/>
            <a:ext cx="822960" cy="0"/>
          </a:xfrm>
          <a:prstGeom prst="line">
            <a:avLst/>
          </a:prstGeom>
          <a:noFill/>
          <a:ln w="31750">
            <a:solidFill>
              <a:srgbClr val="F2A93B"/>
            </a:solidFill>
            <a:prstDash val="solid"/>
          </a:ln>
        </p:spPr>
      </p:sp>
      <p:sp>
        <p:nvSpPr>
          <p:cNvPr id="55" name="tagline"/>
          <p:cNvSpPr txBox="1"/>
          <p:nvPr/>
        </p:nvSpPr>
        <p:spPr>
          <a:xfrm>
            <a:off x="548640" y="4453128"/>
            <a:ext cx="11094415" cy="457200"/>
          </a:xfrm>
          <a:prstGeom prst="rect">
            <a:avLst/>
          </a:prstGeom>
          <a:noFill/>
          <a:ln/>
        </p:spPr>
        <p:txBody>
          <a:bodyPr wrap="square" lIns="0" tIns="0" rIns="0" bIns="0" rtlCol="0" anchor="ctr"/>
          <a:lstStyle/>
          <a:p>
            <a:pPr algn="ctr" indent="0" marL="0">
              <a:buNone/>
            </a:pPr>
            <a:r>
              <a:rPr lang="en-US" sz="2200" b="1" dirty="0">
                <a:solidFill>
                  <a:schemeClr val="accent2"/>
                </a:solidFill>
              </a:rPr>
              <a:t>Park</a:t>
            </a:r>
            <a:pPr algn="ctr" indent="0" marL="0">
              <a:buNone/>
            </a:pPr>
            <a:r>
              <a:rPr lang="en-US" sz="2200" dirty="0">
                <a:solidFill>
                  <a:schemeClr val="accent5"/>
                </a:solidFill>
              </a:rPr>
              <a:t>ing </a:t>
            </a:r>
            <a:pPr algn="ctr" indent="0" marL="0">
              <a:buNone/>
            </a:pPr>
            <a:r>
              <a:rPr lang="en-US" sz="2200" b="1" dirty="0">
                <a:solidFill>
                  <a:schemeClr val="accent2"/>
                </a:solidFill>
              </a:rPr>
              <a:t>Det</a:t>
            </a:r>
            <a:pPr algn="ctr" indent="0" marL="0">
              <a:buNone/>
            </a:pPr>
            <a:r>
              <a:rPr lang="en-US" sz="2200" dirty="0">
                <a:solidFill>
                  <a:schemeClr val="accent5"/>
                </a:solidFill>
              </a:rPr>
              <a:t>ector</a:t>
            </a:r>
            <a:pPr algn="ctr" indent="0" marL="0">
              <a:buNone/>
            </a:pPr>
            <a:r>
              <a:rPr lang="en-US" sz="2200" dirty="0">
                <a:solidFill>
                  <a:schemeClr val="accent5"/>
                </a:solidFill>
              </a:rPr>
              <a:t>  ·  Free parking spots, seen live</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2026-10-11T07:43:13Z</dcterms:created>
  <dcterms:modified xsi:type="dcterms:W3CDTF">2026-10-11T07:43:13Z</dcterms:modified>
</cp:coreProperties>
</file>