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blem and user (1:00)" id="{1bf82378-3099-309f-0845-cec3d907e4b5}">
          <p14:sldIdLst>
            <p14:sldId id="256"/>
            <p14:sldId id="257"/>
          </p14:sldIdLst>
        </p14:section>
        <p14:section name="Live demo (2:00)" id="{085db7bd-5f84-1a12-e8b6-9a66901abf17}">
          <p14:sldIdLst>
            <p14:sldId id="258"/>
            <p14:sldId id="259"/>
          </p14:sldIdLst>
        </p14:section>
        <p14:section name="Technology and proof (2:00)" id="{a9300458-ea46-15f2-f81a-548c19dc2eea}">
          <p14:sldIdLst>
            <p14:sldId id="260"/>
            <p14:sldId id="261"/>
            <p14:sldId id="262"/>
            <p14:sldId id="263"/>
            <p14:sldId id="264"/>
          </p14:sldIdLst>
        </p14:section>
        <p14:section name="Budget and ROI (1:30)" id="{2aace460-8f6b-6244-8ffc-54c1cf5a5725}">
          <p14:sldIdLst>
            <p14:sldId id="265"/>
            <p14:sldId id="266"/>
          </p14:sldIdLst>
        </p14:section>
        <p14:section name="Next steps (0:30) and Q&amp;A backup" id="{d1b99ec6-ee0e-0ace-9809-6076085f7a70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Bahodurov Bahridin · 0:00–0:15
"Good afternoon. We are team ALL-IN-ONE, and this is ParkSpot — a Startup-mode product for the Computer Vision track. ParkSpot turns a phone camera above any parking lot into a live map of free spots: drivers navigate to the lot, book a spot before they arrive, and are guided to it step by step."
(Replace the three circles with the speakers' photos.)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Bahodurov Bahridin · 0:15–1:00
"Everyone in this room has circled a parking lot looking for a spot. The driver doesn't know where the free spots are and can't reserve one. For elderly or inexperienced drivers it's worse — they need big, simple, one-step directions. And the lot operator — the person who pays us — often already has cameras, but gets nothing from them: no live occupancy, no booking, no data."
State ONLY evidence you actually have ("We spoke to [N] drivers and [N] operators; [one real quote]"). If none: "We are validating this with operators in the pilot" — never invent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Bahodurov Bahridin · 1:00–1:15 (then hand over to Bobur)
"ParkSpot takes one camera and drives five screens. Drivers see live free counts on a map and navigate to the entrance. They pick a free spot, book it and get a QR ticket with directions. Drivers without a booking scan a QR at the gate and pay before they leave. An entrance screen shows the nearest spot with big arrows. And the operator mounts a phone, checks the spots once, and sees a pixelated camera view. Bobur will show it live."
Say it: payments in the prototype are sandbox — no real money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Gopurjonov Bobur · 1:15–3:00 (1 min 45 s, hard)
+0:00 "Scan the code — this is the live site." (Site open on the laptop AND one phone; the WIUT camera phone streaming.)
+0:10 Map: "This lot is live — the count comes from a phone camera above it." Tap Navigate (Google Maps opens to the entrance), come back.
+0:35 Free spots &amp; booking: tap a green spot → Book → Pay (say: sandbox) → QR ticket → directions "straight 25 m, then right".
+1:00 JURY INPUT: Vision → upload the jury's photo → "cars, rows and inferred empty spots — nobody drew these spots".
+1:25 Operator view (PIN): pixelated camera + spot overlay; mention the one-time spot check and that drivers never see the camera.
+1:40 "One CPU server, no GPU." Hand over to Amirxon.
IF ANYTHING FAILS: "switching to the recorded run" → docs/demo-backup.mp4 at the same step. If the WIUT camera is offline, show it honestly: the map says "camera offline" and booking pauses — the system never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Shomurodov Amirxon · 3:00–3:30
"Under the hood this is a pipeline, not one call to someone else's model. A phone at the lot sends a picture every few seconds. A quality gate checks light, blur and glare; dark frames get a second, contrast-stretched view. Two open detectors run together — one for top-down views, one for side views. Then our parts: the spot layout is found automatically and confirmed once by the operator; occupancy is cautious — any sign of a car, including where its wheels touch the ground, keeps a spot occupied; a booking engine enforces reservations with the camera; and the apps add the map, navigation and in-lot directions. One container, CPU only."
Q&amp;A: detectors are pretrained (YOLO11 COCO + an aerial-view model from Ultralytics assets); everything after detection was written during the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Shomurodov Amirxon · 3:30–4:10
"Why can't another team rebuild this in a weekend? One — zero-config spot discovery: we find the rows of parked cars and infer the empty spots, so a new camera needs no hand-drawn spots; the operator just confirms. Two — bookings are enforced by the camera: if someone takes your spot, your booking moves, and we never read a licence plate. Three — any phone is the camera: a lot goes live in minutes, and the phone even restores the lot if our free server restarts. Four — honest and private by design: with no picture we show 'no data', never 'free'; images are pixelated on the server and drivers never see them."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Shomurodov Amirxon · 4:10–4:40
"Numbers we measured, not claimed. 77 milliseconds per frame on an ordinary 4-core CPU, under 400 megabytes of memory — one cheap server runs many cameras. Auto-layout found all 13 spots a human drew on the reference footage.
Be honest about this table: the first rows are a development set — the clip we tuned on, so 100% proves nothing about new lots. The synthetic night test exposed a real weakness: 71% accuracy; our fix lifted it to 92%, but only a third of the 'free' answers at night are right. The last row is our Tashkent test set: [real numbers, or: 'we are labelling it with our own tool — results are on our Quality page']."
NEVER fill the last row with guesses.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Shomurodov Amirxon · 4:40–5:00
"Where it breaks today. At night dark cars get missed, so an occupied spot can look free — the worst error for a driver. A standard enhancement made it worse: 37 cars became 30. Detecting on the raw frame and a stretched copy gets 39 of 41 — progress, not solved; next is real night photos and fine-tuning. Rows with fewer than three cars aren't found automatically — the operator draws them once. Very distant cars are partly missed, and occlusion isn't measured yet."
This slide earns trust — say it calmly.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Shomurodov Amirxon · 5:00–5:15 (point at the table; the jury reads the rest)
"Inference runs on a server CPU — the phone only sends pictures. 77 milliseconds per frame. A spot changes over minutes, so one picture every three seconds is plenty: one small worker serves 17 to 39 cameras — we plan for eight. Pictures are never stored, the operator sees them pixelated, and if a camera goes offline we show 'no data' and pause booking."
Our free demo server is far smaller (a tenth of a CPU): about 2 s per photo — say so if a judge notices. Fill [server $ / month] with a real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Bahodurov Bahridin · 5:15–5:55
"Who pays? The lot operator — malls, business centres, university and dealership parking, paid city lots. We charge per camera per month plus a small fee per booking. The operator gains paid bookings, fewer cars circling, no gate staff for walk-ins, and data. Per camera, revenue is the subscription plus bookings times the fee; cost is the server divided by eight cameras, the phone — or an existing camera — and support."
Replace every [bracket] with a sourced number, or say "this is our hypothesis, to be validated in the pilot".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Bahodurov Bahridin · 5:55–6:30
"The pilot is three months in one lot. Month one: one or two phone cameras at [pilot lot], the one-time spot check, and day and night photos labelled from that lot to fine-tune. Month two: drivers use the map, booking and walk-in; the operator gets a weekly accuracy report. Month three: a real local payment provider, an ROI review with the operator, and a go / no-go decision. The pilot costs [total], mostly people; with [N] cameras at [price] it pays back in [__] months."
Every bracket must be a sourced number or said aloud as an assumption.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SPEAKER: Bahodurov Bahridin · 6:30–7:00 (finish by 6:55)
"Next: run the WIUT lot live and label a real Tashkent test set — day, night and rain — and publish the numbers; retrain the detector on our own data, which fixes night and removes the licence risk of today's pretrained weights; and run a three-month pilot with one operator. That is our ask: one lot to pilot in. Thank you — we're happy to take questions."
Q&amp;A: CV / model → Amirxon; app, demo, deployment → Bobur; business, pilot, users → Bahridin. Backup slides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for Q&amp;A — "Where did your data come from? Is anything not yours?"
Everything pretrained is listed with its licence; all code after detection — layout discovery, occupancy, booking engine, map and apps, evaluation — was written during the final. The aerial model's classes match VisDrone (research data), so before any commercial use we retrain on our own labelled data. Payments are sandbox.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checklist, not for presenting. Rehearse the full 7:00 at least three times with a timer; cut words, not the demo. The jury may ask any member about code written with an LLM: Amirxon — layout.py, detector.py, occupancy.py, evaluate.py; Bobur — frontend pages, map, deployment; Bahridin — booking rules in lots.py, pricing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ParkSpot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6949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ParkSpot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de pill"/>
          <p:cNvSpPr/>
          <p:nvPr/>
        </p:nvSpPr>
        <p:spPr>
          <a:xfrm>
            <a:off x="548640" y="777240"/>
            <a:ext cx="5029200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/>
        </p:spPr>
      </p:sp>
      <p:sp>
        <p:nvSpPr>
          <p:cNvPr id="3" name="mode"/>
          <p:cNvSpPr txBox="1"/>
          <p:nvPr/>
        </p:nvSpPr>
        <p:spPr>
          <a:xfrm>
            <a:off x="548640" y="7772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chemeClr val="tx1"/>
                </a:solidFill>
              </a:rPr>
              <a:t>COMPUTER VISION TRACK · MODE: STARTUP</a:t>
            </a:r>
            <a:endParaRPr lang="en-US" sz="1300" dirty="0"/>
          </a:p>
        </p:txBody>
      </p:sp>
      <p:sp>
        <p:nvSpPr>
          <p:cNvPr id="4" name="product name"/>
          <p:cNvSpPr txBox="1"/>
          <p:nvPr/>
        </p:nvSpPr>
        <p:spPr>
          <a:xfrm>
            <a:off x="548640" y="141732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ParkSpot</a:t>
            </a:r>
            <a:endParaRPr lang="en-US" sz="7200" dirty="0"/>
          </a:p>
        </p:txBody>
      </p:sp>
      <p:sp>
        <p:nvSpPr>
          <p:cNvPr id="5" name="tagline"/>
          <p:cNvSpPr txBox="1"/>
          <p:nvPr/>
        </p:nvSpPr>
        <p:spPr>
          <a:xfrm>
            <a:off x="548640" y="26974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A phone camera above any parking lot → a live map of free spots, navigation to the entrance, booking, and step-by-step guidance to the spot.</a:t>
            </a:r>
            <a:endParaRPr lang="en-US" sz="2200" dirty="0"/>
          </a:p>
        </p:txBody>
      </p:sp>
      <p:sp>
        <p:nvSpPr>
          <p:cNvPr id="6" name="photo 1 (replace)"/>
          <p:cNvSpPr/>
          <p:nvPr/>
        </p:nvSpPr>
        <p:spPr>
          <a:xfrm>
            <a:off x="548640" y="4434840"/>
            <a:ext cx="777240" cy="777240"/>
          </a:xfrm>
          <a:prstGeom prst="ellipse">
            <a:avLst/>
          </a:prstGeom>
          <a:solidFill>
            <a:schemeClr val="bg1">
              <a:alpha val="15000"/>
            </a:schemeClr>
          </a:solidFill>
          <a:ln w="25400">
            <a:solidFill>
              <a:srgbClr val="F2A93B"/>
            </a:solidFill>
            <a:prstDash val="solid"/>
          </a:ln>
        </p:spPr>
      </p:sp>
      <p:sp>
        <p:nvSpPr>
          <p:cNvPr id="7" name="speaker 1"/>
          <p:cNvSpPr txBox="1"/>
          <p:nvPr/>
        </p:nvSpPr>
        <p:spPr>
          <a:xfrm>
            <a:off x="1463040" y="4434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Bahodurov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Bahridin</a:t>
            </a:r>
            <a:endParaRPr lang="en-US" sz="1500" dirty="0"/>
          </a:p>
        </p:txBody>
      </p:sp>
      <p:sp>
        <p:nvSpPr>
          <p:cNvPr id="8" name="photo 2 (replace)"/>
          <p:cNvSpPr/>
          <p:nvPr/>
        </p:nvSpPr>
        <p:spPr>
          <a:xfrm>
            <a:off x="3063240" y="4434840"/>
            <a:ext cx="777240" cy="777240"/>
          </a:xfrm>
          <a:prstGeom prst="ellipse">
            <a:avLst/>
          </a:prstGeom>
          <a:solidFill>
            <a:schemeClr val="bg1">
              <a:alpha val="15000"/>
            </a:schemeClr>
          </a:solidFill>
          <a:ln w="25400">
            <a:solidFill>
              <a:srgbClr val="F2A93B"/>
            </a:solidFill>
            <a:prstDash val="solid"/>
          </a:ln>
        </p:spPr>
      </p:sp>
      <p:sp>
        <p:nvSpPr>
          <p:cNvPr id="9" name="speaker 2"/>
          <p:cNvSpPr txBox="1"/>
          <p:nvPr/>
        </p:nvSpPr>
        <p:spPr>
          <a:xfrm>
            <a:off x="3977640" y="4434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Gopurjonov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Bobur</a:t>
            </a:r>
            <a:endParaRPr lang="en-US" sz="1500" dirty="0"/>
          </a:p>
        </p:txBody>
      </p:sp>
      <p:sp>
        <p:nvSpPr>
          <p:cNvPr id="10" name="photo 3 (replace)"/>
          <p:cNvSpPr/>
          <p:nvPr/>
        </p:nvSpPr>
        <p:spPr>
          <a:xfrm>
            <a:off x="5577840" y="4434840"/>
            <a:ext cx="777240" cy="777240"/>
          </a:xfrm>
          <a:prstGeom prst="ellipse">
            <a:avLst/>
          </a:prstGeom>
          <a:solidFill>
            <a:schemeClr val="bg1">
              <a:alpha val="15000"/>
            </a:schemeClr>
          </a:solidFill>
          <a:ln w="25400">
            <a:solidFill>
              <a:srgbClr val="F2A93B"/>
            </a:solidFill>
            <a:prstDash val="solid"/>
          </a:ln>
        </p:spPr>
      </p:sp>
      <p:sp>
        <p:nvSpPr>
          <p:cNvPr id="11" name="speaker 3"/>
          <p:cNvSpPr txBox="1"/>
          <p:nvPr/>
        </p:nvSpPr>
        <p:spPr>
          <a:xfrm>
            <a:off x="6492240" y="4434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Shomurodov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Amirxon</a:t>
            </a:r>
            <a:endParaRPr lang="en-US" sz="1500" dirty="0"/>
          </a:p>
        </p:txBody>
      </p:sp>
      <p:sp>
        <p:nvSpPr>
          <p:cNvPr id="12" name="phone frame"/>
          <p:cNvSpPr/>
          <p:nvPr/>
        </p:nvSpPr>
        <p:spPr>
          <a:xfrm>
            <a:off x="8869680" y="548640"/>
            <a:ext cx="2788920" cy="5760720"/>
          </a:xfrm>
          <a:prstGeom prst="roundRect">
            <a:avLst>
              <a:gd name="adj" fmla="val 9836"/>
            </a:avLst>
          </a:prstGeom>
          <a:solidFill>
            <a:schemeClr val="bg1">
              <a:alpha val="12000"/>
            </a:schemeClr>
          </a:solidFill>
          <a:ln/>
        </p:spPr>
      </p:sp>
      <p:pic>
        <p:nvPicPr>
          <p:cNvPr id="13" name="app screenshot" descr="ParkSpot driver app: a lot with live free spots, navigation and the spot m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4" y="694944"/>
            <a:ext cx="2496312" cy="5394960"/>
          </a:xfrm>
          <a:prstGeom prst="rect">
            <a:avLst/>
          </a:prstGeom>
        </p:spPr>
      </p:pic>
      <p:sp>
        <p:nvSpPr>
          <p:cNvPr id="14" name="cover footer"/>
          <p:cNvSpPr txBox="1"/>
          <p:nvPr/>
        </p:nvSpPr>
        <p:spPr>
          <a:xfrm>
            <a:off x="548640" y="6355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Team ALL-IN-ONE · October 2026 · Live prototype: parkspot-5bo4.onrender.com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Finding a free spot is still guesswork</a:t>
            </a:r>
            <a:endParaRPr lang="en-US" sz="3400" dirty="0"/>
          </a:p>
        </p:txBody>
      </p:sp>
      <p:sp>
        <p:nvSpPr>
          <p:cNvPr id="4" name="Driver card"/>
          <p:cNvSpPr/>
          <p:nvPr/>
        </p:nvSpPr>
        <p:spPr>
          <a:xfrm>
            <a:off x="548640" y="1691640"/>
            <a:ext cx="3484778" cy="28803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Driver circle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river icon" descr="Dri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76272"/>
            <a:ext cx="356616" cy="356616"/>
          </a:xfrm>
          <a:prstGeom prst="rect">
            <a:avLst/>
          </a:prstGeom>
        </p:spPr>
      </p:pic>
      <p:sp>
        <p:nvSpPr>
          <p:cNvPr id="7" name="Driver text"/>
          <p:cNvSpPr txBox="1"/>
          <p:nvPr/>
        </p:nvSpPr>
        <p:spPr>
          <a:xfrm>
            <a:off x="868680" y="2880360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Driver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Circles the lot not knowing where a spot is. Cannot reserve one before leaving home.</a:t>
            </a:r>
            <a:endParaRPr lang="en-US" sz="1500" dirty="0"/>
          </a:p>
        </p:txBody>
      </p:sp>
      <p:sp>
        <p:nvSpPr>
          <p:cNvPr id="8" name="Elderly drivers card"/>
          <p:cNvSpPr/>
          <p:nvPr/>
        </p:nvSpPr>
        <p:spPr>
          <a:xfrm>
            <a:off x="4353458" y="1691640"/>
            <a:ext cx="3484778" cy="28803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9" name="Elderly drivers circle"/>
          <p:cNvSpPr/>
          <p:nvPr/>
        </p:nvSpPr>
        <p:spPr>
          <a:xfrm>
            <a:off x="4673498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Elderly drivers icon" descr="Elderly driv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090" y="2176272"/>
            <a:ext cx="356616" cy="356616"/>
          </a:xfrm>
          <a:prstGeom prst="rect">
            <a:avLst/>
          </a:prstGeom>
        </p:spPr>
      </p:pic>
      <p:sp>
        <p:nvSpPr>
          <p:cNvPr id="11" name="Elderly drivers text"/>
          <p:cNvSpPr txBox="1"/>
          <p:nvPr/>
        </p:nvSpPr>
        <p:spPr>
          <a:xfrm>
            <a:off x="4673498" y="2880360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Elderly drivers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Elderly and new drivers need large, simple, one-step-at-a-time directions — not a maze of signs.</a:t>
            </a:r>
            <a:endParaRPr lang="en-US" sz="1500" dirty="0"/>
          </a:p>
        </p:txBody>
      </p:sp>
      <p:sp>
        <p:nvSpPr>
          <p:cNvPr id="12" name="Lot operator — pays card"/>
          <p:cNvSpPr/>
          <p:nvPr/>
        </p:nvSpPr>
        <p:spPr>
          <a:xfrm>
            <a:off x="8158277" y="1691640"/>
            <a:ext cx="3484778" cy="288036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Lot operator — pays circle"/>
          <p:cNvSpPr/>
          <p:nvPr/>
        </p:nvSpPr>
        <p:spPr>
          <a:xfrm>
            <a:off x="8478317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Lot operator — pays icon" descr="Lot operator — pay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909" y="2176272"/>
            <a:ext cx="356616" cy="356616"/>
          </a:xfrm>
          <a:prstGeom prst="rect">
            <a:avLst/>
          </a:prstGeom>
        </p:spPr>
      </p:pic>
      <p:sp>
        <p:nvSpPr>
          <p:cNvPr id="15" name="Lot operator — pays text"/>
          <p:cNvSpPr txBox="1"/>
          <p:nvPr/>
        </p:nvSpPr>
        <p:spPr>
          <a:xfrm>
            <a:off x="8478317" y="2880360"/>
            <a:ext cx="28446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Lot operator — pays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Often already has cameras, but no live occupancy, no booking, no data on how the lot is used.</a:t>
            </a:r>
            <a:endParaRPr lang="en-US" sz="1500" dirty="0"/>
          </a:p>
        </p:txBody>
      </p:sp>
      <p:sp>
        <p:nvSpPr>
          <p:cNvPr id="16" name="evidence tile"/>
          <p:cNvSpPr/>
          <p:nvPr/>
        </p:nvSpPr>
        <p:spPr>
          <a:xfrm>
            <a:off x="548640" y="489204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</p:sp>
      <p:sp>
        <p:nvSpPr>
          <p:cNvPr id="17" name="evidence"/>
          <p:cNvSpPr txBox="1"/>
          <p:nvPr/>
        </p:nvSpPr>
        <p:spPr>
          <a:xfrm>
            <a:off x="822960" y="48920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Our evidence: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[N] driver interviews · [N] operator conversations · [observed time-to-park at ___] — fill in only what the team actually collected.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THE PRODUCT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From one camera to the right spot</a:t>
            </a:r>
            <a:endParaRPr lang="en-US" sz="3400" dirty="0"/>
          </a:p>
        </p:txBody>
      </p:sp>
      <p:sp>
        <p:nvSpPr>
          <p:cNvPr id="4" name="Map &amp; navigation screenshot tile"/>
          <p:cNvSpPr/>
          <p:nvPr/>
        </p:nvSpPr>
        <p:spPr>
          <a:xfrm>
            <a:off x="548640" y="1645920"/>
            <a:ext cx="2036003" cy="3154680"/>
          </a:xfrm>
          <a:prstGeom prst="roundRect">
            <a:avLst>
              <a:gd name="adj" fmla="val 4491"/>
            </a:avLst>
          </a:prstGeom>
          <a:solidFill>
            <a:schemeClr val="accent6"/>
          </a:solidFill>
          <a:ln/>
        </p:spPr>
      </p:sp>
      <p:pic>
        <p:nvPicPr>
          <p:cNvPr id="5" name="Map &amp; navigation screenshot" descr="Map &amp; navigation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616899"/>
            <a:ext cx="1816547" cy="121272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93776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Map &amp; navigation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85232"/>
            <a:ext cx="2036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Live free counts on a map. Navigate opens Google Maps or Yandex to the entrance.</a:t>
            </a:r>
            <a:endParaRPr lang="en-US" sz="1200" dirty="0"/>
          </a:p>
        </p:txBody>
      </p:sp>
      <p:sp>
        <p:nvSpPr>
          <p:cNvPr id="8" name="Spots &amp; booking screenshot tile"/>
          <p:cNvSpPr/>
          <p:nvPr/>
        </p:nvSpPr>
        <p:spPr>
          <a:xfrm>
            <a:off x="2813243" y="1645920"/>
            <a:ext cx="2036003" cy="3154680"/>
          </a:xfrm>
          <a:prstGeom prst="roundRect">
            <a:avLst>
              <a:gd name="adj" fmla="val 4491"/>
            </a:avLst>
          </a:prstGeom>
          <a:solidFill>
            <a:schemeClr val="accent6"/>
          </a:solidFill>
          <a:ln/>
        </p:spPr>
      </p:sp>
      <p:pic>
        <p:nvPicPr>
          <p:cNvPr id="9" name="Spots &amp; booking screenshot" descr="Spots &amp; booking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083" y="1755648"/>
            <a:ext cx="1356324" cy="29352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493776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Spots &amp; booking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813243" y="5285232"/>
            <a:ext cx="2036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Pick a free spot, book, get a QR ticket and in-lot directions.</a:t>
            </a:r>
            <a:endParaRPr lang="en-US" sz="1200" dirty="0"/>
          </a:p>
        </p:txBody>
      </p:sp>
      <p:sp>
        <p:nvSpPr>
          <p:cNvPr id="12" name="Walk-in screenshot tile"/>
          <p:cNvSpPr/>
          <p:nvPr/>
        </p:nvSpPr>
        <p:spPr>
          <a:xfrm>
            <a:off x="5077846" y="1645920"/>
            <a:ext cx="2036003" cy="3154680"/>
          </a:xfrm>
          <a:prstGeom prst="roundRect">
            <a:avLst>
              <a:gd name="adj" fmla="val 4491"/>
            </a:avLst>
          </a:prstGeom>
          <a:solidFill>
            <a:schemeClr val="accent6"/>
          </a:solidFill>
          <a:ln/>
        </p:spPr>
      </p:sp>
      <p:pic>
        <p:nvPicPr>
          <p:cNvPr id="13" name="Walk-in screenshot" descr="Walk-in screensh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686" y="1755648"/>
            <a:ext cx="1356324" cy="29352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77846" y="493776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Walk-in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077846" y="5285232"/>
            <a:ext cx="2036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Scan the gate QR, get a spot, pay any time before leaving.</a:t>
            </a:r>
            <a:endParaRPr lang="en-US" sz="1200" dirty="0"/>
          </a:p>
        </p:txBody>
      </p:sp>
      <p:sp>
        <p:nvSpPr>
          <p:cNvPr id="16" name="Entrance screen screenshot tile"/>
          <p:cNvSpPr/>
          <p:nvPr/>
        </p:nvSpPr>
        <p:spPr>
          <a:xfrm>
            <a:off x="7342449" y="1645920"/>
            <a:ext cx="2036003" cy="3154680"/>
          </a:xfrm>
          <a:prstGeom prst="roundRect">
            <a:avLst>
              <a:gd name="adj" fmla="val 4491"/>
            </a:avLst>
          </a:prstGeom>
          <a:solidFill>
            <a:schemeClr val="accent6"/>
          </a:solidFill>
          <a:ln/>
        </p:spPr>
      </p:sp>
      <p:pic>
        <p:nvPicPr>
          <p:cNvPr id="17" name="Entrance screen screenshot" descr="Entrance screen screensh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177" y="2712356"/>
            <a:ext cx="1816547" cy="10218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42449" y="493776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Entrance screen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342449" y="5285232"/>
            <a:ext cx="2036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Big numbers and arrows, made for elderly drivers.</a:t>
            </a:r>
            <a:endParaRPr lang="en-US" sz="1200" dirty="0"/>
          </a:p>
        </p:txBody>
      </p:sp>
      <p:sp>
        <p:nvSpPr>
          <p:cNvPr id="20" name="Operator screenshot tile"/>
          <p:cNvSpPr/>
          <p:nvPr/>
        </p:nvSpPr>
        <p:spPr>
          <a:xfrm>
            <a:off x="9607052" y="1645920"/>
            <a:ext cx="2036003" cy="3154680"/>
          </a:xfrm>
          <a:prstGeom prst="roundRect">
            <a:avLst>
              <a:gd name="adj" fmla="val 4491"/>
            </a:avLst>
          </a:prstGeom>
          <a:solidFill>
            <a:schemeClr val="accent6"/>
          </a:solidFill>
          <a:ln/>
        </p:spPr>
      </p:sp>
      <p:pic>
        <p:nvPicPr>
          <p:cNvPr id="21" name="Operator screenshot" descr="Operator screensh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6892" y="1755648"/>
            <a:ext cx="1356324" cy="29352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07052" y="4937760"/>
            <a:ext cx="2036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Operator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9607052" y="5285232"/>
            <a:ext cx="203600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Phone camera, one-time spot check, pixelated camera view.</a:t>
            </a:r>
            <a:endParaRPr lang="en-US" sz="1200" dirty="0"/>
          </a:p>
        </p:txBody>
      </p:sp>
      <p:sp>
        <p:nvSpPr>
          <p:cNvPr id="24" name="sandbox note"/>
          <p:cNvSpPr txBox="1"/>
          <p:nvPr/>
        </p:nvSpPr>
        <p:spPr>
          <a:xfrm>
            <a:off x="4114800" y="6355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Payments in the prototype are sandbox (test mode) and labelled as such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LIVE DEMO · 2 MINUTES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Try it on your own phone</a:t>
            </a:r>
            <a:endParaRPr lang="en-US" sz="3400" dirty="0"/>
          </a:p>
        </p:txBody>
      </p:sp>
      <p:sp>
        <p:nvSpPr>
          <p:cNvPr id="4" name="step 1 dot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1"/>
          <p:cNvSpPr txBox="1"/>
          <p:nvPr/>
        </p:nvSpPr>
        <p:spPr>
          <a:xfrm>
            <a:off x="1234440" y="188366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Map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→ the live lot near you → Navigate to its entrance</a:t>
            </a:r>
            <a:endParaRPr lang="en-US" sz="1800" dirty="0"/>
          </a:p>
        </p:txBody>
      </p:sp>
      <p:sp>
        <p:nvSpPr>
          <p:cNvPr id="7" name="step 2 dot"/>
          <p:cNvSpPr/>
          <p:nvPr/>
        </p:nvSpPr>
        <p:spPr>
          <a:xfrm>
            <a:off x="548640" y="25603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step 2"/>
          <p:cNvSpPr txBox="1"/>
          <p:nvPr/>
        </p:nvSpPr>
        <p:spPr>
          <a:xfrm>
            <a:off x="1234440" y="266090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Book a free spot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→ sandbox pay → QR ticket → "straight 25 m, then right"</a:t>
            </a:r>
            <a:endParaRPr lang="en-US" sz="1800" dirty="0"/>
          </a:p>
        </p:txBody>
      </p:sp>
      <p:sp>
        <p:nvSpPr>
          <p:cNvPr id="10" name="step 3 dot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step 3"/>
          <p:cNvSpPr txBox="1"/>
          <p:nvPr/>
        </p:nvSpPr>
        <p:spPr>
          <a:xfrm>
            <a:off x="1234440" y="343814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Your photo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of any lot → cars, rows and empty spots found</a:t>
            </a:r>
            <a:endParaRPr lang="en-US" sz="1800" dirty="0"/>
          </a:p>
        </p:txBody>
      </p:sp>
      <p:sp>
        <p:nvSpPr>
          <p:cNvPr id="13" name="step 4 dot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step 4"/>
          <p:cNvSpPr txBox="1"/>
          <p:nvPr/>
        </p:nvSpPr>
        <p:spPr>
          <a:xfrm>
            <a:off x="1234440" y="421538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Operator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: phone camera, one-time spot check, pixelated view</a:t>
            </a:r>
            <a:endParaRPr lang="en-US" sz="1800" dirty="0"/>
          </a:p>
        </p:txBody>
      </p:sp>
      <p:sp>
        <p:nvSpPr>
          <p:cNvPr id="16" name="step 5 dot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8" name="step 5"/>
          <p:cNvSpPr txBox="1"/>
          <p:nvPr/>
        </p:nvSpPr>
        <p:spPr>
          <a:xfrm>
            <a:off x="1234440" y="499262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Spot taken by another car?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The booking moves itself</a:t>
            </a:r>
            <a:endParaRPr lang="en-US" sz="1800" dirty="0"/>
          </a:p>
        </p:txBody>
      </p:sp>
      <p:sp>
        <p:nvSpPr>
          <p:cNvPr id="19" name="QR panel"/>
          <p:cNvSpPr/>
          <p:nvPr/>
        </p:nvSpPr>
        <p:spPr>
          <a:xfrm>
            <a:off x="8366760" y="1143000"/>
            <a:ext cx="3291840" cy="4709160"/>
          </a:xfrm>
          <a:prstGeom prst="roundRect">
            <a:avLst>
              <a:gd name="adj" fmla="val 5556"/>
            </a:avLst>
          </a:prstGeom>
          <a:solidFill>
            <a:schemeClr val="bg1">
              <a:alpha val="8000"/>
            </a:schemeClr>
          </a:solidFill>
          <a:ln/>
        </p:spPr>
      </p:sp>
      <p:pic>
        <p:nvPicPr>
          <p:cNvPr id="20" name="QR live site" descr="QR code linking to https://parkspot-5bo4.onrender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417320"/>
            <a:ext cx="2743200" cy="27432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366760" y="4343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parkspot-5bo4.onrender.com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595360" y="48006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Open it a few minutes early: the free server sleeps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TECHNOLOGY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system, not one model call</a:t>
            </a:r>
            <a:endParaRPr lang="en-US" sz="3400" dirty="0"/>
          </a:p>
        </p:txBody>
      </p:sp>
      <p:sp>
        <p:nvSpPr>
          <p:cNvPr id="4" name="1 · Camera picture"/>
          <p:cNvSpPr/>
          <p:nvPr/>
        </p:nvSpPr>
        <p:spPr>
          <a:xfrm>
            <a:off x="548640" y="1691640"/>
            <a:ext cx="232097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195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 · Camera picture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1955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 phone at the lot sends one JPEG every 3–10 s</a:t>
            </a:r>
            <a:endParaRPr lang="en-US" sz="1300" dirty="0"/>
          </a:p>
        </p:txBody>
      </p:sp>
      <p:sp>
        <p:nvSpPr>
          <p:cNvPr id="7" name="arrow 1 · Camera picture"/>
          <p:cNvSpPr/>
          <p:nvPr/>
        </p:nvSpPr>
        <p:spPr>
          <a:xfrm>
            <a:off x="2979344" y="2331720"/>
            <a:ext cx="384048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8" name="2 · Quality gate"/>
          <p:cNvSpPr/>
          <p:nvPr/>
        </p:nvSpPr>
        <p:spPr>
          <a:xfrm>
            <a:off x="3473120" y="1691640"/>
            <a:ext cx="232097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6000" y="1874520"/>
            <a:ext cx="195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 · Quality gate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6000" y="2286000"/>
            <a:ext cx="1955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Light, blur, glare; a dark frame gets a second, stretched view</a:t>
            </a:r>
            <a:endParaRPr lang="en-US" sz="1300" dirty="0"/>
          </a:p>
        </p:txBody>
      </p:sp>
      <p:sp>
        <p:nvSpPr>
          <p:cNvPr id="11" name="arrow 2 · Quality gate"/>
          <p:cNvSpPr/>
          <p:nvPr/>
        </p:nvSpPr>
        <p:spPr>
          <a:xfrm>
            <a:off x="5903824" y="2331720"/>
            <a:ext cx="384048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2" name="3 · Two detectors"/>
          <p:cNvSpPr/>
          <p:nvPr/>
        </p:nvSpPr>
        <p:spPr>
          <a:xfrm>
            <a:off x="6397600" y="1691640"/>
            <a:ext cx="232097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0480" y="1874520"/>
            <a:ext cx="195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 · Two detectors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0480" y="2286000"/>
            <a:ext cx="1955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Aerial + ground-view YOLO11, ONNX on CPU, merged</a:t>
            </a:r>
            <a:endParaRPr lang="en-US" sz="1300" dirty="0"/>
          </a:p>
        </p:txBody>
      </p:sp>
      <p:sp>
        <p:nvSpPr>
          <p:cNvPr id="15" name="arrow 3 · Two detectors"/>
          <p:cNvSpPr/>
          <p:nvPr/>
        </p:nvSpPr>
        <p:spPr>
          <a:xfrm>
            <a:off x="8828303" y="2331720"/>
            <a:ext cx="384048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6" name="4 · Spot layout"/>
          <p:cNvSpPr/>
          <p:nvPr/>
        </p:nvSpPr>
        <p:spPr>
          <a:xfrm>
            <a:off x="9322079" y="1691640"/>
            <a:ext cx="232097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28575">
            <a:solidFill>
              <a:srgbClr val="1F5F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4959" y="1874520"/>
            <a:ext cx="195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 · Spot layout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504959" y="2286000"/>
            <a:ext cx="1955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Found automatically, confirmed once by the operator — ours</a:t>
            </a:r>
            <a:endParaRPr lang="en-US" sz="1300" dirty="0"/>
          </a:p>
        </p:txBody>
      </p:sp>
      <p:sp>
        <p:nvSpPr>
          <p:cNvPr id="19" name="5 · Occupancy"/>
          <p:cNvSpPr/>
          <p:nvPr/>
        </p:nvSpPr>
        <p:spPr>
          <a:xfrm>
            <a:off x="548640" y="3657600"/>
            <a:ext cx="232097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3840480"/>
            <a:ext cx="195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 · Occupancy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251960"/>
            <a:ext cx="1955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Cautious: box, centre and ground point; smoothed over pictures</a:t>
            </a:r>
            <a:endParaRPr lang="en-US" sz="1300" dirty="0"/>
          </a:p>
        </p:txBody>
      </p:sp>
      <p:sp>
        <p:nvSpPr>
          <p:cNvPr id="22" name="arrow 5 · Occupancy"/>
          <p:cNvSpPr/>
          <p:nvPr/>
        </p:nvSpPr>
        <p:spPr>
          <a:xfrm>
            <a:off x="2979344" y="4297680"/>
            <a:ext cx="384048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3" name="6 · Booking engine"/>
          <p:cNvSpPr/>
          <p:nvPr/>
        </p:nvSpPr>
        <p:spPr>
          <a:xfrm>
            <a:off x="3473120" y="3657600"/>
            <a:ext cx="232097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28575">
            <a:solidFill>
              <a:srgbClr val="1F5F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6000" y="3840480"/>
            <a:ext cx="195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6 · Booking engine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656000" y="4251960"/>
            <a:ext cx="1955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Holds, no-shows, camera-confirmed parking, re-assignment — ours</a:t>
            </a:r>
            <a:endParaRPr lang="en-US" sz="1300" dirty="0"/>
          </a:p>
        </p:txBody>
      </p:sp>
      <p:sp>
        <p:nvSpPr>
          <p:cNvPr id="26" name="arrow 6 · Booking engine"/>
          <p:cNvSpPr/>
          <p:nvPr/>
        </p:nvSpPr>
        <p:spPr>
          <a:xfrm>
            <a:off x="5903824" y="4297680"/>
            <a:ext cx="384048" cy="32004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7" name="7 · Map &amp; apps"/>
          <p:cNvSpPr/>
          <p:nvPr/>
        </p:nvSpPr>
        <p:spPr>
          <a:xfrm>
            <a:off x="6397600" y="3657600"/>
            <a:ext cx="2320976" cy="1600200"/>
          </a:xfrm>
          <a:prstGeom prst="roundRect">
            <a:avLst>
              <a:gd name="adj" fmla="val 6857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0480" y="3840480"/>
            <a:ext cx="195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7 · Map &amp; apps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580480" y="4251960"/>
            <a:ext cx="19552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Live map, navigation, in-lot directions, entrance screen</a:t>
            </a:r>
            <a:endParaRPr lang="en-US" sz="1300" dirty="0"/>
          </a:p>
        </p:txBody>
      </p:sp>
      <p:sp>
        <p:nvSpPr>
          <p:cNvPr id="30" name="stack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Stack: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Python · FastAPI · onnxruntime · OpenCV · SQLite · React · Leaflet + OpenStreetMap — one Docker container, deployed from our repository.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INNOVATION · THE REPLICATION TEST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a weekend copy would not have</a:t>
            </a:r>
            <a:endParaRPr lang="en-US" sz="3400" dirty="0"/>
          </a:p>
        </p:txBody>
      </p:sp>
      <p:sp>
        <p:nvSpPr>
          <p:cNvPr id="4" name="Zero-config spot discovery card"/>
          <p:cNvSpPr/>
          <p:nvPr/>
        </p:nvSpPr>
        <p:spPr>
          <a:xfrm>
            <a:off x="548640" y="1645920"/>
            <a:ext cx="5387188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Zero-config spot discovery circle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Zero-config spot discovery icon" descr="Zero-config spot discove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0738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20240"/>
            <a:ext cx="4015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Zero-config spot discovery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468880"/>
            <a:ext cx="4015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Rows of parked cars found by RANSAC, empty spots inferred from gaps in car widths, aisle traffic ignored. The operator only confirms.</a:t>
            </a:r>
            <a:endParaRPr lang="en-US" sz="1400" dirty="0"/>
          </a:p>
        </p:txBody>
      </p:sp>
      <p:sp>
        <p:nvSpPr>
          <p:cNvPr id="9" name="Bookings enforced by the camera card"/>
          <p:cNvSpPr/>
          <p:nvPr/>
        </p:nvSpPr>
        <p:spPr>
          <a:xfrm>
            <a:off x="6255868" y="1645920"/>
            <a:ext cx="5387188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0" name="Bookings enforced by the camera circle"/>
          <p:cNvSpPr/>
          <p:nvPr/>
        </p:nvSpPr>
        <p:spPr>
          <a:xfrm>
            <a:off x="6530188" y="1920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Bookings enforced by the camera icon" descr="Bookings enforced by the cam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807" y="20738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53148" y="1920240"/>
            <a:ext cx="4015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Bookings enforced by the camera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353148" y="2468880"/>
            <a:ext cx="4015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Booked spot taken → the booking moves to the nearest free spot; arrival confirmed by the camera. No plates read.</a:t>
            </a:r>
            <a:endParaRPr lang="en-US" sz="1400" dirty="0"/>
          </a:p>
        </p:txBody>
      </p:sp>
      <p:sp>
        <p:nvSpPr>
          <p:cNvPr id="14" name="A phone is the camera card"/>
          <p:cNvSpPr/>
          <p:nvPr/>
        </p:nvSpPr>
        <p:spPr>
          <a:xfrm>
            <a:off x="548640" y="3886200"/>
            <a:ext cx="5387188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5" name="A phone is the camera circle"/>
          <p:cNvSpPr/>
          <p:nvPr/>
        </p:nvSpPr>
        <p:spPr>
          <a:xfrm>
            <a:off x="822960" y="41605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A phone is the camera icon" descr="A phone is the camer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4314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160520"/>
            <a:ext cx="4015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A phone is the camera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709160"/>
            <a:ext cx="4015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Mount, tap Create, check once, publish: a lot goes live in minutes — and restores itself after a server restart.</a:t>
            </a:r>
            <a:endParaRPr lang="en-US" sz="1400" dirty="0"/>
          </a:p>
        </p:txBody>
      </p:sp>
      <p:sp>
        <p:nvSpPr>
          <p:cNvPr id="19" name="Honest and private by design card"/>
          <p:cNvSpPr/>
          <p:nvPr/>
        </p:nvSpPr>
        <p:spPr>
          <a:xfrm>
            <a:off x="6255868" y="3886200"/>
            <a:ext cx="5387188" cy="1965960"/>
          </a:xfrm>
          <a:prstGeom prst="roundRect">
            <a:avLst>
              <a:gd name="adj" fmla="val 5581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20" name="Honest and private by design circle"/>
          <p:cNvSpPr/>
          <p:nvPr/>
        </p:nvSpPr>
        <p:spPr>
          <a:xfrm>
            <a:off x="6530188" y="41605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Honest and private by design icon" descr="Honest and private by desig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807" y="43141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53148" y="4160520"/>
            <a:ext cx="40155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Honest and private by design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353148" y="4709160"/>
            <a:ext cx="40155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camera picture → "no data", never "free". Images pixelated on the server; drivers never see the camera.</a:t>
            </a:r>
            <a:endParaRPr lang="en-US" sz="1400" dirty="0"/>
          </a:p>
        </p:txBody>
      </p:sp>
      <p:sp>
        <p:nvSpPr>
          <p:cNvPr id="24" name="moat note"/>
          <p:cNvSpPr txBox="1"/>
          <p:nvPr/>
        </p:nvSpPr>
        <p:spPr>
          <a:xfrm>
            <a:off x="4114800" y="6355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Moat over time: our labelled Tashkent lot data + operator integrations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PROOF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Measured, not claimed</a:t>
            </a:r>
            <a:endParaRPr lang="en-US" sz="3400" dirty="0"/>
          </a:p>
        </p:txBody>
      </p:sp>
      <p:sp>
        <p:nvSpPr>
          <p:cNvPr id="4" name="stat 77 ms"/>
          <p:cNvSpPr/>
          <p:nvPr/>
        </p:nvSpPr>
        <p:spPr>
          <a:xfrm>
            <a:off x="548640" y="1600200"/>
            <a:ext cx="3515258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77 ms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per frame, CPU only (p95 99 ms; 640×360, 4-core Xeon 2.1 GHz, 2 threads)</a:t>
            </a:r>
            <a:endParaRPr lang="en-US" sz="1200" dirty="0"/>
          </a:p>
        </p:txBody>
      </p:sp>
      <p:sp>
        <p:nvSpPr>
          <p:cNvPr id="7" name="stat 374 MB"/>
          <p:cNvSpPr/>
          <p:nvPr/>
        </p:nvSpPr>
        <p:spPr>
          <a:xfrm>
            <a:off x="4338218" y="1600200"/>
            <a:ext cx="3515258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2538" y="17373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374 MB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4688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peak server memory (4K photo), no GPU, no PyTorch at run time</a:t>
            </a:r>
            <a:endParaRPr lang="en-US" sz="1200" dirty="0"/>
          </a:p>
        </p:txBody>
      </p:sp>
      <p:sp>
        <p:nvSpPr>
          <p:cNvPr id="10" name="stat 13 / 13"/>
          <p:cNvSpPr/>
          <p:nvPr/>
        </p:nvSpPr>
        <p:spPr>
          <a:xfrm>
            <a:off x="8127797" y="1600200"/>
            <a:ext cx="3515258" cy="1508760"/>
          </a:xfrm>
          <a:prstGeom prst="roundRect">
            <a:avLst>
              <a:gd name="adj" fmla="val 7273"/>
            </a:avLst>
          </a:prstGeom>
          <a:solidFill>
            <a:schemeClr val="tx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02117" y="1737360"/>
            <a:ext cx="29666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13 / 13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24688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hand-drawn reference spots found by auto-layout (dev set)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463040"/>
                <a:gridCol w="2194560"/>
                <a:gridCol w="2286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Spots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"Free" right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Dev: public sample clip, 4 frames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+ synthetic night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92% (was 71%)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33% (was 12%)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+ synthetic rain / fog / blur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Test: our Tashkent photos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[__%]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[__%]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dev note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Dev set = the clip we tuned on, so 100% is not proof of generalisation; the Tashkent test set is what counts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KNOWN FAILURE CASES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Where it breaks today</a:t>
            </a:r>
            <a:endParaRPr lang="en-US" sz="3400" dirty="0"/>
          </a:p>
        </p:txBody>
      </p:sp>
      <p:sp>
        <p:nvSpPr>
          <p:cNvPr id="4" name="night image tile"/>
          <p:cNvSpPr/>
          <p:nvPr/>
        </p:nvSpPr>
        <p:spPr>
          <a:xfrm>
            <a:off x="548640" y="1645920"/>
            <a:ext cx="6035040" cy="192024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pic>
        <p:nvPicPr>
          <p:cNvPr id="5" name="day vs night" descr="The same frame by day (41 vehicles found) and as synthetic night (39 found with the raw and stretched view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5760720" cy="1605154"/>
          </a:xfrm>
          <a:prstGeom prst="rect">
            <a:avLst/>
          </a:prstGeom>
        </p:spPr>
      </p:pic>
      <p:sp>
        <p:nvSpPr>
          <p:cNvPr id="6" name="night caption"/>
          <p:cNvSpPr txBox="1"/>
          <p:nvPr/>
        </p:nvSpPr>
        <p:spPr>
          <a:xfrm>
            <a:off x="548640" y="3749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Day: 41 vehicles. Synthetic night: 37 on the raw frame, 30 after a standard enhancement (worse), 39 with raw + stretched views merged — the fix we shipped.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Night: dark cars missed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20574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Occupied spots can look free (synthetic night: 33% of "free" answers right). Next: real night photos, fine-tune.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Rows with fewer than 3 cars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3429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Not found automatically — the operator draws them once in the spot check.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4389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Distant cars, row ends, occlusion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48006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Cars ~10 px wide: 29 of 41 found; trees and poles not yet measured.</a:t>
            </a:r>
            <a:endParaRPr lang="en-US" sz="1400" dirty="0"/>
          </a:p>
        </p:txBody>
      </p:sp>
      <p:sp>
        <p:nvSpPr>
          <p:cNvPr id="13" name="method note"/>
          <p:cNvSpPr txBox="1"/>
          <p:nvPr/>
        </p:nvSpPr>
        <p:spPr>
          <a:xfrm>
            <a:off x="4114800" y="6355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Synthetic night = (0.22·x)^1.15 per pixel + Gaussian noise σ 6, declared in eval/evaluate.py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ENGINEERING CONSTRAINTS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Built for real conditions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Question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inference runs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CPU, no GPU. The camera phone only sends pictures.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 ms per frame (177 ms when both detectors run); 1080p: 86 ms.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Capacity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picture / 3 s per camera → 17–39 cameras per 2-thread worker.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camera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[server $ / month] ÷ 8 cameras (worst case, 50% load).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Night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Two-view detection; synthetic night 92%. Real night: [to collect].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Rain, fog, blur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Synthetic on the dev set: no drop. Real rain: [to collect].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Pictures never stored; operator view pixelated; no plates read.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 offline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Spots shown as "no data", booking pauses — never guessed.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capacity note"/>
          <p:cNvSpPr txBox="1"/>
          <p:nvPr/>
        </p:nvSpPr>
        <p:spPr>
          <a:xfrm>
            <a:off x="4114800" y="6355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Capacity = 3 s ÷ 0.177 s (both detectors) to 3 s ÷ 0.077 s; 4-core Xeon 2.1 GHz, 2 threads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BUSINESS MODEL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lot operator pays — per camera</a:t>
            </a:r>
            <a:endParaRPr lang="en-US" sz="3400" dirty="0"/>
          </a:p>
        </p:txBody>
      </p:sp>
      <p:sp>
        <p:nvSpPr>
          <p:cNvPr id="4" name="Customers card"/>
          <p:cNvSpPr/>
          <p:nvPr/>
        </p:nvSpPr>
        <p:spPr>
          <a:xfrm>
            <a:off x="548640" y="164592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Customers circle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ustomers icon" descr="Custom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874520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Customers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29361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Mall and business-centre lots, university and dealership customer parking, paid city lots.</a:t>
            </a:r>
            <a:endParaRPr lang="en-US" sz="1500" dirty="0"/>
          </a:p>
        </p:txBody>
      </p:sp>
      <p:sp>
        <p:nvSpPr>
          <p:cNvPr id="9" name="Revenue card"/>
          <p:cNvSpPr/>
          <p:nvPr/>
        </p:nvSpPr>
        <p:spPr>
          <a:xfrm>
            <a:off x="4353458" y="164592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0" name="Revenue circle"/>
          <p:cNvSpPr/>
          <p:nvPr/>
        </p:nvSpPr>
        <p:spPr>
          <a:xfrm>
            <a:off x="4627778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Revenue icon" descr="Revenu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0061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13578" y="1874520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Revenue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627778" y="2606040"/>
            <a:ext cx="29361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Subscription: [price] per camera per month. Booking fee: [__%] of each reservation. Both to validate in the pilot.</a:t>
            </a:r>
            <a:endParaRPr lang="en-US" sz="1500" dirty="0"/>
          </a:p>
        </p:txBody>
      </p:sp>
      <p:sp>
        <p:nvSpPr>
          <p:cNvPr id="14" name="Operator's gain card"/>
          <p:cNvSpPr/>
          <p:nvPr/>
        </p:nvSpPr>
        <p:spPr>
          <a:xfrm>
            <a:off x="8158277" y="164592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5" name="Operator's gain circle"/>
          <p:cNvSpPr/>
          <p:nvPr/>
        </p:nvSpPr>
        <p:spPr>
          <a:xfrm>
            <a:off x="8432597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Operator's gain icon" descr="Operator's g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20061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18397" y="1874520"/>
            <a:ext cx="2296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Operator's gain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432597" y="2606040"/>
            <a:ext cx="293613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Paid bookings, fewer cars circling, no gate staff for walk-ins, usage data.</a:t>
            </a:r>
            <a:endParaRPr lang="en-US" sz="1500" dirty="0"/>
          </a:p>
        </p:txBody>
      </p:sp>
      <p:sp>
        <p:nvSpPr>
          <p:cNvPr id="19" name="unit economics"/>
          <p:cNvSpPr/>
          <p:nvPr/>
        </p:nvSpPr>
        <p:spPr>
          <a:xfrm>
            <a:off x="548640" y="4251960"/>
            <a:ext cx="11094415" cy="1600200"/>
          </a:xfrm>
          <a:prstGeom prst="roundRect">
            <a:avLst>
              <a:gd name="adj" fmla="val 6857"/>
            </a:avLst>
          </a:prstGeom>
          <a:solidFill>
            <a:schemeClr val="tx1"/>
          </a:solidFill>
          <a:ln/>
        </p:spPr>
      </p:sp>
      <p:sp>
        <p:nvSpPr>
          <p:cNvPr id="20" name="formulas"/>
          <p:cNvSpPr txBox="1"/>
          <p:nvPr/>
        </p:nvSpPr>
        <p:spPr>
          <a:xfrm>
            <a:off x="914400" y="4251960"/>
            <a:ext cx="1036289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Revenue / camera / month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 = [subscription] + [bookings per day] × [fee] × 30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accent2"/>
                </a:solidFill>
              </a:rPr>
              <a:t>Cost / camera / month</a:t>
            </a:r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 = [server $] ÷ 8 + [camera or phone] ÷ [months of use] + [support]</a:t>
            </a:r>
            <a:endParaRPr lang="en-US" sz="1900" dirty="0"/>
          </a:p>
        </p:txBody>
      </p:sp>
      <p:sp>
        <p:nvSpPr>
          <p:cNvPr id="21" name="bracket note"/>
          <p:cNvSpPr txBox="1"/>
          <p:nvPr/>
        </p:nvSpPr>
        <p:spPr>
          <a:xfrm>
            <a:off x="4114800" y="63550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Every bracket is an input the team fills from real quotes or interviews — no invented prices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BUDGET AND ROI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3-month pilot in one lot</a:t>
            </a:r>
            <a:endParaRPr lang="en-US" sz="3400" dirty="0"/>
          </a:p>
        </p:txBody>
      </p:sp>
      <p:sp>
        <p:nvSpPr>
          <p:cNvPr id="4" name="Month 1 · Install and check"/>
          <p:cNvSpPr/>
          <p:nvPr/>
        </p:nvSpPr>
        <p:spPr>
          <a:xfrm>
            <a:off x="548640" y="164592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Month 1 · Install and check dot"/>
          <p:cNvSpPr/>
          <p:nvPr/>
        </p:nvSpPr>
        <p:spPr>
          <a:xfrm>
            <a:off x="777240" y="17647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64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1 · Install and check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128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1–2 phone cameras at [pilot lot, e.g. WIUT]; one-time spot check; label day and night photos; fine-tune.</a:t>
            </a:r>
            <a:endParaRPr lang="en-US" sz="1300" dirty="0"/>
          </a:p>
        </p:txBody>
      </p:sp>
      <p:sp>
        <p:nvSpPr>
          <p:cNvPr id="9" name="Month 2 · Drivers use it"/>
          <p:cNvSpPr/>
          <p:nvPr/>
        </p:nvSpPr>
        <p:spPr>
          <a:xfrm>
            <a:off x="548640" y="301752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0" name="Month 2 · Drivers use it dot"/>
          <p:cNvSpPr/>
          <p:nvPr/>
        </p:nvSpPr>
        <p:spPr>
          <a:xfrm>
            <a:off x="777240" y="313639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136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2 · Drivers use it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5844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Map, booking and walk-in live; weekly accuracy report to the operator.</a:t>
            </a:r>
            <a:endParaRPr lang="en-US" sz="1300" dirty="0"/>
          </a:p>
        </p:txBody>
      </p:sp>
      <p:sp>
        <p:nvSpPr>
          <p:cNvPr id="14" name="Month 3 · Pay and decide"/>
          <p:cNvSpPr/>
          <p:nvPr/>
        </p:nvSpPr>
        <p:spPr>
          <a:xfrm>
            <a:off x="548640" y="438912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5" name="Month 3 · Pay and decide dot"/>
          <p:cNvSpPr/>
          <p:nvPr/>
        </p:nvSpPr>
        <p:spPr>
          <a:xfrm>
            <a:off x="777240" y="450799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507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Month 3 · Pay and decide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9560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Local payment provider; ROI review with the operator; go / no-go.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45920"/>
          <a:ext cx="5349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46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cost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months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People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× 3 months × [salary]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× [$ / month]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existing, or [N] phones × [price]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Labelling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[hours] × [rate]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Detector licence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retrain on our data, or [fee]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[sum]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" name="payback tile"/>
          <p:cNvSpPr/>
          <p:nvPr/>
        </p:nvSpPr>
        <p:spPr>
          <a:xfrm>
            <a:off x="6309360" y="4800600"/>
            <a:ext cx="5349240" cy="868680"/>
          </a:xfrm>
          <a:prstGeom prst="roundRect">
            <a:avLst>
              <a:gd name="adj" fmla="val 10526"/>
            </a:avLst>
          </a:prstGeom>
          <a:solidFill>
            <a:schemeClr val="accent6"/>
          </a:solidFill>
          <a:ln/>
        </p:spPr>
      </p:sp>
      <p:sp>
        <p:nvSpPr>
          <p:cNvPr id="21" name="payback"/>
          <p:cNvSpPr txBox="1"/>
          <p:nvPr/>
        </p:nvSpPr>
        <p:spPr>
          <a:xfrm>
            <a:off x="6537960" y="48006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Payback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 = [total] ÷ ([revenue] − [cost] per month) = [__] months</a:t>
            </a:r>
            <a:endParaRPr lang="en-US" sz="1500" dirty="0"/>
          </a:p>
        </p:txBody>
      </p:sp>
      <p:sp>
        <p:nvSpPr>
          <p:cNvPr id="22" name="KPI note"/>
          <p:cNvSpPr txBox="1"/>
          <p:nvPr/>
        </p:nvSpPr>
        <p:spPr>
          <a:xfrm>
            <a:off x="1371600" y="635508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Pilot KPIs: "free" precision ≥ [target] · spot accuracy ≥ [target] · bookings per day · time to park, before vs after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NEXT STEPS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Our ask: one lot to pilot in</a:t>
            </a:r>
            <a:endParaRPr lang="en-US" sz="3400" dirty="0"/>
          </a:p>
        </p:txBody>
      </p:sp>
      <p:sp>
        <p:nvSpPr>
          <p:cNvPr id="4" name="next 1 dot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next step 1"/>
          <p:cNvSpPr txBox="1"/>
          <p:nvPr/>
        </p:nvSpPr>
        <p:spPr>
          <a:xfrm>
            <a:off x="1234440" y="18745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Run the WIUT lot live and label a Tashkent test set — day, night, rain</a:t>
            </a:r>
            <a:endParaRPr lang="en-US" sz="1900" dirty="0"/>
          </a:p>
        </p:txBody>
      </p:sp>
      <p:sp>
        <p:nvSpPr>
          <p:cNvPr id="7" name="next 2 dot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next step 2"/>
          <p:cNvSpPr txBox="1"/>
          <p:nvPr/>
        </p:nvSpPr>
        <p:spPr>
          <a:xfrm>
            <a:off x="1234440" y="27889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Retrain the detector on our own data: fixes night, removes licence risk</a:t>
            </a:r>
            <a:endParaRPr lang="en-US" sz="1900" dirty="0"/>
          </a:p>
        </p:txBody>
      </p:sp>
      <p:sp>
        <p:nvSpPr>
          <p:cNvPr id="10" name="next 3 dot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next step 3"/>
          <p:cNvSpPr txBox="1"/>
          <p:nvPr/>
        </p:nvSpPr>
        <p:spPr>
          <a:xfrm>
            <a:off x="1234440" y="370332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Pilot with one operator for 3 months</a:t>
            </a:r>
            <a:endParaRPr lang="en-US" sz="1900" dirty="0"/>
          </a:p>
        </p:txBody>
      </p:sp>
      <p:sp>
        <p:nvSpPr>
          <p:cNvPr id="13" name="team names"/>
          <p:cNvSpPr txBox="1"/>
          <p:nvPr/>
        </p:nvSpPr>
        <p:spPr>
          <a:xfrm>
            <a:off x="54864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Bahodurov Bahridin · Gopurjonov Bobur · Shomurodov Amirxon</a:t>
            </a:r>
            <a:endParaRPr lang="en-US" sz="1500" dirty="0"/>
          </a:p>
        </p:txBody>
      </p:sp>
      <p:sp>
        <p:nvSpPr>
          <p:cNvPr id="14" name="QR panel"/>
          <p:cNvSpPr/>
          <p:nvPr/>
        </p:nvSpPr>
        <p:spPr>
          <a:xfrm>
            <a:off x="8366760" y="1143000"/>
            <a:ext cx="3291840" cy="4709160"/>
          </a:xfrm>
          <a:prstGeom prst="roundRect">
            <a:avLst>
              <a:gd name="adj" fmla="val 5556"/>
            </a:avLst>
          </a:prstGeom>
          <a:solidFill>
            <a:schemeClr val="bg1">
              <a:alpha val="8000"/>
            </a:schemeClr>
          </a:solidFill>
          <a:ln/>
        </p:spPr>
      </p:sp>
      <p:pic>
        <p:nvPicPr>
          <p:cNvPr id="15" name="QR live site" descr="QR code linking to https://parkspot-5bo4.onrender.co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4173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8366760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Thank you — questions?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8366760" y="4983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parkspot-5bo4.onrender.com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github.com/trallexxs/parkspot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BACKUP · Q&amp;A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Data, models and licences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383280"/>
                <a:gridCol w="4663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Licence / note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Ground-view detector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YOLO11n (COCO), Ultralytics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AGPL-3.0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Aerial-view detector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Ultralytics assets parking 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AGPL-3.0; VisDrone-style classes → retrain before commercial 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Sample camera clip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Ultralytics sample video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AGPL-3.0; never shown to drivers as a real lot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spots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Ultralytics hand-drawn spots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AGPL-3.0; used only to evaluate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Leaflet; OpenStreetMap tiles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BSD-2-Clause; © OpenStreetMap contributors (ODbL)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Synthetic night / rain / fog / blur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script, method declared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code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own photos of Tashkent lots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[N photos]; no faces or plates kept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Elimination-stage reuse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trallexxs/trafficcv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YOLO11n weights file only (declared)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BACKUP · TEAM ONLY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85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 runbook</a:t>
            </a:r>
            <a:endParaRPr lang="en-US" sz="3400" dirty="0"/>
          </a:p>
        </p:txBody>
      </p:sp>
      <p:sp>
        <p:nvSpPr>
          <p:cNvPr id="4" name="10 minutes before"/>
          <p:cNvSpPr/>
          <p:nvPr/>
        </p:nvSpPr>
        <p:spPr>
          <a:xfrm>
            <a:off x="548640" y="1645920"/>
            <a:ext cx="5387188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4747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10 minutes before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471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Open the site to wake the free server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WIUT camera phone streaming, charging, screen 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Map shows the lot "Live"; operator PIN at hand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Recorded demo video ready, offline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Two lot photos on the laptop for the jury input</a:t>
            </a:r>
            <a:endParaRPr lang="en-US" sz="1500" dirty="0"/>
          </a:p>
        </p:txBody>
      </p:sp>
      <p:sp>
        <p:nvSpPr>
          <p:cNvPr id="7" name="If something fails"/>
          <p:cNvSpPr/>
          <p:nvPr/>
        </p:nvSpPr>
        <p:spPr>
          <a:xfrm>
            <a:off x="6255868" y="1645920"/>
            <a:ext cx="5387188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75908" y="1874520"/>
            <a:ext cx="4747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If something fails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575908" y="2423160"/>
            <a:ext cx="47471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Slow photo: "free tenth-of-a-CPU server"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Camera offline: show it — the map says so and booking pauses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Site down: switch to the recorded run, same step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Wrong detection: name it as a known failure case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Never debug on stage — the clock keeps running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Spot">
  <a:themeElements>
    <a:clrScheme name="ParkSpot">
      <a:dk1>
        <a:srgbClr val="0F1A2B"/>
      </a:dk1>
      <a:lt1>
        <a:srgbClr val="FFFFFF"/>
      </a:lt1>
      <a:dk2>
        <a:srgbClr val="44546A"/>
      </a:dk2>
      <a:lt2>
        <a:srgbClr val="F4F7FB"/>
      </a:lt2>
      <a:accent1>
        <a:srgbClr val="1F5FE0"/>
      </a:accent1>
      <a:accent2>
        <a:srgbClr val="F2A93B"/>
      </a:accent2>
      <a:accent3>
        <a:srgbClr val="18A058"/>
      </a:accent3>
      <a:accent4>
        <a:srgbClr val="D03050"/>
      </a:accent4>
      <a:accent5>
        <a:srgbClr val="BFCBDD"/>
      </a:accent5>
      <a:accent6>
        <a:srgbClr val="E6ECF4"/>
      </a:accent6>
      <a:hlink>
        <a:srgbClr val="1F5FE0"/>
      </a:hlink>
      <a:folHlink>
        <a:srgbClr val="6B7A90"/>
      </a:folHlink>
    </a:clrScheme>
    <a:fontScheme name="ParkSpo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ParkSpot — CV Track Defence</dc:title>
  <dc:subject>PptxGenJS Presentation</dc:subject>
  <dc:creator>Team ALL-IN-ONE</dc:creator>
  <cp:lastModifiedBy>Team ALL-IN-ONE</cp:lastModifiedBy>
  <cp:revision>1</cp:revision>
  <dcterms:created xsi:type="dcterms:W3CDTF">2026-10-10T16:21:53Z</dcterms:created>
  <dcterms:modified xsi:type="dcterms:W3CDTF">2026-10-10T16:21:53Z</dcterms:modified>
</cp:coreProperties>
</file>